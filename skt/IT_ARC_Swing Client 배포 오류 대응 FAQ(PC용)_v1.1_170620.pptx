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ms-powerpoint.presentation.macroEnabled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4" r:id="rId1"/>
    <p:sldMasterId id="2147483799" r:id="rId2"/>
  </p:sldMasterIdLst>
  <p:notesMasterIdLst>
    <p:notesMasterId r:id="rId21"/>
  </p:notesMasterIdLst>
  <p:handoutMasterIdLst>
    <p:handoutMasterId r:id="rId22"/>
  </p:handoutMasterIdLst>
  <p:sldIdLst>
    <p:sldId id="2678" r:id="rId3"/>
    <p:sldId id="2680" r:id="rId4"/>
    <p:sldId id="2683" r:id="rId5"/>
    <p:sldId id="2684" r:id="rId6"/>
    <p:sldId id="2692" r:id="rId7"/>
    <p:sldId id="2689" r:id="rId8"/>
    <p:sldId id="2688" r:id="rId9"/>
    <p:sldId id="2686" r:id="rId10"/>
    <p:sldId id="2690" r:id="rId11"/>
    <p:sldId id="2687" r:id="rId12"/>
    <p:sldId id="2691" r:id="rId13"/>
    <p:sldId id="2693" r:id="rId14"/>
    <p:sldId id="2694" r:id="rId15"/>
    <p:sldId id="2695" r:id="rId16"/>
    <p:sldId id="2696" r:id="rId17"/>
    <p:sldId id="2697" r:id="rId18"/>
    <p:sldId id="2699" r:id="rId19"/>
    <p:sldId id="2700" r:id="rId20"/>
  </p:sldIdLst>
  <p:sldSz cx="9906000" cy="6858000" type="A4"/>
  <p:notesSz cx="6807200" cy="9939338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HY태고딕" pitchFamily="18" charset="-127"/>
        <a:cs typeface="+mn-cs"/>
      </a:defRPr>
    </a:lvl1pPr>
    <a:lvl2pPr marL="431780" algn="ctr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HY태고딕" pitchFamily="18" charset="-127"/>
        <a:cs typeface="+mn-cs"/>
      </a:defRPr>
    </a:lvl2pPr>
    <a:lvl3pPr marL="863559" algn="ctr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HY태고딕" pitchFamily="18" charset="-127"/>
        <a:cs typeface="+mn-cs"/>
      </a:defRPr>
    </a:lvl3pPr>
    <a:lvl4pPr marL="1295339" algn="ctr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HY태고딕" pitchFamily="18" charset="-127"/>
        <a:cs typeface="+mn-cs"/>
      </a:defRPr>
    </a:lvl4pPr>
    <a:lvl5pPr marL="1727119" algn="ctr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HY태고딕" pitchFamily="18" charset="-127"/>
        <a:cs typeface="+mn-cs"/>
      </a:defRPr>
    </a:lvl5pPr>
    <a:lvl6pPr marL="2158898" algn="l" defTabSz="863559" rtl="0" eaLnBrk="1" latinLnBrk="1" hangingPunct="1">
      <a:defRPr kumimoji="1" sz="1000" kern="1200">
        <a:solidFill>
          <a:schemeClr val="tx1"/>
        </a:solidFill>
        <a:latin typeface="Arial" charset="0"/>
        <a:ea typeface="HY태고딕" pitchFamily="18" charset="-127"/>
        <a:cs typeface="+mn-cs"/>
      </a:defRPr>
    </a:lvl6pPr>
    <a:lvl7pPr marL="2590678" algn="l" defTabSz="863559" rtl="0" eaLnBrk="1" latinLnBrk="1" hangingPunct="1">
      <a:defRPr kumimoji="1" sz="1000" kern="1200">
        <a:solidFill>
          <a:schemeClr val="tx1"/>
        </a:solidFill>
        <a:latin typeface="Arial" charset="0"/>
        <a:ea typeface="HY태고딕" pitchFamily="18" charset="-127"/>
        <a:cs typeface="+mn-cs"/>
      </a:defRPr>
    </a:lvl7pPr>
    <a:lvl8pPr marL="3022458" algn="l" defTabSz="863559" rtl="0" eaLnBrk="1" latinLnBrk="1" hangingPunct="1">
      <a:defRPr kumimoji="1" sz="1000" kern="1200">
        <a:solidFill>
          <a:schemeClr val="tx1"/>
        </a:solidFill>
        <a:latin typeface="Arial" charset="0"/>
        <a:ea typeface="HY태고딕" pitchFamily="18" charset="-127"/>
        <a:cs typeface="+mn-cs"/>
      </a:defRPr>
    </a:lvl8pPr>
    <a:lvl9pPr marL="3454237" algn="l" defTabSz="863559" rtl="0" eaLnBrk="1" latinLnBrk="1" hangingPunct="1">
      <a:defRPr kumimoji="1" sz="1000" kern="1200">
        <a:solidFill>
          <a:schemeClr val="tx1"/>
        </a:solidFill>
        <a:latin typeface="Arial" charset="0"/>
        <a:ea typeface="HY태고딕" pitchFamily="18" charset="-127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0"/>
      </p:ext>
    </p:extLst>
  </p:showPr>
  <p:clrMru>
    <a:srgbClr val="0000CC"/>
    <a:srgbClr val="FF0000"/>
    <a:srgbClr val="FFFF00"/>
    <a:srgbClr val="DBEEF4"/>
    <a:srgbClr val="DE0000"/>
    <a:srgbClr val="D9D9D9"/>
    <a:srgbClr val="C0504D"/>
    <a:srgbClr val="606F82"/>
    <a:srgbClr val="F2F2F2"/>
    <a:srgbClr val="217BFF"/>
  </p:clrMru>
  <p:extLst>
    <p:ext uri="{E76CE94A-603C-4142-B9EB-6D1370010A27}">
      <p14:discardImageEditData xmlns:p14="http://schemas.microsoft.com/office/powerpoint/2010/main" xmlns="" val="1"/>
    </p:ext>
    <p:ext uri="{D31A062A-798A-4329-ABDD-BBA856620510}">
      <p14:defaultImageDpi xmlns:p14="http://schemas.microsoft.com/office/powerpoint/2010/main" xmlns="" val="15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04" autoAdjust="0"/>
    <p:restoredTop sz="79367" autoAdjust="0"/>
  </p:normalViewPr>
  <p:slideViewPr>
    <p:cSldViewPr snapToGrid="0" snapToObjects="1" showGuides="1">
      <p:cViewPr>
        <p:scale>
          <a:sx n="100" d="100"/>
          <a:sy n="100" d="100"/>
        </p:scale>
        <p:origin x="-2142" y="-468"/>
      </p:cViewPr>
      <p:guideLst>
        <p:guide orient="horz" pos="913"/>
        <p:guide orient="horz" pos="981"/>
        <p:guide orient="horz" pos="4020"/>
        <p:guide orient="horz" pos="459"/>
        <p:guide pos="3120"/>
        <p:guide pos="3029"/>
        <p:guide pos="3211"/>
        <p:guide pos="217"/>
        <p:guide pos="602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432"/>
    </p:cViewPr>
  </p:sorterViewPr>
  <p:notesViewPr>
    <p:cSldViewPr snapToGrid="0" snapToObjects="1" showGuides="1">
      <p:cViewPr varScale="1">
        <p:scale>
          <a:sx n="73" d="100"/>
          <a:sy n="73" d="100"/>
        </p:scale>
        <p:origin x="-1998" y="-96"/>
      </p:cViewPr>
      <p:guideLst>
        <p:guide orient="horz" pos="3132"/>
        <p:guide pos="2146"/>
      </p:guideLst>
    </p:cSldViewPr>
  </p:notes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675723508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42950" y="639763"/>
            <a:ext cx="5356225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" name="슬라이드 노트 개체 틀 2"/>
          <p:cNvSpPr>
            <a:spLocks noGrp="1"/>
          </p:cNvSpPr>
          <p:nvPr>
            <p:ph type="body" sz="quarter" idx="3"/>
          </p:nvPr>
        </p:nvSpPr>
        <p:spPr bwMode="auto">
          <a:xfrm>
            <a:off x="680112" y="4720685"/>
            <a:ext cx="5446977" cy="447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33" tIns="45917" rIns="91833" bIns="459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xmlns="" val="1717922196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latinLnBrk="1" hangingPunct="0">
      <a:lnSpc>
        <a:spcPct val="90000"/>
      </a:lnSpc>
      <a:spcBef>
        <a:spcPct val="4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31780" algn="l" rtl="0" eaLnBrk="0" fontAlgn="base" latinLnBrk="1" hangingPunct="0">
      <a:lnSpc>
        <a:spcPct val="90000"/>
      </a:lnSpc>
      <a:spcBef>
        <a:spcPct val="4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863559" algn="l" rtl="0" eaLnBrk="0" fontAlgn="base" latinLnBrk="1" hangingPunct="0">
      <a:lnSpc>
        <a:spcPct val="90000"/>
      </a:lnSpc>
      <a:spcBef>
        <a:spcPct val="4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295339" algn="l" rtl="0" eaLnBrk="0" fontAlgn="base" latinLnBrk="1" hangingPunct="0">
      <a:lnSpc>
        <a:spcPct val="90000"/>
      </a:lnSpc>
      <a:spcBef>
        <a:spcPct val="4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727119" algn="l" rtl="0" eaLnBrk="0" fontAlgn="base" latinLnBrk="1" hangingPunct="0">
      <a:lnSpc>
        <a:spcPct val="90000"/>
      </a:lnSpc>
      <a:spcBef>
        <a:spcPct val="4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158898" algn="l" defTabSz="863559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90678" algn="l" defTabSz="863559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022458" algn="l" defTabSz="863559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54237" algn="l" defTabSz="863559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 descr="C:\Documents and Settings\sktelecom\바탕 화면\무제 폴더\5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90901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14282" y="2144987"/>
            <a:ext cx="7090991" cy="786495"/>
          </a:xfrm>
        </p:spPr>
        <p:txBody>
          <a:bodyPr/>
          <a:lstStyle>
            <a:lvl1pPr>
              <a:defRPr sz="4000" smtClean="0"/>
            </a:lvl1pPr>
          </a:lstStyle>
          <a:p>
            <a:endParaRPr lang="en-US" altLang="ko-KR" smtClean="0"/>
          </a:p>
        </p:txBody>
      </p:sp>
      <p:sp>
        <p:nvSpPr>
          <p:cNvPr id="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14282" y="2998513"/>
            <a:ext cx="7090991" cy="540715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000" b="1" smtClean="0"/>
            </a:lvl1pPr>
          </a:lstStyle>
          <a:p>
            <a:endParaRPr lang="ko-KR" altLang="en-US" smtClean="0"/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8019629" y="564424"/>
            <a:ext cx="1262843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7132192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1550" y="229395"/>
            <a:ext cx="8880401" cy="338134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501551" y="726354"/>
            <a:ext cx="8880401" cy="675586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xmlns="" val="28867918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pth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1550" y="229395"/>
            <a:ext cx="6193322" cy="338134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501551" y="726354"/>
            <a:ext cx="8880401" cy="675586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6762648" y="320958"/>
            <a:ext cx="2693153" cy="246571"/>
          </a:xfrm>
        </p:spPr>
        <p:txBody>
          <a:bodyPr anchor="t"/>
          <a:lstStyle>
            <a:lvl1pPr algn="r">
              <a:defRPr kumimoji="1" lang="ko-KR" altLang="en-US" sz="1100" b="0" baseline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1pPr>
            <a:lvl2pPr>
              <a:defRPr kumimoji="1" lang="ko-KR" altLang="en-US" sz="1600" b="1" baseline="0" dirty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2pPr>
            <a:lvl3pPr>
              <a:defRPr kumimoji="1" lang="ko-KR" altLang="en-US" sz="1600" b="1" baseline="0" dirty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3pPr>
            <a:lvl4pPr>
              <a:defRPr kumimoji="1" lang="ko-KR" altLang="en-US" sz="1600" b="1" baseline="0" dirty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4pPr>
            <a:lvl5pPr>
              <a:defRPr kumimoji="1" lang="ko-KR" altLang="en-US" sz="1600" b="1" baseline="0" dirty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7" name="텍스트 개체 틀 3"/>
          <p:cNvSpPr>
            <a:spLocks noGrp="1"/>
          </p:cNvSpPr>
          <p:nvPr>
            <p:ph type="body" sz="quarter" idx="12"/>
          </p:nvPr>
        </p:nvSpPr>
        <p:spPr>
          <a:xfrm>
            <a:off x="6762648" y="74386"/>
            <a:ext cx="2693153" cy="246571"/>
          </a:xfrm>
        </p:spPr>
        <p:txBody>
          <a:bodyPr anchor="t"/>
          <a:lstStyle>
            <a:lvl1pPr algn="r">
              <a:defRPr kumimoji="1" lang="ko-KR" altLang="en-US" sz="1300" b="1" baseline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1pPr>
            <a:lvl2pPr>
              <a:defRPr kumimoji="1" lang="ko-KR" altLang="en-US" sz="1600" b="1" baseline="0" dirty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2pPr>
            <a:lvl3pPr>
              <a:defRPr kumimoji="1" lang="ko-KR" altLang="en-US" sz="1600" b="1" baseline="0" dirty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3pPr>
            <a:lvl4pPr>
              <a:defRPr kumimoji="1" lang="ko-KR" altLang="en-US" sz="1600" b="1" baseline="0" dirty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4pPr>
            <a:lvl5pPr>
              <a:defRPr kumimoji="1" lang="ko-KR" altLang="en-US" sz="1600" b="1" baseline="0" dirty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xmlns="" val="32577193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pth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1551" y="229395"/>
            <a:ext cx="6159409" cy="338134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501551" y="726354"/>
            <a:ext cx="8880401" cy="675586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7" name="텍스트 개체 틀 3"/>
          <p:cNvSpPr>
            <a:spLocks noGrp="1"/>
          </p:cNvSpPr>
          <p:nvPr>
            <p:ph type="body" sz="quarter" idx="12"/>
          </p:nvPr>
        </p:nvSpPr>
        <p:spPr>
          <a:xfrm>
            <a:off x="6763437" y="229395"/>
            <a:ext cx="2692365" cy="338134"/>
          </a:xfrm>
        </p:spPr>
        <p:txBody>
          <a:bodyPr anchor="ctr"/>
          <a:lstStyle>
            <a:lvl1pPr algn="r">
              <a:defRPr kumimoji="1" lang="ko-KR" altLang="en-US" sz="1300" b="1" baseline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1pPr>
            <a:lvl2pPr>
              <a:defRPr kumimoji="1" lang="ko-KR" altLang="en-US" sz="1600" b="1" baseline="0" dirty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2pPr>
            <a:lvl3pPr>
              <a:defRPr kumimoji="1" lang="ko-KR" altLang="en-US" sz="1600" b="1" baseline="0" dirty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3pPr>
            <a:lvl4pPr>
              <a:defRPr kumimoji="1" lang="ko-KR" altLang="en-US" sz="1600" b="1" baseline="0" dirty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4pPr>
            <a:lvl5pPr>
              <a:defRPr kumimoji="1" lang="ko-KR" altLang="en-US" sz="1600" b="1" baseline="0" dirty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xmlns="" val="10327136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6681664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9996432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 descr="C:\Documents and Settings\sktelecom\바탕 화면\무제 폴더\5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90901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14282" y="2144987"/>
            <a:ext cx="7090991" cy="786495"/>
          </a:xfrm>
        </p:spPr>
        <p:txBody>
          <a:bodyPr/>
          <a:lstStyle>
            <a:lvl1pPr>
              <a:defRPr sz="4000" smtClean="0"/>
            </a:lvl1pPr>
          </a:lstStyle>
          <a:p>
            <a:endParaRPr lang="en-US" altLang="ko-KR" smtClean="0"/>
          </a:p>
        </p:txBody>
      </p:sp>
      <p:sp>
        <p:nvSpPr>
          <p:cNvPr id="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14282" y="2998513"/>
            <a:ext cx="7090991" cy="540715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000" b="1" smtClean="0"/>
            </a:lvl1pPr>
          </a:lstStyle>
          <a:p>
            <a:endParaRPr lang="ko-KR" altLang="en-US" smtClean="0"/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8019629" y="564424"/>
            <a:ext cx="1262843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0515140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1550" y="229395"/>
            <a:ext cx="8880401" cy="338134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501551" y="726354"/>
            <a:ext cx="8880401" cy="675586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xmlns="" val="29055727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pth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1550" y="229395"/>
            <a:ext cx="6193322" cy="338134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501551" y="726354"/>
            <a:ext cx="8880401" cy="675586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6762648" y="320958"/>
            <a:ext cx="2693153" cy="246571"/>
          </a:xfrm>
        </p:spPr>
        <p:txBody>
          <a:bodyPr anchor="t"/>
          <a:lstStyle>
            <a:lvl1pPr algn="r">
              <a:defRPr kumimoji="1" lang="ko-KR" altLang="en-US" sz="1100" b="0" baseline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1pPr>
            <a:lvl2pPr>
              <a:defRPr kumimoji="1" lang="ko-KR" altLang="en-US" sz="1600" b="1" baseline="0" dirty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2pPr>
            <a:lvl3pPr>
              <a:defRPr kumimoji="1" lang="ko-KR" altLang="en-US" sz="1600" b="1" baseline="0" dirty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3pPr>
            <a:lvl4pPr>
              <a:defRPr kumimoji="1" lang="ko-KR" altLang="en-US" sz="1600" b="1" baseline="0" dirty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4pPr>
            <a:lvl5pPr>
              <a:defRPr kumimoji="1" lang="ko-KR" altLang="en-US" sz="1600" b="1" baseline="0" dirty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7" name="텍스트 개체 틀 3"/>
          <p:cNvSpPr>
            <a:spLocks noGrp="1"/>
          </p:cNvSpPr>
          <p:nvPr>
            <p:ph type="body" sz="quarter" idx="12"/>
          </p:nvPr>
        </p:nvSpPr>
        <p:spPr>
          <a:xfrm>
            <a:off x="6762648" y="74386"/>
            <a:ext cx="2693153" cy="246571"/>
          </a:xfrm>
        </p:spPr>
        <p:txBody>
          <a:bodyPr anchor="t"/>
          <a:lstStyle>
            <a:lvl1pPr algn="r">
              <a:defRPr kumimoji="1" lang="ko-KR" altLang="en-US" sz="1300" b="1" baseline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1pPr>
            <a:lvl2pPr>
              <a:defRPr kumimoji="1" lang="ko-KR" altLang="en-US" sz="1600" b="1" baseline="0" dirty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2pPr>
            <a:lvl3pPr>
              <a:defRPr kumimoji="1" lang="ko-KR" altLang="en-US" sz="1600" b="1" baseline="0" dirty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3pPr>
            <a:lvl4pPr>
              <a:defRPr kumimoji="1" lang="ko-KR" altLang="en-US" sz="1600" b="1" baseline="0" dirty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4pPr>
            <a:lvl5pPr>
              <a:defRPr kumimoji="1" lang="ko-KR" altLang="en-US" sz="1600" b="1" baseline="0" dirty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xmlns="" val="1617521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pth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1551" y="229395"/>
            <a:ext cx="6159409" cy="338134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501551" y="726354"/>
            <a:ext cx="8880401" cy="675586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7" name="텍스트 개체 틀 3"/>
          <p:cNvSpPr>
            <a:spLocks noGrp="1"/>
          </p:cNvSpPr>
          <p:nvPr>
            <p:ph type="body" sz="quarter" idx="12"/>
          </p:nvPr>
        </p:nvSpPr>
        <p:spPr>
          <a:xfrm>
            <a:off x="6763437" y="229395"/>
            <a:ext cx="2692365" cy="338134"/>
          </a:xfrm>
        </p:spPr>
        <p:txBody>
          <a:bodyPr anchor="ctr"/>
          <a:lstStyle>
            <a:lvl1pPr algn="r">
              <a:defRPr kumimoji="1" lang="ko-KR" altLang="en-US" sz="1300" b="1" baseline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1pPr>
            <a:lvl2pPr>
              <a:defRPr kumimoji="1" lang="ko-KR" altLang="en-US" sz="1600" b="1" baseline="0" dirty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2pPr>
            <a:lvl3pPr>
              <a:defRPr kumimoji="1" lang="ko-KR" altLang="en-US" sz="1600" b="1" baseline="0" dirty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3pPr>
            <a:lvl4pPr>
              <a:defRPr kumimoji="1" lang="ko-KR" altLang="en-US" sz="1600" b="1" baseline="0" dirty="0" smtClean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4pPr>
            <a:lvl5pPr>
              <a:defRPr kumimoji="1" lang="ko-KR" altLang="en-US" sz="1600" b="1" baseline="0" dirty="0">
                <a:solidFill>
                  <a:srgbClr val="000000"/>
                </a:solidFill>
                <a:latin typeface="+mj-ea"/>
                <a:ea typeface="+mj-ea"/>
                <a:cs typeface="+mj-cs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xmlns="" val="19850711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400904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4009968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5" descr="1-2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6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1551" y="229395"/>
            <a:ext cx="8877294" cy="338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356" tIns="43178" rIns="86356" bIns="431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Header Line 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 font 17) 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1551" y="726913"/>
            <a:ext cx="8877294" cy="68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356" tIns="43178" rIns="86356" bIns="431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4589263" y="6507914"/>
            <a:ext cx="727475" cy="231033"/>
          </a:xfrm>
          <a:prstGeom prst="rect">
            <a:avLst/>
          </a:prstGeom>
          <a:noFill/>
        </p:spPr>
        <p:txBody>
          <a:bodyPr lIns="86356" tIns="43178" rIns="86356" bIns="43178">
            <a:spAutoFit/>
          </a:bodyPr>
          <a:lstStyle/>
          <a:p>
            <a:pPr algn="ctr">
              <a:defRPr/>
            </a:pPr>
            <a:fld id="{B363403E-23E1-4839-9FF1-FA46F72168FB}" type="slidenum">
              <a:rPr lang="ko-KR" altLang="en-US" sz="900" b="1" smtClean="0">
                <a:latin typeface="맑은 고딕" pitchFamily="50" charset="-127"/>
                <a:ea typeface="맑은 고딕" pitchFamily="50" charset="-127"/>
              </a:rPr>
              <a:pPr algn="ctr">
                <a:defRPr/>
              </a:pPr>
              <a:t>‹#›</a:t>
            </a:fld>
            <a:endParaRPr lang="en-US" altLang="ko-KR" sz="900" b="1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7" name="Picture 10"/>
          <p:cNvPicPr>
            <a:picLocks noChangeAspect="1" noChangeArrowheads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gray">
          <a:xfrm>
            <a:off x="365609" y="6503487"/>
            <a:ext cx="715425" cy="274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그림 19"/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8737133" y="6489340"/>
            <a:ext cx="715611" cy="306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89" r:id="rId2"/>
    <p:sldLayoutId id="2147483797" r:id="rId3"/>
    <p:sldLayoutId id="2147483798" r:id="rId4"/>
    <p:sldLayoutId id="2147483790" r:id="rId5"/>
    <p:sldLayoutId id="2147483791" r:id="rId6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899541" rtl="0" eaLnBrk="0" fontAlgn="base" latinLnBrk="1" hangingPunct="0">
        <a:spcBef>
          <a:spcPct val="0"/>
        </a:spcBef>
        <a:spcAft>
          <a:spcPct val="0"/>
        </a:spcAft>
        <a:defRPr kumimoji="1" sz="1600" b="1" baseline="0">
          <a:solidFill>
            <a:srgbClr val="000000"/>
          </a:solidFill>
          <a:latin typeface="+mj-ea"/>
          <a:ea typeface="+mj-ea"/>
          <a:cs typeface="+mj-cs"/>
        </a:defRPr>
      </a:lvl1pPr>
      <a:lvl2pPr algn="l" defTabSz="899541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rgbClr val="000000"/>
          </a:solidFill>
          <a:latin typeface="Arial" charset="0"/>
          <a:ea typeface="맑은 고딕" pitchFamily="50" charset="-127"/>
        </a:defRPr>
      </a:lvl2pPr>
      <a:lvl3pPr algn="l" defTabSz="899541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rgbClr val="000000"/>
          </a:solidFill>
          <a:latin typeface="Arial" charset="0"/>
          <a:ea typeface="맑은 고딕" pitchFamily="50" charset="-127"/>
        </a:defRPr>
      </a:lvl3pPr>
      <a:lvl4pPr algn="l" defTabSz="899541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rgbClr val="000000"/>
          </a:solidFill>
          <a:latin typeface="Arial" charset="0"/>
          <a:ea typeface="맑은 고딕" pitchFamily="50" charset="-127"/>
        </a:defRPr>
      </a:lvl4pPr>
      <a:lvl5pPr algn="l" defTabSz="899541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rgbClr val="000000"/>
          </a:solidFill>
          <a:latin typeface="Arial" charset="0"/>
          <a:ea typeface="맑은 고딕" pitchFamily="50" charset="-127"/>
        </a:defRPr>
      </a:lvl5pPr>
      <a:lvl6pPr marL="431780" algn="l" rtl="0" fontAlgn="base" latinLnBrk="1">
        <a:spcBef>
          <a:spcPct val="0"/>
        </a:spcBef>
        <a:spcAft>
          <a:spcPct val="0"/>
        </a:spcAft>
        <a:defRPr kumimoji="1" sz="1500" b="1">
          <a:solidFill>
            <a:srgbClr val="000000"/>
          </a:solidFill>
          <a:latin typeface="굴림" pitchFamily="50" charset="-127"/>
          <a:ea typeface="굴림" pitchFamily="50" charset="-127"/>
        </a:defRPr>
      </a:lvl6pPr>
      <a:lvl7pPr marL="863559" algn="l" rtl="0" fontAlgn="base" latinLnBrk="1">
        <a:spcBef>
          <a:spcPct val="0"/>
        </a:spcBef>
        <a:spcAft>
          <a:spcPct val="0"/>
        </a:spcAft>
        <a:defRPr kumimoji="1" sz="1500" b="1">
          <a:solidFill>
            <a:srgbClr val="000000"/>
          </a:solidFill>
          <a:latin typeface="굴림" pitchFamily="50" charset="-127"/>
          <a:ea typeface="굴림" pitchFamily="50" charset="-127"/>
        </a:defRPr>
      </a:lvl7pPr>
      <a:lvl8pPr marL="1295339" algn="l" rtl="0" fontAlgn="base" latinLnBrk="1">
        <a:spcBef>
          <a:spcPct val="0"/>
        </a:spcBef>
        <a:spcAft>
          <a:spcPct val="0"/>
        </a:spcAft>
        <a:defRPr kumimoji="1" sz="1500" b="1">
          <a:solidFill>
            <a:srgbClr val="000000"/>
          </a:solidFill>
          <a:latin typeface="굴림" pitchFamily="50" charset="-127"/>
          <a:ea typeface="굴림" pitchFamily="50" charset="-127"/>
        </a:defRPr>
      </a:lvl8pPr>
      <a:lvl9pPr marL="1727119" algn="l" rtl="0" fontAlgn="base" latinLnBrk="1">
        <a:spcBef>
          <a:spcPct val="0"/>
        </a:spcBef>
        <a:spcAft>
          <a:spcPct val="0"/>
        </a:spcAft>
        <a:defRPr kumimoji="1" sz="1500" b="1">
          <a:solidFill>
            <a:srgbClr val="000000"/>
          </a:solidFill>
          <a:latin typeface="굴림" pitchFamily="50" charset="-127"/>
          <a:ea typeface="굴림" pitchFamily="50" charset="-127"/>
        </a:defRPr>
      </a:lvl9pPr>
    </p:titleStyle>
    <p:bodyStyle>
      <a:lvl1pPr marL="0" indent="0" algn="l" defTabSz="899541" rtl="0" eaLnBrk="0" fontAlgn="base" latinLnBrk="1" hangingPunct="0">
        <a:spcBef>
          <a:spcPct val="20000"/>
        </a:spcBef>
        <a:spcAft>
          <a:spcPct val="0"/>
        </a:spcAft>
        <a:buSzPct val="70000"/>
        <a:buFont typeface="Wingdings" pitchFamily="2" charset="2"/>
        <a:buNone/>
        <a:defRPr kumimoji="1" sz="1400" b="1">
          <a:solidFill>
            <a:schemeClr val="tx1"/>
          </a:solidFill>
          <a:latin typeface="맑은 고딕" pitchFamily="50" charset="-127"/>
          <a:ea typeface="+mn-ea"/>
          <a:cs typeface="+mn-cs"/>
        </a:defRPr>
      </a:lvl1pPr>
      <a:lvl2pPr marL="436278" indent="-83957" algn="l" defTabSz="899541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100">
          <a:solidFill>
            <a:schemeClr val="tx1"/>
          </a:solidFill>
          <a:latin typeface="맑은 고딕" pitchFamily="50" charset="-127"/>
          <a:ea typeface="+mn-ea"/>
        </a:defRPr>
      </a:lvl2pPr>
      <a:lvl3pPr marL="797593" indent="-92953" algn="l" defTabSz="899541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100">
          <a:solidFill>
            <a:schemeClr val="tx1"/>
          </a:solidFill>
          <a:latin typeface="맑은 고딕" pitchFamily="50" charset="-127"/>
          <a:ea typeface="+mn-ea"/>
        </a:defRPr>
      </a:lvl3pPr>
      <a:lvl4pPr marL="1233871" indent="-176910" algn="l" defTabSz="899541" rtl="0" eaLnBrk="0" fontAlgn="base" latinLnBrk="1" hangingPunct="0">
        <a:spcBef>
          <a:spcPct val="20000"/>
        </a:spcBef>
        <a:spcAft>
          <a:spcPct val="0"/>
        </a:spcAft>
        <a:buFont typeface="Optima" pitchFamily="2" charset="2"/>
        <a:buChar char=""/>
        <a:defRPr kumimoji="1" sz="1100">
          <a:solidFill>
            <a:schemeClr val="tx1"/>
          </a:solidFill>
          <a:latin typeface="맑은 고딕" pitchFamily="50" charset="-127"/>
          <a:ea typeface="+mn-ea"/>
        </a:defRPr>
      </a:lvl4pPr>
      <a:lvl5pPr marL="2023967" indent="-224885" algn="l" defTabSz="899541" rtl="0" eaLnBrk="0" fontAlgn="base" latinLnBrk="1" hangingPunct="0">
        <a:spcBef>
          <a:spcPct val="20000"/>
        </a:spcBef>
        <a:spcAft>
          <a:spcPct val="0"/>
        </a:spcAft>
        <a:buChar char="»"/>
        <a:defRPr kumimoji="1" sz="1100">
          <a:solidFill>
            <a:schemeClr val="tx1"/>
          </a:solidFill>
          <a:latin typeface="+mn-lt"/>
          <a:ea typeface="+mn-ea"/>
        </a:defRPr>
      </a:lvl5pPr>
      <a:lvl6pPr marL="2374788" indent="-215890" algn="l" rtl="0" fontAlgn="base" latinLnBrk="1">
        <a:spcBef>
          <a:spcPct val="20000"/>
        </a:spcBef>
        <a:spcAft>
          <a:spcPct val="0"/>
        </a:spcAft>
        <a:buChar char="»"/>
        <a:defRPr kumimoji="1" sz="1100">
          <a:solidFill>
            <a:schemeClr val="tx1"/>
          </a:solidFill>
          <a:latin typeface="+mn-lt"/>
          <a:ea typeface="+mn-ea"/>
        </a:defRPr>
      </a:lvl6pPr>
      <a:lvl7pPr marL="2806568" indent="-215890" algn="l" rtl="0" fontAlgn="base" latinLnBrk="1">
        <a:spcBef>
          <a:spcPct val="20000"/>
        </a:spcBef>
        <a:spcAft>
          <a:spcPct val="0"/>
        </a:spcAft>
        <a:buChar char="»"/>
        <a:defRPr kumimoji="1" sz="1100">
          <a:solidFill>
            <a:schemeClr val="tx1"/>
          </a:solidFill>
          <a:latin typeface="+mn-lt"/>
          <a:ea typeface="+mn-ea"/>
        </a:defRPr>
      </a:lvl7pPr>
      <a:lvl8pPr marL="3238348" indent="-215890" algn="l" rtl="0" fontAlgn="base" latinLnBrk="1">
        <a:spcBef>
          <a:spcPct val="20000"/>
        </a:spcBef>
        <a:spcAft>
          <a:spcPct val="0"/>
        </a:spcAft>
        <a:buChar char="»"/>
        <a:defRPr kumimoji="1" sz="1100">
          <a:solidFill>
            <a:schemeClr val="tx1"/>
          </a:solidFill>
          <a:latin typeface="+mn-lt"/>
          <a:ea typeface="+mn-ea"/>
        </a:defRPr>
      </a:lvl8pPr>
      <a:lvl9pPr marL="3670127" indent="-215890" algn="l" rtl="0" fontAlgn="base" latinLnBrk="1">
        <a:spcBef>
          <a:spcPct val="20000"/>
        </a:spcBef>
        <a:spcAft>
          <a:spcPct val="0"/>
        </a:spcAft>
        <a:buChar char="»"/>
        <a:defRPr kumimoji="1" sz="11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355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1780" algn="l" defTabSz="86355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3559" algn="l" defTabSz="86355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95339" algn="l" defTabSz="86355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27119" algn="l" defTabSz="86355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58898" algn="l" defTabSz="86355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90678" algn="l" defTabSz="86355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22458" algn="l" defTabSz="86355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54237" algn="l" defTabSz="86355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5" descr="1-2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6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1551" y="229395"/>
            <a:ext cx="8877294" cy="338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356" tIns="43178" rIns="86356" bIns="431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Header Line 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 font 17) 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1551" y="726913"/>
            <a:ext cx="8877294" cy="68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356" tIns="43178" rIns="86356" bIns="431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4589263" y="6507914"/>
            <a:ext cx="727475" cy="231033"/>
          </a:xfrm>
          <a:prstGeom prst="rect">
            <a:avLst/>
          </a:prstGeom>
          <a:noFill/>
        </p:spPr>
        <p:txBody>
          <a:bodyPr lIns="86356" tIns="43178" rIns="86356" bIns="43178">
            <a:spAutoFit/>
          </a:bodyPr>
          <a:lstStyle/>
          <a:p>
            <a:pPr>
              <a:defRPr/>
            </a:pPr>
            <a:fld id="{B363403E-23E1-4839-9FF1-FA46F72168FB}" type="slidenum">
              <a:rPr lang="ko-KR" altLang="en-US" sz="900" b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pPr>
                <a:defRPr/>
              </a:pPr>
              <a:t>‹#›</a:t>
            </a:fld>
            <a:endParaRPr lang="en-US" altLang="ko-KR" sz="900" b="1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7" name="Picture 10"/>
          <p:cNvPicPr>
            <a:picLocks noChangeAspect="1" noChangeArrowheads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gray">
          <a:xfrm>
            <a:off x="365609" y="6503487"/>
            <a:ext cx="715425" cy="274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그림 19"/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8737133" y="6489340"/>
            <a:ext cx="715611" cy="3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52190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899541" rtl="0" eaLnBrk="0" fontAlgn="base" latinLnBrk="1" hangingPunct="0">
        <a:spcBef>
          <a:spcPct val="0"/>
        </a:spcBef>
        <a:spcAft>
          <a:spcPct val="0"/>
        </a:spcAft>
        <a:defRPr kumimoji="1" sz="1600" b="1" baseline="0">
          <a:solidFill>
            <a:srgbClr val="000000"/>
          </a:solidFill>
          <a:latin typeface="+mj-ea"/>
          <a:ea typeface="+mj-ea"/>
          <a:cs typeface="+mj-cs"/>
        </a:defRPr>
      </a:lvl1pPr>
      <a:lvl2pPr algn="l" defTabSz="899541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rgbClr val="000000"/>
          </a:solidFill>
          <a:latin typeface="Arial" charset="0"/>
          <a:ea typeface="맑은 고딕" pitchFamily="50" charset="-127"/>
        </a:defRPr>
      </a:lvl2pPr>
      <a:lvl3pPr algn="l" defTabSz="899541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rgbClr val="000000"/>
          </a:solidFill>
          <a:latin typeface="Arial" charset="0"/>
          <a:ea typeface="맑은 고딕" pitchFamily="50" charset="-127"/>
        </a:defRPr>
      </a:lvl3pPr>
      <a:lvl4pPr algn="l" defTabSz="899541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rgbClr val="000000"/>
          </a:solidFill>
          <a:latin typeface="Arial" charset="0"/>
          <a:ea typeface="맑은 고딕" pitchFamily="50" charset="-127"/>
        </a:defRPr>
      </a:lvl4pPr>
      <a:lvl5pPr algn="l" defTabSz="899541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rgbClr val="000000"/>
          </a:solidFill>
          <a:latin typeface="Arial" charset="0"/>
          <a:ea typeface="맑은 고딕" pitchFamily="50" charset="-127"/>
        </a:defRPr>
      </a:lvl5pPr>
      <a:lvl6pPr marL="431780" algn="l" rtl="0" fontAlgn="base" latinLnBrk="1">
        <a:spcBef>
          <a:spcPct val="0"/>
        </a:spcBef>
        <a:spcAft>
          <a:spcPct val="0"/>
        </a:spcAft>
        <a:defRPr kumimoji="1" sz="1500" b="1">
          <a:solidFill>
            <a:srgbClr val="000000"/>
          </a:solidFill>
          <a:latin typeface="굴림" pitchFamily="50" charset="-127"/>
          <a:ea typeface="굴림" pitchFamily="50" charset="-127"/>
        </a:defRPr>
      </a:lvl6pPr>
      <a:lvl7pPr marL="863559" algn="l" rtl="0" fontAlgn="base" latinLnBrk="1">
        <a:spcBef>
          <a:spcPct val="0"/>
        </a:spcBef>
        <a:spcAft>
          <a:spcPct val="0"/>
        </a:spcAft>
        <a:defRPr kumimoji="1" sz="1500" b="1">
          <a:solidFill>
            <a:srgbClr val="000000"/>
          </a:solidFill>
          <a:latin typeface="굴림" pitchFamily="50" charset="-127"/>
          <a:ea typeface="굴림" pitchFamily="50" charset="-127"/>
        </a:defRPr>
      </a:lvl7pPr>
      <a:lvl8pPr marL="1295339" algn="l" rtl="0" fontAlgn="base" latinLnBrk="1">
        <a:spcBef>
          <a:spcPct val="0"/>
        </a:spcBef>
        <a:spcAft>
          <a:spcPct val="0"/>
        </a:spcAft>
        <a:defRPr kumimoji="1" sz="1500" b="1">
          <a:solidFill>
            <a:srgbClr val="000000"/>
          </a:solidFill>
          <a:latin typeface="굴림" pitchFamily="50" charset="-127"/>
          <a:ea typeface="굴림" pitchFamily="50" charset="-127"/>
        </a:defRPr>
      </a:lvl8pPr>
      <a:lvl9pPr marL="1727119" algn="l" rtl="0" fontAlgn="base" latinLnBrk="1">
        <a:spcBef>
          <a:spcPct val="0"/>
        </a:spcBef>
        <a:spcAft>
          <a:spcPct val="0"/>
        </a:spcAft>
        <a:defRPr kumimoji="1" sz="1500" b="1">
          <a:solidFill>
            <a:srgbClr val="000000"/>
          </a:solidFill>
          <a:latin typeface="굴림" pitchFamily="50" charset="-127"/>
          <a:ea typeface="굴림" pitchFamily="50" charset="-127"/>
        </a:defRPr>
      </a:lvl9pPr>
    </p:titleStyle>
    <p:bodyStyle>
      <a:lvl1pPr marL="0" indent="0" algn="l" defTabSz="899541" rtl="0" eaLnBrk="0" fontAlgn="base" latinLnBrk="1" hangingPunct="0">
        <a:spcBef>
          <a:spcPct val="20000"/>
        </a:spcBef>
        <a:spcAft>
          <a:spcPct val="0"/>
        </a:spcAft>
        <a:buSzPct val="70000"/>
        <a:buFont typeface="Wingdings" pitchFamily="2" charset="2"/>
        <a:buNone/>
        <a:defRPr kumimoji="1" sz="1400" b="1">
          <a:solidFill>
            <a:schemeClr val="tx1"/>
          </a:solidFill>
          <a:latin typeface="맑은 고딕" pitchFamily="50" charset="-127"/>
          <a:ea typeface="+mn-ea"/>
          <a:cs typeface="+mn-cs"/>
        </a:defRPr>
      </a:lvl1pPr>
      <a:lvl2pPr marL="436278" indent="-83957" algn="l" defTabSz="899541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100">
          <a:solidFill>
            <a:schemeClr val="tx1"/>
          </a:solidFill>
          <a:latin typeface="맑은 고딕" pitchFamily="50" charset="-127"/>
          <a:ea typeface="+mn-ea"/>
        </a:defRPr>
      </a:lvl2pPr>
      <a:lvl3pPr marL="797593" indent="-92953" algn="l" defTabSz="899541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100">
          <a:solidFill>
            <a:schemeClr val="tx1"/>
          </a:solidFill>
          <a:latin typeface="맑은 고딕" pitchFamily="50" charset="-127"/>
          <a:ea typeface="+mn-ea"/>
        </a:defRPr>
      </a:lvl3pPr>
      <a:lvl4pPr marL="1233871" indent="-176910" algn="l" defTabSz="899541" rtl="0" eaLnBrk="0" fontAlgn="base" latinLnBrk="1" hangingPunct="0">
        <a:spcBef>
          <a:spcPct val="20000"/>
        </a:spcBef>
        <a:spcAft>
          <a:spcPct val="0"/>
        </a:spcAft>
        <a:buFont typeface="Optima" pitchFamily="2" charset="2"/>
        <a:buChar char=""/>
        <a:defRPr kumimoji="1" sz="1100">
          <a:solidFill>
            <a:schemeClr val="tx1"/>
          </a:solidFill>
          <a:latin typeface="맑은 고딕" pitchFamily="50" charset="-127"/>
          <a:ea typeface="+mn-ea"/>
        </a:defRPr>
      </a:lvl4pPr>
      <a:lvl5pPr marL="2023967" indent="-224885" algn="l" defTabSz="899541" rtl="0" eaLnBrk="0" fontAlgn="base" latinLnBrk="1" hangingPunct="0">
        <a:spcBef>
          <a:spcPct val="20000"/>
        </a:spcBef>
        <a:spcAft>
          <a:spcPct val="0"/>
        </a:spcAft>
        <a:buChar char="»"/>
        <a:defRPr kumimoji="1" sz="1100">
          <a:solidFill>
            <a:schemeClr val="tx1"/>
          </a:solidFill>
          <a:latin typeface="+mn-lt"/>
          <a:ea typeface="+mn-ea"/>
        </a:defRPr>
      </a:lvl5pPr>
      <a:lvl6pPr marL="2374788" indent="-215890" algn="l" rtl="0" fontAlgn="base" latinLnBrk="1">
        <a:spcBef>
          <a:spcPct val="20000"/>
        </a:spcBef>
        <a:spcAft>
          <a:spcPct val="0"/>
        </a:spcAft>
        <a:buChar char="»"/>
        <a:defRPr kumimoji="1" sz="1100">
          <a:solidFill>
            <a:schemeClr val="tx1"/>
          </a:solidFill>
          <a:latin typeface="+mn-lt"/>
          <a:ea typeface="+mn-ea"/>
        </a:defRPr>
      </a:lvl6pPr>
      <a:lvl7pPr marL="2806568" indent="-215890" algn="l" rtl="0" fontAlgn="base" latinLnBrk="1">
        <a:spcBef>
          <a:spcPct val="20000"/>
        </a:spcBef>
        <a:spcAft>
          <a:spcPct val="0"/>
        </a:spcAft>
        <a:buChar char="»"/>
        <a:defRPr kumimoji="1" sz="1100">
          <a:solidFill>
            <a:schemeClr val="tx1"/>
          </a:solidFill>
          <a:latin typeface="+mn-lt"/>
          <a:ea typeface="+mn-ea"/>
        </a:defRPr>
      </a:lvl7pPr>
      <a:lvl8pPr marL="3238348" indent="-215890" algn="l" rtl="0" fontAlgn="base" latinLnBrk="1">
        <a:spcBef>
          <a:spcPct val="20000"/>
        </a:spcBef>
        <a:spcAft>
          <a:spcPct val="0"/>
        </a:spcAft>
        <a:buChar char="»"/>
        <a:defRPr kumimoji="1" sz="1100">
          <a:solidFill>
            <a:schemeClr val="tx1"/>
          </a:solidFill>
          <a:latin typeface="+mn-lt"/>
          <a:ea typeface="+mn-ea"/>
        </a:defRPr>
      </a:lvl8pPr>
      <a:lvl9pPr marL="3670127" indent="-215890" algn="l" rtl="0" fontAlgn="base" latinLnBrk="1">
        <a:spcBef>
          <a:spcPct val="20000"/>
        </a:spcBef>
        <a:spcAft>
          <a:spcPct val="0"/>
        </a:spcAft>
        <a:buChar char="»"/>
        <a:defRPr kumimoji="1" sz="11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355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1780" algn="l" defTabSz="86355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3559" algn="l" defTabSz="86355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95339" algn="l" defTabSz="86355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27119" algn="l" defTabSz="86355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58898" algn="l" defTabSz="86355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90678" algn="l" defTabSz="86355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22458" algn="l" defTabSz="86355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54237" algn="l" defTabSz="86355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207191" y="2144987"/>
            <a:ext cx="7894279" cy="786495"/>
          </a:xfrm>
        </p:spPr>
        <p:txBody>
          <a:bodyPr/>
          <a:lstStyle/>
          <a:p>
            <a:pPr algn="ctr"/>
            <a:r>
              <a:rPr lang="en-US" altLang="ko-KR" sz="3200" dirty="0"/>
              <a:t>Swing Client </a:t>
            </a:r>
            <a:r>
              <a:rPr lang="ko-KR" altLang="en-US" sz="3200" dirty="0"/>
              <a:t>배포 오류 대응 </a:t>
            </a:r>
            <a:r>
              <a:rPr lang="en-US" altLang="ko-KR" sz="3200" dirty="0"/>
              <a:t>FAQ(PC</a:t>
            </a:r>
            <a:r>
              <a:rPr lang="ko-KR" altLang="en-US" sz="3200" dirty="0"/>
              <a:t>용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  <p:sp>
        <p:nvSpPr>
          <p:cNvPr id="5125" name="부제목 2"/>
          <p:cNvSpPr>
            <a:spLocks/>
          </p:cNvSpPr>
          <p:nvPr/>
        </p:nvSpPr>
        <p:spPr bwMode="auto">
          <a:xfrm>
            <a:off x="1441394" y="5152438"/>
            <a:ext cx="7021707" cy="478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356" tIns="43178" rIns="86356" bIns="43178"/>
          <a:lstStyle/>
          <a:p>
            <a:pPr algn="l"/>
            <a:r>
              <a:rPr lang="en-US" altLang="ko-KR" sz="1300" b="1" dirty="0" smtClean="0">
                <a:latin typeface="+mn-ea"/>
                <a:ea typeface="+mn-ea"/>
              </a:rPr>
              <a:t>AA</a:t>
            </a:r>
          </a:p>
          <a:p>
            <a:pPr algn="l"/>
            <a:r>
              <a:rPr lang="en-US" altLang="ko-KR" sz="1300" b="1" dirty="0" smtClean="0">
                <a:latin typeface="+mn-ea"/>
                <a:ea typeface="+mn-ea"/>
              </a:rPr>
              <a:t>2017/05/24</a:t>
            </a:r>
            <a:endParaRPr lang="ko-KR" altLang="en-US" sz="13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원격 </a:t>
            </a:r>
            <a:r>
              <a:rPr lang="en-US" altLang="ko-KR" dirty="0" smtClean="0"/>
              <a:t>PC </a:t>
            </a:r>
            <a:r>
              <a:rPr lang="ko-KR" altLang="en-US" dirty="0" smtClean="0"/>
              <a:t>접속 방법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817821" y="1095259"/>
            <a:ext cx="827301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200" b="1" dirty="0">
                <a:latin typeface="+mn-ea"/>
                <a:ea typeface="+mn-ea"/>
              </a:rPr>
              <a:t>1.  SKT </a:t>
            </a:r>
            <a:r>
              <a:rPr lang="ko-KR" altLang="en-US" sz="1200" b="1" dirty="0">
                <a:latin typeface="+mn-ea"/>
                <a:ea typeface="+mn-ea"/>
              </a:rPr>
              <a:t>원격접속 </a:t>
            </a:r>
            <a:r>
              <a:rPr lang="en-US" altLang="ko-KR" sz="1200" b="1" dirty="0">
                <a:latin typeface="+mn-ea"/>
                <a:ea typeface="+mn-ea"/>
              </a:rPr>
              <a:t>: </a:t>
            </a:r>
            <a:r>
              <a:rPr lang="ko-KR" altLang="en-US" sz="1200" b="1" dirty="0">
                <a:latin typeface="+mn-ea"/>
                <a:ea typeface="+mn-ea"/>
              </a:rPr>
              <a:t>고객 </a:t>
            </a:r>
            <a:r>
              <a:rPr lang="en-US" altLang="ko-KR" sz="1200" b="1" dirty="0">
                <a:latin typeface="+mn-ea"/>
                <a:ea typeface="+mn-ea"/>
              </a:rPr>
              <a:t>IP </a:t>
            </a:r>
            <a:r>
              <a:rPr lang="ko-KR" altLang="en-US" sz="1200" b="1" dirty="0">
                <a:latin typeface="+mn-ea"/>
                <a:ea typeface="+mn-ea"/>
              </a:rPr>
              <a:t>필수</a:t>
            </a:r>
            <a:r>
              <a:rPr lang="ko-KR" altLang="en-US" sz="1200" dirty="0">
                <a:latin typeface="+mn-ea"/>
                <a:ea typeface="+mn-ea"/>
              </a:rPr>
              <a:t/>
            </a:r>
            <a:br>
              <a:rPr lang="ko-KR" altLang="en-US" sz="1200" dirty="0">
                <a:latin typeface="+mn-ea"/>
                <a:ea typeface="+mn-ea"/>
              </a:rPr>
            </a:br>
            <a:r>
              <a:rPr lang="ko-KR" altLang="en-US" sz="1200" b="1" dirty="0">
                <a:latin typeface="+mn-ea"/>
                <a:ea typeface="+mn-ea"/>
              </a:rPr>
              <a:t>    </a:t>
            </a:r>
            <a:r>
              <a:rPr lang="en-US" altLang="ko-KR" sz="1200" b="1" dirty="0">
                <a:latin typeface="+mn-ea"/>
                <a:ea typeface="+mn-ea"/>
              </a:rPr>
              <a:t>1) </a:t>
            </a:r>
            <a:r>
              <a:rPr lang="ko-KR" altLang="en-US" sz="1200" b="1" dirty="0" err="1">
                <a:latin typeface="+mn-ea"/>
                <a:ea typeface="+mn-ea"/>
              </a:rPr>
              <a:t>점검자</a:t>
            </a:r>
            <a:r>
              <a:rPr lang="ko-KR" altLang="en-US" sz="1200" b="1" dirty="0">
                <a:latin typeface="+mn-ea"/>
                <a:ea typeface="+mn-ea"/>
              </a:rPr>
              <a:t> 작업 </a:t>
            </a:r>
            <a:r>
              <a:rPr lang="en-US" altLang="ko-KR" sz="1200" b="1" dirty="0">
                <a:latin typeface="+mn-ea"/>
                <a:ea typeface="+mn-ea"/>
              </a:rPr>
              <a:t>;</a:t>
            </a:r>
            <a:r>
              <a:rPr lang="ko-KR" altLang="en-US" sz="1200" dirty="0">
                <a:latin typeface="+mn-ea"/>
                <a:ea typeface="+mn-ea"/>
              </a:rPr>
              <a:t> </a:t>
            </a:r>
            <a:br>
              <a:rPr lang="ko-KR" altLang="en-US" sz="1200" dirty="0">
                <a:latin typeface="+mn-ea"/>
                <a:ea typeface="+mn-ea"/>
              </a:rPr>
            </a:br>
            <a:r>
              <a:rPr lang="ko-KR" altLang="en-US" sz="1200" dirty="0">
                <a:latin typeface="+mn-ea"/>
                <a:ea typeface="+mn-ea"/>
              </a:rPr>
              <a:t>                                                                                 원격접속을 위한 사용자 </a:t>
            </a:r>
            <a:r>
              <a:rPr lang="en-US" altLang="ko-KR" sz="1200" dirty="0">
                <a:latin typeface="+mn-ea"/>
                <a:ea typeface="+mn-ea"/>
              </a:rPr>
              <a:t>IP </a:t>
            </a:r>
            <a:br>
              <a:rPr lang="en-US" altLang="ko-KR" sz="1200" dirty="0">
                <a:latin typeface="+mn-ea"/>
                <a:ea typeface="+mn-ea"/>
              </a:rPr>
            </a:br>
            <a:r>
              <a:rPr lang="en-US" altLang="ko-KR" sz="1200" dirty="0">
                <a:latin typeface="+mn-ea"/>
                <a:ea typeface="+mn-ea"/>
              </a:rPr>
              <a:t>         C:\Program Files (x86)\</a:t>
            </a:r>
            <a:r>
              <a:rPr lang="en-US" altLang="ko-KR" sz="1200" dirty="0" err="1">
                <a:latin typeface="+mn-ea"/>
                <a:ea typeface="+mn-ea"/>
              </a:rPr>
              <a:t>MRCSele</a:t>
            </a:r>
            <a:r>
              <a:rPr lang="en-US" altLang="ko-KR" sz="1200" dirty="0">
                <a:latin typeface="+mn-ea"/>
                <a:ea typeface="+mn-ea"/>
              </a:rPr>
              <a:t>\ZOOKPluginViewerLauncher.exe 0.0.0.0:5405</a:t>
            </a:r>
            <a:br>
              <a:rPr lang="en-US" altLang="ko-KR" sz="1200" dirty="0">
                <a:latin typeface="+mn-ea"/>
                <a:ea typeface="+mn-ea"/>
              </a:rPr>
            </a:br>
            <a:r>
              <a:rPr lang="en-US" altLang="ko-KR" sz="1200" dirty="0">
                <a:latin typeface="+mn-ea"/>
                <a:ea typeface="+mn-ea"/>
              </a:rPr>
              <a:t/>
            </a:r>
            <a:br>
              <a:rPr lang="en-US" altLang="ko-KR" sz="1200" dirty="0">
                <a:latin typeface="+mn-ea"/>
                <a:ea typeface="+mn-ea"/>
              </a:rPr>
            </a:br>
            <a:r>
              <a:rPr lang="en-US" altLang="ko-KR" sz="1200" dirty="0">
                <a:latin typeface="+mn-ea"/>
                <a:ea typeface="+mn-ea"/>
              </a:rPr>
              <a:t>          =&gt; </a:t>
            </a:r>
            <a:r>
              <a:rPr lang="ko-KR" altLang="en-US" sz="1200" dirty="0">
                <a:latin typeface="+mn-ea"/>
                <a:ea typeface="+mn-ea"/>
              </a:rPr>
              <a:t>상기 문자열을 복사하여 </a:t>
            </a:r>
            <a:br>
              <a:rPr lang="ko-KR" altLang="en-US" sz="1200" dirty="0">
                <a:latin typeface="+mn-ea"/>
                <a:ea typeface="+mn-ea"/>
              </a:rPr>
            </a:br>
            <a:r>
              <a:rPr lang="ko-KR" altLang="en-US" sz="1200" dirty="0">
                <a:latin typeface="+mn-ea"/>
                <a:ea typeface="+mn-ea"/>
              </a:rPr>
              <a:t>        </a:t>
            </a:r>
            <a:r>
              <a:rPr lang="en-US" altLang="ko-KR" sz="1200" dirty="0">
                <a:latin typeface="+mn-ea"/>
                <a:ea typeface="+mn-ea"/>
              </a:rPr>
              <a:t>1-1)  Window + R  =&gt; </a:t>
            </a:r>
            <a:r>
              <a:rPr lang="ko-KR" altLang="en-US" sz="1200" dirty="0">
                <a:latin typeface="+mn-ea"/>
                <a:ea typeface="+mn-ea"/>
              </a:rPr>
              <a:t>상기 문자열을 복사하여 </a:t>
            </a:r>
            <a:r>
              <a:rPr lang="ko-KR" altLang="en-US" sz="1200" dirty="0" err="1">
                <a:latin typeface="+mn-ea"/>
                <a:ea typeface="+mn-ea"/>
              </a:rPr>
              <a:t>붙여넣고</a:t>
            </a:r>
            <a:r>
              <a:rPr lang="ko-KR" altLang="en-US" sz="1200" dirty="0">
                <a:latin typeface="+mn-ea"/>
                <a:ea typeface="+mn-ea"/>
              </a:rPr>
              <a:t> 확인   </a:t>
            </a:r>
            <a:br>
              <a:rPr lang="ko-KR" altLang="en-US" sz="1200" dirty="0">
                <a:latin typeface="+mn-ea"/>
                <a:ea typeface="+mn-ea"/>
              </a:rPr>
            </a:br>
            <a:r>
              <a:rPr lang="ko-KR" altLang="en-US" sz="1200" dirty="0">
                <a:latin typeface="+mn-ea"/>
                <a:ea typeface="+mn-ea"/>
              </a:rPr>
              <a:t>        또는     </a:t>
            </a:r>
            <a:br>
              <a:rPr lang="ko-KR" altLang="en-US" sz="1200" dirty="0">
                <a:latin typeface="+mn-ea"/>
                <a:ea typeface="+mn-ea"/>
              </a:rPr>
            </a:br>
            <a:r>
              <a:rPr lang="ko-KR" altLang="en-US" sz="1200" dirty="0">
                <a:latin typeface="+mn-ea"/>
                <a:ea typeface="+mn-ea"/>
              </a:rPr>
              <a:t>        </a:t>
            </a:r>
            <a:r>
              <a:rPr lang="en-US" altLang="ko-KR" sz="1200" dirty="0">
                <a:latin typeface="+mn-ea"/>
                <a:ea typeface="+mn-ea"/>
              </a:rPr>
              <a:t>1-2) </a:t>
            </a:r>
            <a:r>
              <a:rPr lang="ko-KR" altLang="en-US" sz="1200" dirty="0">
                <a:latin typeface="+mn-ea"/>
                <a:ea typeface="+mn-ea"/>
              </a:rPr>
              <a:t>윈도우 아이콘 클릭 </a:t>
            </a:r>
            <a:r>
              <a:rPr lang="en-US" altLang="ko-KR" sz="1200" dirty="0">
                <a:latin typeface="+mn-ea"/>
                <a:ea typeface="+mn-ea"/>
              </a:rPr>
              <a:t>-&gt; </a:t>
            </a:r>
            <a:r>
              <a:rPr lang="ko-KR" altLang="en-US" sz="1200" dirty="0">
                <a:latin typeface="+mn-ea"/>
                <a:ea typeface="+mn-ea"/>
              </a:rPr>
              <a:t>프로그램 및 파일 검색 창에 상기 문자열을 복사하여 </a:t>
            </a:r>
            <a:r>
              <a:rPr lang="ko-KR" altLang="en-US" sz="1200" dirty="0" err="1">
                <a:latin typeface="+mn-ea"/>
                <a:ea typeface="+mn-ea"/>
              </a:rPr>
              <a:t>붙여넣고</a:t>
            </a:r>
            <a:r>
              <a:rPr lang="ko-KR" altLang="en-US" sz="1200" dirty="0">
                <a:latin typeface="+mn-ea"/>
                <a:ea typeface="+mn-ea"/>
              </a:rPr>
              <a:t> </a:t>
            </a:r>
            <a:r>
              <a:rPr lang="ko-KR" altLang="en-US" sz="1200" dirty="0" err="1">
                <a:latin typeface="+mn-ea"/>
                <a:ea typeface="+mn-ea"/>
              </a:rPr>
              <a:t>엔터</a:t>
            </a:r>
            <a:endParaRPr lang="ko-KR" altLang="en-US" sz="1200" dirty="0">
              <a:latin typeface="+mn-ea"/>
              <a:ea typeface="+mn-ea"/>
            </a:endParaRPr>
          </a:p>
          <a:p>
            <a:pPr algn="l"/>
            <a:endParaRPr lang="en-US" altLang="ko-KR" sz="1200" b="1" dirty="0" smtClean="0">
              <a:latin typeface="+mn-ea"/>
              <a:ea typeface="+mn-ea"/>
            </a:endParaRPr>
          </a:p>
          <a:p>
            <a:pPr algn="l"/>
            <a:endParaRPr lang="en-US" altLang="ko-KR" sz="1200" b="1" dirty="0">
              <a:latin typeface="+mn-ea"/>
              <a:ea typeface="+mn-ea"/>
            </a:endParaRPr>
          </a:p>
          <a:p>
            <a:pPr algn="l"/>
            <a:r>
              <a:rPr lang="en-US" altLang="ko-KR" sz="1200" b="1" dirty="0" smtClean="0">
                <a:latin typeface="+mn-ea"/>
                <a:ea typeface="+mn-ea"/>
              </a:rPr>
              <a:t>2</a:t>
            </a:r>
            <a:r>
              <a:rPr lang="en-US" altLang="ko-KR" sz="1200" b="1" dirty="0">
                <a:latin typeface="+mn-ea"/>
                <a:ea typeface="+mn-ea"/>
              </a:rPr>
              <a:t>. </a:t>
            </a:r>
            <a:r>
              <a:rPr lang="en-US" altLang="ko-KR" sz="1200" b="1" dirty="0" smtClean="0">
                <a:latin typeface="+mn-ea"/>
                <a:ea typeface="+mn-ea"/>
              </a:rPr>
              <a:t>SKB </a:t>
            </a:r>
            <a:r>
              <a:rPr lang="ko-KR" altLang="en-US" sz="1200" b="1" dirty="0">
                <a:latin typeface="+mn-ea"/>
                <a:ea typeface="+mn-ea"/>
              </a:rPr>
              <a:t>원격접속 </a:t>
            </a:r>
            <a:r>
              <a:rPr lang="en-US" altLang="ko-KR" sz="1200" b="1" dirty="0">
                <a:latin typeface="+mn-ea"/>
                <a:ea typeface="+mn-ea"/>
              </a:rPr>
              <a:t>:  </a:t>
            </a:r>
            <a:r>
              <a:rPr lang="ko-KR" altLang="en-US" sz="1200" b="1" dirty="0">
                <a:latin typeface="+mn-ea"/>
                <a:ea typeface="+mn-ea"/>
              </a:rPr>
              <a:t>고객의 </a:t>
            </a:r>
            <a:r>
              <a:rPr lang="en-US" altLang="ko-KR" sz="1200" b="1" dirty="0">
                <a:latin typeface="+mn-ea"/>
                <a:ea typeface="+mn-ea"/>
              </a:rPr>
              <a:t>Action </a:t>
            </a:r>
            <a:r>
              <a:rPr lang="ko-KR" altLang="en-US" sz="1200" b="1" dirty="0">
                <a:latin typeface="+mn-ea"/>
                <a:ea typeface="+mn-ea"/>
              </a:rPr>
              <a:t>필요</a:t>
            </a:r>
            <a:r>
              <a:rPr lang="ko-KR" altLang="en-US" sz="1200" dirty="0">
                <a:latin typeface="+mn-ea"/>
                <a:ea typeface="+mn-ea"/>
              </a:rPr>
              <a:t/>
            </a:r>
            <a:br>
              <a:rPr lang="ko-KR" altLang="en-US" sz="1200" dirty="0">
                <a:latin typeface="+mn-ea"/>
                <a:ea typeface="+mn-ea"/>
              </a:rPr>
            </a:br>
            <a:endParaRPr lang="ko-KR" altLang="en-US" sz="1200" dirty="0">
              <a:latin typeface="+mn-ea"/>
              <a:ea typeface="+mn-ea"/>
            </a:endParaRPr>
          </a:p>
          <a:p>
            <a:pPr algn="l"/>
            <a:r>
              <a:rPr lang="ko-KR" altLang="en-US" sz="1200" b="1" dirty="0">
                <a:latin typeface="+mn-ea"/>
                <a:ea typeface="+mn-ea"/>
              </a:rPr>
              <a:t>    </a:t>
            </a:r>
            <a:r>
              <a:rPr lang="en-US" altLang="ko-KR" sz="1200" b="1" dirty="0">
                <a:latin typeface="+mn-ea"/>
                <a:ea typeface="+mn-ea"/>
              </a:rPr>
              <a:t>1) </a:t>
            </a:r>
            <a:r>
              <a:rPr lang="ko-KR" altLang="en-US" sz="1200" b="1" dirty="0" err="1">
                <a:latin typeface="+mn-ea"/>
                <a:ea typeface="+mn-ea"/>
              </a:rPr>
              <a:t>점검자</a:t>
            </a:r>
            <a:r>
              <a:rPr lang="ko-KR" altLang="en-US" sz="1200" b="1" dirty="0">
                <a:latin typeface="+mn-ea"/>
                <a:ea typeface="+mn-ea"/>
              </a:rPr>
              <a:t> 작업 </a:t>
            </a:r>
            <a:r>
              <a:rPr lang="en-US" altLang="ko-KR" sz="1200" b="1" dirty="0">
                <a:latin typeface="+mn-ea"/>
                <a:ea typeface="+mn-ea"/>
              </a:rPr>
              <a:t>;</a:t>
            </a:r>
            <a:r>
              <a:rPr lang="ko-KR" altLang="en-US" sz="1200" dirty="0">
                <a:latin typeface="+mn-ea"/>
                <a:ea typeface="+mn-ea"/>
              </a:rPr>
              <a:t> </a:t>
            </a:r>
          </a:p>
          <a:p>
            <a:pPr algn="l"/>
            <a:r>
              <a:rPr lang="ko-KR" altLang="en-US" sz="1200" dirty="0">
                <a:latin typeface="+mn-ea"/>
                <a:ea typeface="+mn-ea"/>
              </a:rPr>
              <a:t>        </a:t>
            </a:r>
            <a:r>
              <a:rPr lang="en-US" altLang="ko-KR" sz="1200" dirty="0">
                <a:latin typeface="+mn-ea"/>
                <a:ea typeface="+mn-ea"/>
              </a:rPr>
              <a:t>1-1) </a:t>
            </a:r>
            <a:r>
              <a:rPr lang="en-US" altLang="ko-KR" sz="1200" dirty="0" err="1">
                <a:latin typeface="+mn-ea"/>
                <a:ea typeface="+mn-ea"/>
              </a:rPr>
              <a:t>RemoteCall</a:t>
            </a: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ko-KR" altLang="en-US" sz="1200" dirty="0">
                <a:latin typeface="+mn-ea"/>
                <a:ea typeface="+mn-ea"/>
              </a:rPr>
              <a:t>아이콘으로 프로그램 실행</a:t>
            </a:r>
          </a:p>
          <a:p>
            <a:pPr algn="l"/>
            <a:r>
              <a:rPr lang="ko-KR" altLang="en-US" sz="1200" dirty="0">
                <a:latin typeface="+mn-ea"/>
                <a:ea typeface="+mn-ea"/>
              </a:rPr>
              <a:t>        </a:t>
            </a:r>
            <a:r>
              <a:rPr lang="en-US" altLang="ko-KR" sz="1200" dirty="0">
                <a:latin typeface="+mn-ea"/>
                <a:ea typeface="+mn-ea"/>
              </a:rPr>
              <a:t>1-2) </a:t>
            </a:r>
            <a:r>
              <a:rPr lang="ko-KR" altLang="en-US" sz="1200" dirty="0">
                <a:latin typeface="+mn-ea"/>
                <a:ea typeface="+mn-ea"/>
              </a:rPr>
              <a:t>화면의 시작하기 버튼을 눌러서 접속 대기상태를 만들어 놓음</a:t>
            </a:r>
          </a:p>
          <a:p>
            <a:pPr algn="l"/>
            <a:r>
              <a:rPr lang="ko-KR" altLang="en-US" sz="1200" dirty="0">
                <a:latin typeface="+mn-ea"/>
                <a:ea typeface="+mn-ea"/>
              </a:rPr>
              <a:t>              </a:t>
            </a:r>
            <a:r>
              <a:rPr lang="en-US" altLang="ko-KR" sz="1200" dirty="0">
                <a:latin typeface="+mn-ea"/>
                <a:ea typeface="+mn-ea"/>
              </a:rPr>
              <a:t>- </a:t>
            </a:r>
            <a:r>
              <a:rPr lang="ko-KR" altLang="en-US" sz="1200" dirty="0">
                <a:latin typeface="+mn-ea"/>
                <a:ea typeface="+mn-ea"/>
              </a:rPr>
              <a:t>별도 창이 열리면서 숫자가 </a:t>
            </a:r>
            <a:r>
              <a:rPr lang="ko-KR" altLang="en-US" sz="1200" dirty="0" err="1">
                <a:latin typeface="+mn-ea"/>
                <a:ea typeface="+mn-ea"/>
              </a:rPr>
              <a:t>랜덤하게</a:t>
            </a:r>
            <a:r>
              <a:rPr lang="ko-KR" altLang="en-US" sz="1200" dirty="0">
                <a:latin typeface="+mn-ea"/>
                <a:ea typeface="+mn-ea"/>
              </a:rPr>
              <a:t> 표시됨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  <a:endParaRPr lang="ko-KR" altLang="en-US" sz="1200" dirty="0">
              <a:latin typeface="+mn-ea"/>
              <a:ea typeface="+mn-ea"/>
            </a:endParaRPr>
          </a:p>
          <a:p>
            <a:pPr algn="l"/>
            <a:r>
              <a:rPr lang="ko-KR" altLang="en-US" sz="1200" dirty="0">
                <a:latin typeface="+mn-ea"/>
                <a:ea typeface="+mn-ea"/>
              </a:rPr>
              <a:t> </a:t>
            </a:r>
          </a:p>
          <a:p>
            <a:pPr algn="l"/>
            <a:r>
              <a:rPr lang="ko-KR" altLang="en-US" sz="1200" b="1" dirty="0">
                <a:latin typeface="+mn-ea"/>
                <a:ea typeface="+mn-ea"/>
              </a:rPr>
              <a:t>    </a:t>
            </a:r>
            <a:r>
              <a:rPr lang="en-US" altLang="ko-KR" sz="1200" b="1" dirty="0">
                <a:latin typeface="+mn-ea"/>
                <a:ea typeface="+mn-ea"/>
              </a:rPr>
              <a:t>2) </a:t>
            </a:r>
            <a:r>
              <a:rPr lang="ko-KR" altLang="en-US" sz="1200" b="1" dirty="0">
                <a:latin typeface="+mn-ea"/>
                <a:ea typeface="+mn-ea"/>
              </a:rPr>
              <a:t>고객작업 </a:t>
            </a:r>
            <a:r>
              <a:rPr lang="en-US" altLang="ko-KR" sz="1200" b="1" dirty="0">
                <a:latin typeface="+mn-ea"/>
                <a:ea typeface="+mn-ea"/>
              </a:rPr>
              <a:t>:</a:t>
            </a:r>
            <a:r>
              <a:rPr lang="ko-KR" altLang="en-US" sz="1200" dirty="0">
                <a:latin typeface="+mn-ea"/>
                <a:ea typeface="+mn-ea"/>
              </a:rPr>
              <a:t> </a:t>
            </a:r>
          </a:p>
          <a:p>
            <a:pPr algn="l"/>
            <a:r>
              <a:rPr lang="ko-KR" altLang="en-US" sz="1200" dirty="0">
                <a:latin typeface="+mn-ea"/>
                <a:ea typeface="+mn-ea"/>
              </a:rPr>
              <a:t>         </a:t>
            </a:r>
            <a:r>
              <a:rPr lang="en-US" altLang="ko-KR" sz="1200" dirty="0">
                <a:latin typeface="+mn-ea"/>
                <a:ea typeface="+mn-ea"/>
              </a:rPr>
              <a:t>2-1) </a:t>
            </a:r>
            <a:r>
              <a:rPr lang="ko-KR" altLang="en-US" sz="1200" dirty="0">
                <a:latin typeface="+mn-ea"/>
                <a:ea typeface="+mn-ea"/>
              </a:rPr>
              <a:t>브라우저에서  </a:t>
            </a:r>
            <a:r>
              <a:rPr lang="en-US" altLang="ko-KR" sz="1200" dirty="0">
                <a:latin typeface="+mn-ea"/>
                <a:ea typeface="+mn-ea"/>
              </a:rPr>
              <a:t>rc.skbraodband.com</a:t>
            </a:r>
            <a:r>
              <a:rPr lang="ko-KR" altLang="en-US" sz="1200" dirty="0">
                <a:latin typeface="+mn-ea"/>
                <a:ea typeface="+mn-ea"/>
              </a:rPr>
              <a:t>을 입력하도록 요청함</a:t>
            </a:r>
          </a:p>
          <a:p>
            <a:pPr algn="l"/>
            <a:r>
              <a:rPr lang="ko-KR" altLang="en-US" sz="1200" dirty="0">
                <a:latin typeface="+mn-ea"/>
                <a:ea typeface="+mn-ea"/>
              </a:rPr>
              <a:t>         </a:t>
            </a:r>
            <a:r>
              <a:rPr lang="en-US" altLang="ko-KR" sz="1200" dirty="0">
                <a:latin typeface="+mn-ea"/>
                <a:ea typeface="+mn-ea"/>
              </a:rPr>
              <a:t>2-2 </a:t>
            </a:r>
            <a:r>
              <a:rPr lang="ko-KR" altLang="en-US" sz="1200" dirty="0">
                <a:latin typeface="+mn-ea"/>
                <a:ea typeface="+mn-ea"/>
              </a:rPr>
              <a:t>로그인 화면 나왔는지</a:t>
            </a:r>
            <a:r>
              <a:rPr lang="en-US" altLang="ko-KR" sz="1200" dirty="0">
                <a:latin typeface="+mn-ea"/>
                <a:ea typeface="+mn-ea"/>
              </a:rPr>
              <a:t>? </a:t>
            </a:r>
            <a:r>
              <a:rPr lang="ko-KR" altLang="en-US" sz="1200" dirty="0">
                <a:latin typeface="+mn-ea"/>
                <a:ea typeface="+mn-ea"/>
              </a:rPr>
              <a:t>확인 하기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  <a:endParaRPr lang="ko-KR" altLang="en-US" sz="1200" dirty="0">
              <a:latin typeface="+mn-ea"/>
              <a:ea typeface="+mn-ea"/>
            </a:endParaRPr>
          </a:p>
          <a:p>
            <a:pPr algn="l"/>
            <a:r>
              <a:rPr lang="ko-KR" altLang="en-US" sz="1200" dirty="0">
                <a:latin typeface="+mn-ea"/>
                <a:ea typeface="+mn-ea"/>
              </a:rPr>
              <a:t>                 </a:t>
            </a:r>
            <a:r>
              <a:rPr lang="en-US" altLang="ko-KR" sz="1200" dirty="0">
                <a:latin typeface="+mn-ea"/>
                <a:ea typeface="+mn-ea"/>
              </a:rPr>
              <a:t>- </a:t>
            </a:r>
            <a:r>
              <a:rPr lang="ko-KR" altLang="en-US" sz="1200" dirty="0">
                <a:latin typeface="+mn-ea"/>
                <a:ea typeface="+mn-ea"/>
              </a:rPr>
              <a:t>간혹 보안경고 창이 발생하는 경우가 있는데 이 경우는 계속하기를 누르라고 요청</a:t>
            </a:r>
            <a:r>
              <a:rPr lang="en-US" altLang="ko-KR" sz="1200" dirty="0">
                <a:latin typeface="+mn-ea"/>
                <a:ea typeface="+mn-ea"/>
              </a:rPr>
              <a:t>.     </a:t>
            </a:r>
            <a:endParaRPr lang="ko-KR" altLang="en-US" sz="1200" dirty="0">
              <a:latin typeface="+mn-ea"/>
              <a:ea typeface="+mn-ea"/>
            </a:endParaRPr>
          </a:p>
          <a:p>
            <a:pPr algn="l"/>
            <a:r>
              <a:rPr lang="ko-KR" altLang="en-US" sz="1200" dirty="0">
                <a:latin typeface="+mn-ea"/>
                <a:ea typeface="+mn-ea"/>
              </a:rPr>
              <a:t>         </a:t>
            </a:r>
            <a:r>
              <a:rPr lang="en-US" altLang="ko-KR" sz="1200" dirty="0">
                <a:latin typeface="+mn-ea"/>
                <a:ea typeface="+mn-ea"/>
              </a:rPr>
              <a:t>2-3 </a:t>
            </a:r>
            <a:r>
              <a:rPr lang="ko-KR" altLang="en-US" sz="1200" dirty="0">
                <a:latin typeface="+mn-ea"/>
                <a:ea typeface="+mn-ea"/>
              </a:rPr>
              <a:t>로그인 화면에서  이름과  </a:t>
            </a:r>
            <a:r>
              <a:rPr lang="en-US" altLang="ko-KR" sz="1200" dirty="0">
                <a:latin typeface="+mn-ea"/>
                <a:ea typeface="+mn-ea"/>
              </a:rPr>
              <a:t>1-2</a:t>
            </a:r>
            <a:r>
              <a:rPr lang="ko-KR" altLang="en-US" sz="1200" dirty="0">
                <a:latin typeface="+mn-ea"/>
                <a:ea typeface="+mn-ea"/>
              </a:rPr>
              <a:t>번에서 표시된 숫자를 입력하고 확인버튼을 누르도록 요청</a:t>
            </a:r>
          </a:p>
          <a:p>
            <a:pPr algn="l"/>
            <a:r>
              <a:rPr lang="ko-KR" altLang="en-US" sz="1200" dirty="0">
                <a:latin typeface="+mn-ea"/>
                <a:ea typeface="+mn-ea"/>
              </a:rPr>
              <a:t>                   </a:t>
            </a:r>
          </a:p>
        </p:txBody>
      </p:sp>
    </p:spTree>
    <p:extLst>
      <p:ext uri="{BB962C8B-B14F-4D97-AF65-F5344CB8AC3E}">
        <p14:creationId xmlns:p14="http://schemas.microsoft.com/office/powerpoint/2010/main" xmlns="" val="971575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Swing </a:t>
            </a:r>
            <a:r>
              <a:rPr lang="ko-KR" altLang="en-US" dirty="0" smtClean="0"/>
              <a:t>접속 오류에 대한 점검 항목 </a:t>
            </a:r>
            <a:r>
              <a:rPr lang="en-US" altLang="ko-KR" dirty="0" smtClean="0"/>
              <a:t>( </a:t>
            </a:r>
            <a:r>
              <a:rPr lang="en-US" altLang="ko-KR" dirty="0" smtClean="0">
                <a:solidFill>
                  <a:srgbClr val="FF0000"/>
                </a:solidFill>
              </a:rPr>
              <a:t>SKT</a:t>
            </a:r>
            <a:r>
              <a:rPr lang="en-US" altLang="ko-KR" dirty="0" smtClean="0"/>
              <a:t> )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 bwMode="auto">
          <a:xfrm>
            <a:off x="861237" y="1350335"/>
            <a:ext cx="914400" cy="914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altLang="ko-KR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SKT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2008322" y="1341373"/>
            <a:ext cx="148630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lang="en-US" altLang="ko-KR" b="1" kern="0" noProof="0" dirty="0" smtClean="0">
                <a:latin typeface="+mn-lt"/>
                <a:ea typeface="+mn-ea"/>
              </a:rPr>
              <a:t>swing.sktelecom.com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2008322" y="4284944"/>
            <a:ext cx="16658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lang="en-US" altLang="ko-KR" b="1" kern="0" noProof="0" dirty="0" smtClean="0">
                <a:latin typeface="+mn-lt"/>
                <a:ea typeface="+mn-ea"/>
              </a:rPr>
              <a:t>swing.skbroadband.com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cxnSp>
        <p:nvCxnSpPr>
          <p:cNvPr id="10" name="꺾인 연결선 9"/>
          <p:cNvCxnSpPr>
            <a:stCxn id="3" idx="3"/>
            <a:endCxn id="7" idx="1"/>
          </p:cNvCxnSpPr>
          <p:nvPr/>
        </p:nvCxnSpPr>
        <p:spPr bwMode="auto">
          <a:xfrm flipV="1">
            <a:off x="1775637" y="1464484"/>
            <a:ext cx="232685" cy="343051"/>
          </a:xfrm>
          <a:prstGeom prst="bentConnector3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꺾인 연결선 11"/>
          <p:cNvCxnSpPr>
            <a:stCxn id="3" idx="3"/>
            <a:endCxn id="8" idx="1"/>
          </p:cNvCxnSpPr>
          <p:nvPr/>
        </p:nvCxnSpPr>
        <p:spPr bwMode="auto">
          <a:xfrm>
            <a:off x="1775637" y="1807535"/>
            <a:ext cx="232685" cy="2600520"/>
          </a:xfrm>
          <a:prstGeom prst="bentConnector3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 bwMode="auto">
          <a:xfrm>
            <a:off x="3944665" y="754896"/>
            <a:ext cx="99899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lang="ko-KR" altLang="en-US" b="1" kern="0" noProof="0" dirty="0" err="1" smtClean="0">
                <a:latin typeface="+mn-lt"/>
                <a:ea typeface="+mn-ea"/>
              </a:rPr>
              <a:t>미라지웍스</a:t>
            </a:r>
            <a:r>
              <a:rPr lang="ko-KR" altLang="en-US" b="1" kern="0" noProof="0" dirty="0" smtClean="0">
                <a:latin typeface="+mn-lt"/>
                <a:ea typeface="+mn-ea"/>
              </a:rPr>
              <a:t> 안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3944665" y="2263356"/>
            <a:ext cx="99899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lang="ko-KR" altLang="en-US" b="1" kern="0" noProof="0" dirty="0" err="1" smtClean="0">
                <a:latin typeface="+mn-lt"/>
                <a:ea typeface="+mn-ea"/>
              </a:rPr>
              <a:t>미라지웍스</a:t>
            </a:r>
            <a:r>
              <a:rPr lang="ko-KR" altLang="en-US" b="1" kern="0" noProof="0" dirty="0" smtClean="0">
                <a:latin typeface="+mn-lt"/>
                <a:ea typeface="+mn-ea"/>
              </a:rPr>
              <a:t> 밖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cxnSp>
        <p:nvCxnSpPr>
          <p:cNvPr id="16" name="꺾인 연결선 15"/>
          <p:cNvCxnSpPr>
            <a:stCxn id="7" idx="3"/>
            <a:endCxn id="14" idx="1"/>
          </p:cNvCxnSpPr>
          <p:nvPr/>
        </p:nvCxnSpPr>
        <p:spPr bwMode="auto">
          <a:xfrm flipV="1">
            <a:off x="3494626" y="878007"/>
            <a:ext cx="450039" cy="586477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꺾인 연결선 18"/>
          <p:cNvCxnSpPr>
            <a:stCxn id="7" idx="3"/>
            <a:endCxn id="15" idx="1"/>
          </p:cNvCxnSpPr>
          <p:nvPr/>
        </p:nvCxnSpPr>
        <p:spPr bwMode="auto">
          <a:xfrm>
            <a:off x="3494626" y="1464484"/>
            <a:ext cx="450039" cy="921983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3" name="TextBox 22"/>
          <p:cNvSpPr txBox="1"/>
          <p:nvPr/>
        </p:nvSpPr>
        <p:spPr bwMode="auto">
          <a:xfrm>
            <a:off x="5135511" y="754894"/>
            <a:ext cx="376737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lang="ko-KR" altLang="en-US" b="1" kern="0" dirty="0" err="1" smtClean="0">
                <a:latin typeface="+mn-lt"/>
                <a:ea typeface="+mn-ea"/>
              </a:rPr>
              <a:t>미라지웍스</a:t>
            </a:r>
            <a:r>
              <a:rPr lang="ko-KR" altLang="en-US" b="1" kern="0" dirty="0" smtClean="0">
                <a:latin typeface="+mn-lt"/>
                <a:ea typeface="+mn-ea"/>
              </a:rPr>
              <a:t> 로그인 전에 </a:t>
            </a:r>
            <a:r>
              <a:rPr lang="en-US" altLang="ko-KR" b="1" kern="0" dirty="0" smtClean="0">
                <a:latin typeface="+mn-lt"/>
                <a:ea typeface="+mn-ea"/>
              </a:rPr>
              <a:t>[Swing Process Stop] </a:t>
            </a:r>
            <a:r>
              <a:rPr lang="ko-KR" altLang="en-US" b="1" kern="0" dirty="0" smtClean="0">
                <a:latin typeface="+mn-lt"/>
                <a:ea typeface="+mn-ea"/>
              </a:rPr>
              <a:t>실행하였는가</a:t>
            </a:r>
            <a:r>
              <a:rPr lang="en-US" altLang="ko-KR" b="1" kern="0" dirty="0" smtClean="0">
                <a:latin typeface="+mn-lt"/>
                <a:ea typeface="+mn-ea"/>
              </a:rPr>
              <a:t>?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 bwMode="auto">
          <a:xfrm>
            <a:off x="5135511" y="2265025"/>
            <a:ext cx="390363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lang="ko-KR" altLang="en-US" b="1" kern="0" dirty="0" err="1" smtClean="0">
                <a:latin typeface="+mn-lt"/>
                <a:ea typeface="+mn-ea"/>
              </a:rPr>
              <a:t>미라지웍스</a:t>
            </a:r>
            <a:r>
              <a:rPr lang="ko-KR" altLang="en-US" b="1" kern="0" dirty="0" smtClean="0">
                <a:latin typeface="+mn-lt"/>
                <a:ea typeface="+mn-ea"/>
              </a:rPr>
              <a:t> 로그아웃 후에 </a:t>
            </a:r>
            <a:r>
              <a:rPr lang="en-US" altLang="ko-KR" b="1" kern="0" dirty="0" smtClean="0">
                <a:latin typeface="+mn-lt"/>
                <a:ea typeface="+mn-ea"/>
              </a:rPr>
              <a:t>[Swing Process Start] </a:t>
            </a:r>
            <a:r>
              <a:rPr lang="ko-KR" altLang="en-US" b="1" kern="0" dirty="0" smtClean="0">
                <a:latin typeface="+mn-lt"/>
                <a:ea typeface="+mn-ea"/>
              </a:rPr>
              <a:t>실행하였는가</a:t>
            </a:r>
            <a:r>
              <a:rPr lang="en-US" altLang="ko-KR" b="1" kern="0" dirty="0" smtClean="0">
                <a:latin typeface="+mn-lt"/>
                <a:ea typeface="+mn-ea"/>
              </a:rPr>
              <a:t>?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cxnSp>
        <p:nvCxnSpPr>
          <p:cNvPr id="26" name="직선 연결선 25"/>
          <p:cNvCxnSpPr>
            <a:stCxn id="14" idx="3"/>
            <a:endCxn id="23" idx="1"/>
          </p:cNvCxnSpPr>
          <p:nvPr/>
        </p:nvCxnSpPr>
        <p:spPr bwMode="auto">
          <a:xfrm flipV="1">
            <a:off x="4943656" y="878005"/>
            <a:ext cx="191855" cy="2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직선 연결선 27"/>
          <p:cNvCxnSpPr>
            <a:stCxn id="15" idx="3"/>
            <a:endCxn id="24" idx="1"/>
          </p:cNvCxnSpPr>
          <p:nvPr/>
        </p:nvCxnSpPr>
        <p:spPr bwMode="auto">
          <a:xfrm>
            <a:off x="4943656" y="2386467"/>
            <a:ext cx="191855" cy="1669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직사각형 28"/>
          <p:cNvSpPr/>
          <p:nvPr/>
        </p:nvSpPr>
        <p:spPr bwMode="auto">
          <a:xfrm>
            <a:off x="5252234" y="1063514"/>
            <a:ext cx="4104168" cy="50869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228600" indent="-228600" algn="l">
              <a:buAutoNum type="arabicPeriod"/>
            </a:pPr>
            <a:r>
              <a:rPr lang="en-US" altLang="ko-KR" dirty="0" smtClean="0">
                <a:latin typeface="+mn-ea"/>
                <a:ea typeface="+mn-ea"/>
              </a:rPr>
              <a:t>Window </a:t>
            </a:r>
            <a:r>
              <a:rPr lang="ko-KR" altLang="en-US" dirty="0" err="1" smtClean="0">
                <a:latin typeface="+mn-ea"/>
                <a:ea typeface="+mn-ea"/>
              </a:rPr>
              <a:t>커맨드창에서</a:t>
            </a:r>
            <a:r>
              <a:rPr lang="ko-KR" altLang="en-US" dirty="0" smtClean="0">
                <a:latin typeface="+mn-ea"/>
                <a:ea typeface="+mn-ea"/>
              </a:rPr>
              <a:t> 다음 정보 확인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?</a:t>
            </a:r>
          </a:p>
          <a:p>
            <a:pPr algn="l"/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   1) DNS </a:t>
            </a:r>
            <a:r>
              <a:rPr lang="ko-KR" altLang="en-US" dirty="0" smtClean="0">
                <a:latin typeface="+mn-ea"/>
                <a:ea typeface="+mn-ea"/>
              </a:rPr>
              <a:t>정보가 정확하게 등록되었는가</a:t>
            </a:r>
            <a:r>
              <a:rPr lang="en-US" altLang="ko-KR" dirty="0" smtClean="0">
                <a:latin typeface="+mn-ea"/>
                <a:ea typeface="+mn-ea"/>
              </a:rPr>
              <a:t>? </a:t>
            </a:r>
            <a:r>
              <a:rPr lang="en-US" altLang="ko-KR" dirty="0" err="1" smtClean="0">
                <a:latin typeface="+mn-ea"/>
                <a:ea typeface="+mn-ea"/>
              </a:rPr>
              <a:t>nslookup</a:t>
            </a:r>
            <a:r>
              <a:rPr lang="en-US" altLang="ko-KR" dirty="0" smtClean="0">
                <a:latin typeface="+mn-ea"/>
                <a:ea typeface="+mn-ea"/>
              </a:rPr>
              <a:t> </a:t>
            </a:r>
          </a:p>
          <a:p>
            <a:pPr algn="l"/>
            <a:r>
              <a:rPr lang="en-US" altLang="ko-KR" dirty="0" smtClean="0">
                <a:latin typeface="+mn-ea"/>
                <a:ea typeface="+mn-ea"/>
              </a:rPr>
              <a:t>      2) telnet swing.sktelecom.com  443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5252234" y="1622821"/>
            <a:ext cx="4104168" cy="6188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l"/>
            <a:r>
              <a:rPr lang="en-US" altLang="ko-KR" dirty="0" smtClean="0">
                <a:latin typeface="+mn-ea"/>
                <a:ea typeface="+mn-ea"/>
              </a:rPr>
              <a:t>2.  N/W </a:t>
            </a:r>
            <a:r>
              <a:rPr lang="ko-KR" altLang="en-US" dirty="0" smtClean="0">
                <a:latin typeface="+mn-ea"/>
                <a:ea typeface="+mn-ea"/>
              </a:rPr>
              <a:t>정보 확인</a:t>
            </a:r>
            <a:endParaRPr lang="en-US" altLang="ko-KR" dirty="0" smtClean="0">
              <a:latin typeface="+mn-ea"/>
              <a:ea typeface="+mn-ea"/>
            </a:endParaRPr>
          </a:p>
          <a:p>
            <a:pPr algn="l"/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   1) IP</a:t>
            </a:r>
            <a:r>
              <a:rPr lang="ko-KR" altLang="en-US" dirty="0" smtClean="0">
                <a:latin typeface="+mn-ea"/>
                <a:ea typeface="+mn-ea"/>
              </a:rPr>
              <a:t>의 방화벽 </a:t>
            </a:r>
            <a:r>
              <a:rPr lang="en-US" altLang="ko-KR" dirty="0" smtClean="0">
                <a:latin typeface="+mn-ea"/>
                <a:ea typeface="+mn-ea"/>
              </a:rPr>
              <a:t>Open </a:t>
            </a:r>
            <a:r>
              <a:rPr lang="ko-KR" altLang="en-US" dirty="0" smtClean="0">
                <a:latin typeface="+mn-ea"/>
                <a:ea typeface="+mn-ea"/>
              </a:rPr>
              <a:t>점검 </a:t>
            </a:r>
            <a:endParaRPr lang="en-US" altLang="ko-KR" dirty="0" smtClean="0">
              <a:latin typeface="+mn-ea"/>
              <a:ea typeface="+mn-ea"/>
            </a:endParaRPr>
          </a:p>
          <a:p>
            <a:pPr algn="l"/>
            <a:r>
              <a:rPr lang="ko-KR" altLang="en-US" dirty="0" smtClean="0">
                <a:latin typeface="+mn-ea"/>
                <a:ea typeface="+mn-ea"/>
              </a:rPr>
              <a:t>      </a:t>
            </a:r>
            <a:r>
              <a:rPr lang="en-US" altLang="ko-KR" dirty="0" smtClean="0">
                <a:latin typeface="+mn-ea"/>
                <a:ea typeface="+mn-ea"/>
              </a:rPr>
              <a:t>2) </a:t>
            </a:r>
            <a:r>
              <a:rPr lang="ko-KR" altLang="en-US" dirty="0" err="1" smtClean="0">
                <a:latin typeface="+mn-ea"/>
                <a:ea typeface="+mn-ea"/>
              </a:rPr>
              <a:t>미라지웍스의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White list</a:t>
            </a:r>
            <a:r>
              <a:rPr lang="ko-KR" altLang="en-US" dirty="0" smtClean="0">
                <a:latin typeface="+mn-ea"/>
                <a:ea typeface="+mn-ea"/>
              </a:rPr>
              <a:t>에 </a:t>
            </a:r>
            <a:r>
              <a:rPr lang="en-US" altLang="ko-KR" dirty="0" smtClean="0">
                <a:latin typeface="+mn-ea"/>
                <a:ea typeface="+mn-ea"/>
              </a:rPr>
              <a:t>Swing </a:t>
            </a:r>
            <a:r>
              <a:rPr lang="ko-KR" altLang="en-US" dirty="0" smtClean="0">
                <a:latin typeface="+mn-ea"/>
                <a:ea typeface="+mn-ea"/>
              </a:rPr>
              <a:t>접속 서버 </a:t>
            </a:r>
            <a:r>
              <a:rPr lang="en-US" altLang="ko-KR" dirty="0" smtClean="0">
                <a:latin typeface="+mn-ea"/>
                <a:ea typeface="+mn-ea"/>
              </a:rPr>
              <a:t>Open </a:t>
            </a:r>
            <a:r>
              <a:rPr lang="ko-KR" altLang="en-US" dirty="0" smtClean="0">
                <a:latin typeface="+mn-ea"/>
                <a:ea typeface="+mn-ea"/>
              </a:rPr>
              <a:t>되었는가</a:t>
            </a:r>
            <a:r>
              <a:rPr lang="en-US" altLang="ko-KR" dirty="0" smtClean="0">
                <a:latin typeface="+mn-ea"/>
                <a:ea typeface="+mn-ea"/>
              </a:rPr>
              <a:t>?</a:t>
            </a:r>
            <a:endParaRPr lang="ko-KR" altLang="en-US" dirty="0">
              <a:latin typeface="+mn-ea"/>
              <a:ea typeface="+mn-ea"/>
            </a:endParaRPr>
          </a:p>
        </p:txBody>
      </p:sp>
      <p:cxnSp>
        <p:nvCxnSpPr>
          <p:cNvPr id="31" name="꺾인 연결선 30"/>
          <p:cNvCxnSpPr>
            <a:stCxn id="14" idx="3"/>
            <a:endCxn id="30" idx="1"/>
          </p:cNvCxnSpPr>
          <p:nvPr/>
        </p:nvCxnSpPr>
        <p:spPr bwMode="auto">
          <a:xfrm>
            <a:off x="4943656" y="878007"/>
            <a:ext cx="308578" cy="1054225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꺾인 연결선 33"/>
          <p:cNvCxnSpPr>
            <a:stCxn id="14" idx="3"/>
            <a:endCxn id="29" idx="1"/>
          </p:cNvCxnSpPr>
          <p:nvPr/>
        </p:nvCxnSpPr>
        <p:spPr bwMode="auto">
          <a:xfrm>
            <a:off x="4943656" y="878007"/>
            <a:ext cx="308578" cy="439856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9" name="직사각형 38"/>
          <p:cNvSpPr/>
          <p:nvPr/>
        </p:nvSpPr>
        <p:spPr bwMode="auto">
          <a:xfrm>
            <a:off x="5252234" y="2558502"/>
            <a:ext cx="4104168" cy="50869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228600" indent="-228600" algn="l">
              <a:buAutoNum type="arabicPeriod"/>
            </a:pPr>
            <a:r>
              <a:rPr lang="en-US" altLang="ko-KR" dirty="0" smtClean="0">
                <a:latin typeface="+mn-ea"/>
                <a:ea typeface="+mn-ea"/>
              </a:rPr>
              <a:t>Window </a:t>
            </a:r>
            <a:r>
              <a:rPr lang="ko-KR" altLang="en-US" dirty="0" err="1" smtClean="0">
                <a:latin typeface="+mn-ea"/>
                <a:ea typeface="+mn-ea"/>
              </a:rPr>
              <a:t>커맨드창에서</a:t>
            </a:r>
            <a:r>
              <a:rPr lang="ko-KR" altLang="en-US" dirty="0" smtClean="0">
                <a:latin typeface="+mn-ea"/>
                <a:ea typeface="+mn-ea"/>
              </a:rPr>
              <a:t> 다음 정보 확인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?</a:t>
            </a:r>
          </a:p>
          <a:p>
            <a:pPr algn="l"/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   1) DNS </a:t>
            </a:r>
            <a:r>
              <a:rPr lang="ko-KR" altLang="en-US" dirty="0" smtClean="0">
                <a:latin typeface="+mn-ea"/>
                <a:ea typeface="+mn-ea"/>
              </a:rPr>
              <a:t>정보가 정확하게 등록되었는가</a:t>
            </a:r>
            <a:r>
              <a:rPr lang="en-US" altLang="ko-KR" dirty="0" smtClean="0">
                <a:latin typeface="+mn-ea"/>
                <a:ea typeface="+mn-ea"/>
              </a:rPr>
              <a:t>? </a:t>
            </a:r>
            <a:r>
              <a:rPr lang="en-US" altLang="ko-KR" dirty="0" err="1" smtClean="0">
                <a:latin typeface="+mn-ea"/>
                <a:ea typeface="+mn-ea"/>
              </a:rPr>
              <a:t>nslookup</a:t>
            </a:r>
            <a:r>
              <a:rPr lang="en-US" altLang="ko-KR" dirty="0" smtClean="0">
                <a:latin typeface="+mn-ea"/>
                <a:ea typeface="+mn-ea"/>
              </a:rPr>
              <a:t> </a:t>
            </a:r>
          </a:p>
          <a:p>
            <a:pPr algn="l"/>
            <a:r>
              <a:rPr lang="en-US" altLang="ko-KR" dirty="0" smtClean="0">
                <a:latin typeface="+mn-ea"/>
                <a:ea typeface="+mn-ea"/>
              </a:rPr>
              <a:t>      2) telnet swing.sktelecom.com  443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0" name="직사각형 39"/>
          <p:cNvSpPr/>
          <p:nvPr/>
        </p:nvSpPr>
        <p:spPr bwMode="auto">
          <a:xfrm>
            <a:off x="5252234" y="3117809"/>
            <a:ext cx="4104168" cy="6188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l"/>
            <a:r>
              <a:rPr lang="en-US" altLang="ko-KR" dirty="0" smtClean="0">
                <a:latin typeface="+mn-ea"/>
                <a:ea typeface="+mn-ea"/>
              </a:rPr>
              <a:t>2.  N/W </a:t>
            </a:r>
            <a:r>
              <a:rPr lang="ko-KR" altLang="en-US" dirty="0" smtClean="0">
                <a:latin typeface="+mn-ea"/>
                <a:ea typeface="+mn-ea"/>
              </a:rPr>
              <a:t>정보 확인</a:t>
            </a:r>
            <a:endParaRPr lang="en-US" altLang="ko-KR" dirty="0" smtClean="0">
              <a:latin typeface="+mn-ea"/>
              <a:ea typeface="+mn-ea"/>
            </a:endParaRPr>
          </a:p>
          <a:p>
            <a:pPr algn="l"/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   1) IP</a:t>
            </a:r>
            <a:r>
              <a:rPr lang="ko-KR" altLang="en-US" dirty="0" smtClean="0">
                <a:latin typeface="+mn-ea"/>
                <a:ea typeface="+mn-ea"/>
              </a:rPr>
              <a:t>의 방화벽 </a:t>
            </a:r>
            <a:r>
              <a:rPr lang="en-US" altLang="ko-KR" dirty="0" smtClean="0">
                <a:latin typeface="+mn-ea"/>
                <a:ea typeface="+mn-ea"/>
              </a:rPr>
              <a:t>Open </a:t>
            </a:r>
            <a:r>
              <a:rPr lang="ko-KR" altLang="en-US" dirty="0" smtClean="0">
                <a:latin typeface="+mn-ea"/>
                <a:ea typeface="+mn-ea"/>
              </a:rPr>
              <a:t>점검 </a:t>
            </a:r>
            <a:endParaRPr lang="en-US" altLang="ko-KR" dirty="0" smtClean="0">
              <a:latin typeface="+mn-ea"/>
              <a:ea typeface="+mn-ea"/>
            </a:endParaRPr>
          </a:p>
          <a:p>
            <a:pPr algn="l"/>
            <a:r>
              <a:rPr lang="ko-KR" altLang="en-US" dirty="0" smtClean="0">
                <a:latin typeface="+mn-ea"/>
                <a:ea typeface="+mn-ea"/>
              </a:rPr>
              <a:t>      </a:t>
            </a:r>
            <a:r>
              <a:rPr lang="en-US" altLang="ko-KR" dirty="0" smtClean="0">
                <a:latin typeface="+mn-ea"/>
                <a:ea typeface="+mn-ea"/>
              </a:rPr>
              <a:t>2) </a:t>
            </a:r>
            <a:r>
              <a:rPr lang="ko-KR" altLang="en-US" dirty="0" err="1" smtClean="0">
                <a:latin typeface="+mn-ea"/>
                <a:ea typeface="+mn-ea"/>
              </a:rPr>
              <a:t>미라지웍스의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White list</a:t>
            </a:r>
            <a:r>
              <a:rPr lang="ko-KR" altLang="en-US" dirty="0" smtClean="0">
                <a:latin typeface="+mn-ea"/>
                <a:ea typeface="+mn-ea"/>
              </a:rPr>
              <a:t>에 </a:t>
            </a:r>
            <a:r>
              <a:rPr lang="en-US" altLang="ko-KR" dirty="0" smtClean="0">
                <a:latin typeface="+mn-ea"/>
                <a:ea typeface="+mn-ea"/>
              </a:rPr>
              <a:t>Swing </a:t>
            </a:r>
            <a:r>
              <a:rPr lang="ko-KR" altLang="en-US" dirty="0" smtClean="0">
                <a:latin typeface="+mn-ea"/>
                <a:ea typeface="+mn-ea"/>
              </a:rPr>
              <a:t>접속 서버 </a:t>
            </a:r>
            <a:r>
              <a:rPr lang="en-US" altLang="ko-KR" dirty="0" smtClean="0">
                <a:latin typeface="+mn-ea"/>
                <a:ea typeface="+mn-ea"/>
              </a:rPr>
              <a:t>Open </a:t>
            </a:r>
            <a:r>
              <a:rPr lang="ko-KR" altLang="en-US" dirty="0" smtClean="0">
                <a:latin typeface="+mn-ea"/>
                <a:ea typeface="+mn-ea"/>
              </a:rPr>
              <a:t>되었는가</a:t>
            </a:r>
            <a:r>
              <a:rPr lang="en-US" altLang="ko-KR" dirty="0" smtClean="0">
                <a:latin typeface="+mn-ea"/>
                <a:ea typeface="+mn-ea"/>
              </a:rPr>
              <a:t>?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3" name="TextBox 42"/>
          <p:cNvSpPr txBox="1"/>
          <p:nvPr/>
        </p:nvSpPr>
        <p:spPr bwMode="auto">
          <a:xfrm>
            <a:off x="3944665" y="3779162"/>
            <a:ext cx="99899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lang="ko-KR" altLang="en-US" b="1" kern="0" noProof="0" dirty="0" err="1" smtClean="0">
                <a:latin typeface="+mn-lt"/>
                <a:ea typeface="+mn-ea"/>
              </a:rPr>
              <a:t>미라지웍스</a:t>
            </a:r>
            <a:r>
              <a:rPr lang="ko-KR" altLang="en-US" b="1" kern="0" noProof="0" dirty="0" smtClean="0">
                <a:latin typeface="+mn-lt"/>
                <a:ea typeface="+mn-ea"/>
              </a:rPr>
              <a:t> 안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3944665" y="5223824"/>
            <a:ext cx="99899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lang="ko-KR" altLang="en-US" b="1" kern="0" noProof="0" dirty="0" err="1" smtClean="0">
                <a:latin typeface="+mn-lt"/>
                <a:ea typeface="+mn-ea"/>
              </a:rPr>
              <a:t>미라지웍스</a:t>
            </a:r>
            <a:r>
              <a:rPr lang="ko-KR" altLang="en-US" b="1" kern="0" noProof="0" dirty="0" smtClean="0">
                <a:latin typeface="+mn-lt"/>
                <a:ea typeface="+mn-ea"/>
              </a:rPr>
              <a:t> 밖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cxnSp>
        <p:nvCxnSpPr>
          <p:cNvPr id="45" name="꺾인 연결선 44"/>
          <p:cNvCxnSpPr>
            <a:stCxn id="8" idx="3"/>
            <a:endCxn id="43" idx="1"/>
          </p:cNvCxnSpPr>
          <p:nvPr/>
        </p:nvCxnSpPr>
        <p:spPr bwMode="auto">
          <a:xfrm flipV="1">
            <a:off x="3674163" y="3902273"/>
            <a:ext cx="270502" cy="50578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" name="꺾인 연결선 45"/>
          <p:cNvCxnSpPr>
            <a:stCxn id="8" idx="3"/>
            <a:endCxn id="44" idx="1"/>
          </p:cNvCxnSpPr>
          <p:nvPr/>
        </p:nvCxnSpPr>
        <p:spPr bwMode="auto">
          <a:xfrm>
            <a:off x="3674163" y="4408055"/>
            <a:ext cx="270502" cy="938880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7" name="TextBox 46"/>
          <p:cNvSpPr txBox="1"/>
          <p:nvPr/>
        </p:nvSpPr>
        <p:spPr bwMode="auto">
          <a:xfrm>
            <a:off x="5135511" y="3779160"/>
            <a:ext cx="376737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lang="ko-KR" altLang="en-US" b="1" kern="0" dirty="0" err="1" smtClean="0">
                <a:latin typeface="+mn-lt"/>
                <a:ea typeface="+mn-ea"/>
              </a:rPr>
              <a:t>미라지웍스</a:t>
            </a:r>
            <a:r>
              <a:rPr lang="ko-KR" altLang="en-US" b="1" kern="0" dirty="0" smtClean="0">
                <a:latin typeface="+mn-lt"/>
                <a:ea typeface="+mn-ea"/>
              </a:rPr>
              <a:t> 로그인 전에 </a:t>
            </a:r>
            <a:r>
              <a:rPr lang="en-US" altLang="ko-KR" b="1" kern="0" dirty="0" smtClean="0">
                <a:latin typeface="+mn-lt"/>
                <a:ea typeface="+mn-ea"/>
              </a:rPr>
              <a:t>[Swing Process Stop] </a:t>
            </a:r>
            <a:r>
              <a:rPr lang="ko-KR" altLang="en-US" b="1" kern="0" dirty="0" smtClean="0">
                <a:latin typeface="+mn-lt"/>
                <a:ea typeface="+mn-ea"/>
              </a:rPr>
              <a:t>실행하였는가</a:t>
            </a:r>
            <a:r>
              <a:rPr lang="en-US" altLang="ko-KR" b="1" kern="0" dirty="0" smtClean="0">
                <a:latin typeface="+mn-lt"/>
                <a:ea typeface="+mn-ea"/>
              </a:rPr>
              <a:t>?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48" name="TextBox 47"/>
          <p:cNvSpPr txBox="1"/>
          <p:nvPr/>
        </p:nvSpPr>
        <p:spPr bwMode="auto">
          <a:xfrm>
            <a:off x="5135511" y="5225493"/>
            <a:ext cx="390363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lang="ko-KR" altLang="en-US" b="1" kern="0" dirty="0" err="1" smtClean="0">
                <a:latin typeface="+mn-lt"/>
                <a:ea typeface="+mn-ea"/>
              </a:rPr>
              <a:t>미라지웍스</a:t>
            </a:r>
            <a:r>
              <a:rPr lang="ko-KR" altLang="en-US" b="1" kern="0" dirty="0" smtClean="0">
                <a:latin typeface="+mn-lt"/>
                <a:ea typeface="+mn-ea"/>
              </a:rPr>
              <a:t> 로그아웃 후에 </a:t>
            </a:r>
            <a:r>
              <a:rPr lang="en-US" altLang="ko-KR" b="1" kern="0" dirty="0" smtClean="0">
                <a:latin typeface="+mn-lt"/>
                <a:ea typeface="+mn-ea"/>
              </a:rPr>
              <a:t>[Swing Process Start] </a:t>
            </a:r>
            <a:r>
              <a:rPr lang="ko-KR" altLang="en-US" b="1" kern="0" dirty="0" smtClean="0">
                <a:latin typeface="+mn-lt"/>
                <a:ea typeface="+mn-ea"/>
              </a:rPr>
              <a:t>실행하였는가</a:t>
            </a:r>
            <a:r>
              <a:rPr lang="en-US" altLang="ko-KR" b="1" kern="0" dirty="0" smtClean="0">
                <a:latin typeface="+mn-lt"/>
                <a:ea typeface="+mn-ea"/>
              </a:rPr>
              <a:t>?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cxnSp>
        <p:nvCxnSpPr>
          <p:cNvPr id="49" name="직선 연결선 48"/>
          <p:cNvCxnSpPr>
            <a:stCxn id="43" idx="3"/>
            <a:endCxn id="47" idx="1"/>
          </p:cNvCxnSpPr>
          <p:nvPr/>
        </p:nvCxnSpPr>
        <p:spPr bwMode="auto">
          <a:xfrm flipV="1">
            <a:off x="4943656" y="3902271"/>
            <a:ext cx="191855" cy="2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0" name="직선 연결선 49"/>
          <p:cNvCxnSpPr>
            <a:stCxn id="44" idx="3"/>
            <a:endCxn id="48" idx="1"/>
          </p:cNvCxnSpPr>
          <p:nvPr/>
        </p:nvCxnSpPr>
        <p:spPr bwMode="auto">
          <a:xfrm>
            <a:off x="4943656" y="5346935"/>
            <a:ext cx="191855" cy="1669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직사각형 50"/>
          <p:cNvSpPr/>
          <p:nvPr/>
        </p:nvSpPr>
        <p:spPr bwMode="auto">
          <a:xfrm>
            <a:off x="5252234" y="4087780"/>
            <a:ext cx="4104168" cy="50869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228600" indent="-228600" algn="l">
              <a:buAutoNum type="arabicPeriod"/>
            </a:pPr>
            <a:r>
              <a:rPr lang="en-US" altLang="ko-KR" dirty="0" smtClean="0">
                <a:latin typeface="+mn-ea"/>
                <a:ea typeface="+mn-ea"/>
              </a:rPr>
              <a:t>Window </a:t>
            </a:r>
            <a:r>
              <a:rPr lang="ko-KR" altLang="en-US" dirty="0" err="1" smtClean="0">
                <a:latin typeface="+mn-ea"/>
                <a:ea typeface="+mn-ea"/>
              </a:rPr>
              <a:t>커맨드창에서</a:t>
            </a:r>
            <a:r>
              <a:rPr lang="ko-KR" altLang="en-US" dirty="0" smtClean="0">
                <a:latin typeface="+mn-ea"/>
                <a:ea typeface="+mn-ea"/>
              </a:rPr>
              <a:t> 다음 정보 확인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?</a:t>
            </a:r>
          </a:p>
          <a:p>
            <a:pPr algn="l"/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   1) DNS </a:t>
            </a:r>
            <a:r>
              <a:rPr lang="ko-KR" altLang="en-US" dirty="0" smtClean="0">
                <a:latin typeface="+mn-ea"/>
                <a:ea typeface="+mn-ea"/>
              </a:rPr>
              <a:t>정보가 정확하게 등록되었는가</a:t>
            </a:r>
            <a:r>
              <a:rPr lang="en-US" altLang="ko-KR" dirty="0" smtClean="0">
                <a:latin typeface="+mn-ea"/>
                <a:ea typeface="+mn-ea"/>
              </a:rPr>
              <a:t>? </a:t>
            </a:r>
            <a:r>
              <a:rPr lang="en-US" altLang="ko-KR" dirty="0" err="1" smtClean="0">
                <a:latin typeface="+mn-ea"/>
                <a:ea typeface="+mn-ea"/>
              </a:rPr>
              <a:t>nslookup</a:t>
            </a:r>
            <a:r>
              <a:rPr lang="en-US" altLang="ko-KR" dirty="0" smtClean="0">
                <a:latin typeface="+mn-ea"/>
                <a:ea typeface="+mn-ea"/>
              </a:rPr>
              <a:t> </a:t>
            </a:r>
          </a:p>
          <a:p>
            <a:pPr algn="l"/>
            <a:r>
              <a:rPr lang="en-US" altLang="ko-KR" dirty="0" smtClean="0">
                <a:latin typeface="+mn-ea"/>
                <a:ea typeface="+mn-ea"/>
              </a:rPr>
              <a:t>      2) telnet swing.sktelecom.com  443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2" name="직사각형 51"/>
          <p:cNvSpPr/>
          <p:nvPr/>
        </p:nvSpPr>
        <p:spPr bwMode="auto">
          <a:xfrm>
            <a:off x="5252234" y="4647088"/>
            <a:ext cx="4104168" cy="52033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l"/>
            <a:r>
              <a:rPr lang="en-US" altLang="ko-KR" dirty="0" smtClean="0">
                <a:latin typeface="+mn-ea"/>
                <a:ea typeface="+mn-ea"/>
              </a:rPr>
              <a:t>2.  N/W </a:t>
            </a:r>
            <a:r>
              <a:rPr lang="ko-KR" altLang="en-US" dirty="0" smtClean="0">
                <a:latin typeface="+mn-ea"/>
                <a:ea typeface="+mn-ea"/>
              </a:rPr>
              <a:t>정보 확인</a:t>
            </a:r>
            <a:endParaRPr lang="en-US" altLang="ko-KR" dirty="0" smtClean="0">
              <a:latin typeface="+mn-ea"/>
              <a:ea typeface="+mn-ea"/>
            </a:endParaRPr>
          </a:p>
          <a:p>
            <a:pPr algn="l"/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   1) IP</a:t>
            </a:r>
            <a:r>
              <a:rPr lang="ko-KR" altLang="en-US" dirty="0" smtClean="0">
                <a:latin typeface="+mn-ea"/>
                <a:ea typeface="+mn-ea"/>
              </a:rPr>
              <a:t>의 방화벽 </a:t>
            </a:r>
            <a:r>
              <a:rPr lang="en-US" altLang="ko-KR" dirty="0" smtClean="0">
                <a:latin typeface="+mn-ea"/>
                <a:ea typeface="+mn-ea"/>
              </a:rPr>
              <a:t>Open </a:t>
            </a:r>
            <a:r>
              <a:rPr lang="ko-KR" altLang="en-US" dirty="0" smtClean="0">
                <a:latin typeface="+mn-ea"/>
                <a:ea typeface="+mn-ea"/>
              </a:rPr>
              <a:t>점검 </a:t>
            </a:r>
            <a:endParaRPr lang="en-US" altLang="ko-KR" dirty="0" smtClean="0">
              <a:latin typeface="+mn-ea"/>
              <a:ea typeface="+mn-ea"/>
            </a:endParaRPr>
          </a:p>
          <a:p>
            <a:pPr algn="l"/>
            <a:r>
              <a:rPr lang="ko-KR" altLang="en-US" dirty="0" smtClean="0">
                <a:latin typeface="+mn-ea"/>
                <a:ea typeface="+mn-ea"/>
              </a:rPr>
              <a:t>      </a:t>
            </a:r>
            <a:r>
              <a:rPr lang="en-US" altLang="ko-KR" dirty="0" smtClean="0">
                <a:latin typeface="+mn-ea"/>
                <a:ea typeface="+mn-ea"/>
              </a:rPr>
              <a:t>2) </a:t>
            </a:r>
            <a:r>
              <a:rPr lang="ko-KR" altLang="en-US" dirty="0" err="1" smtClean="0">
                <a:latin typeface="+mn-ea"/>
                <a:ea typeface="+mn-ea"/>
              </a:rPr>
              <a:t>미라지웍스의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White list</a:t>
            </a:r>
            <a:r>
              <a:rPr lang="ko-KR" altLang="en-US" dirty="0" smtClean="0">
                <a:latin typeface="+mn-ea"/>
                <a:ea typeface="+mn-ea"/>
              </a:rPr>
              <a:t>에 </a:t>
            </a:r>
            <a:r>
              <a:rPr lang="en-US" altLang="ko-KR" dirty="0" smtClean="0">
                <a:latin typeface="+mn-ea"/>
                <a:ea typeface="+mn-ea"/>
              </a:rPr>
              <a:t>Swing </a:t>
            </a:r>
            <a:r>
              <a:rPr lang="ko-KR" altLang="en-US" dirty="0" smtClean="0">
                <a:latin typeface="+mn-ea"/>
                <a:ea typeface="+mn-ea"/>
              </a:rPr>
              <a:t>접속 서버 </a:t>
            </a:r>
            <a:r>
              <a:rPr lang="en-US" altLang="ko-KR" dirty="0" smtClean="0">
                <a:latin typeface="+mn-ea"/>
                <a:ea typeface="+mn-ea"/>
              </a:rPr>
              <a:t>Open </a:t>
            </a:r>
            <a:r>
              <a:rPr lang="ko-KR" altLang="en-US" dirty="0" smtClean="0">
                <a:latin typeface="+mn-ea"/>
                <a:ea typeface="+mn-ea"/>
              </a:rPr>
              <a:t>되었는가</a:t>
            </a:r>
            <a:r>
              <a:rPr lang="en-US" altLang="ko-KR" dirty="0" smtClean="0">
                <a:latin typeface="+mn-ea"/>
                <a:ea typeface="+mn-ea"/>
              </a:rPr>
              <a:t>?</a:t>
            </a:r>
            <a:endParaRPr lang="ko-KR" altLang="en-US" dirty="0">
              <a:latin typeface="+mn-ea"/>
              <a:ea typeface="+mn-ea"/>
            </a:endParaRPr>
          </a:p>
        </p:txBody>
      </p:sp>
      <p:cxnSp>
        <p:nvCxnSpPr>
          <p:cNvPr id="53" name="꺾인 연결선 52"/>
          <p:cNvCxnSpPr>
            <a:stCxn id="43" idx="3"/>
            <a:endCxn id="52" idx="1"/>
          </p:cNvCxnSpPr>
          <p:nvPr/>
        </p:nvCxnSpPr>
        <p:spPr bwMode="auto">
          <a:xfrm>
            <a:off x="4943656" y="3902273"/>
            <a:ext cx="308578" cy="1004983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4" name="꺾인 연결선 53"/>
          <p:cNvCxnSpPr>
            <a:stCxn id="43" idx="3"/>
            <a:endCxn id="51" idx="1"/>
          </p:cNvCxnSpPr>
          <p:nvPr/>
        </p:nvCxnSpPr>
        <p:spPr bwMode="auto">
          <a:xfrm>
            <a:off x="4943656" y="3902273"/>
            <a:ext cx="308578" cy="439856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5" name="직사각형 54"/>
          <p:cNvSpPr/>
          <p:nvPr/>
        </p:nvSpPr>
        <p:spPr bwMode="auto">
          <a:xfrm>
            <a:off x="5252234" y="5471714"/>
            <a:ext cx="4104168" cy="61975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228600" indent="-228600" algn="l">
              <a:buAutoNum type="arabicPeriod"/>
            </a:pPr>
            <a:r>
              <a:rPr lang="en-US" altLang="ko-KR" dirty="0" smtClean="0">
                <a:latin typeface="+mn-ea"/>
                <a:ea typeface="+mn-ea"/>
              </a:rPr>
              <a:t>Window </a:t>
            </a:r>
            <a:r>
              <a:rPr lang="ko-KR" altLang="en-US" dirty="0" smtClean="0">
                <a:latin typeface="+mn-ea"/>
                <a:ea typeface="+mn-ea"/>
              </a:rPr>
              <a:t>커맨드 창에서 다음 정보 확인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?</a:t>
            </a:r>
          </a:p>
          <a:p>
            <a:pPr algn="l"/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   1) </a:t>
            </a:r>
            <a:r>
              <a:rPr lang="ko-KR" altLang="en-US" dirty="0" smtClean="0">
                <a:solidFill>
                  <a:srgbClr val="FF0000"/>
                </a:solidFill>
                <a:latin typeface="+mn-ea"/>
                <a:ea typeface="+mn-ea"/>
              </a:rPr>
              <a:t>임시 배포했던 </a:t>
            </a:r>
            <a:r>
              <a:rPr lang="en-US" altLang="ko-KR" dirty="0" smtClean="0">
                <a:solidFill>
                  <a:srgbClr val="FF0000"/>
                </a:solidFill>
                <a:latin typeface="+mn-ea"/>
                <a:ea typeface="+mn-ea"/>
              </a:rPr>
              <a:t>hosts </a:t>
            </a:r>
            <a:r>
              <a:rPr lang="ko-KR" altLang="en-US" dirty="0" smtClean="0">
                <a:solidFill>
                  <a:srgbClr val="FF0000"/>
                </a:solidFill>
                <a:latin typeface="+mn-ea"/>
                <a:ea typeface="+mn-ea"/>
              </a:rPr>
              <a:t>내용 추가했는지 확인 후 삭제한다</a:t>
            </a:r>
            <a:r>
              <a:rPr lang="en-US" altLang="ko-KR" dirty="0" smtClean="0">
                <a:latin typeface="+mn-ea"/>
                <a:ea typeface="+mn-ea"/>
              </a:rPr>
              <a:t>.</a:t>
            </a:r>
          </a:p>
          <a:p>
            <a:pPr algn="l"/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   1) DNS </a:t>
            </a:r>
            <a:r>
              <a:rPr lang="ko-KR" altLang="en-US" dirty="0" smtClean="0">
                <a:latin typeface="+mn-ea"/>
                <a:ea typeface="+mn-ea"/>
              </a:rPr>
              <a:t>정보가 정확하게 등록되었는가</a:t>
            </a:r>
            <a:r>
              <a:rPr lang="en-US" altLang="ko-KR" dirty="0" smtClean="0">
                <a:latin typeface="+mn-ea"/>
                <a:ea typeface="+mn-ea"/>
              </a:rPr>
              <a:t>? </a:t>
            </a:r>
            <a:r>
              <a:rPr lang="en-US" altLang="ko-KR" dirty="0" err="1" smtClean="0">
                <a:latin typeface="+mn-ea"/>
                <a:ea typeface="+mn-ea"/>
              </a:rPr>
              <a:t>nslookup</a:t>
            </a:r>
            <a:r>
              <a:rPr lang="en-US" altLang="ko-KR" dirty="0" smtClean="0">
                <a:latin typeface="+mn-ea"/>
                <a:ea typeface="+mn-ea"/>
              </a:rPr>
              <a:t> </a:t>
            </a:r>
          </a:p>
          <a:p>
            <a:pPr algn="l"/>
            <a:r>
              <a:rPr lang="en-US" altLang="ko-KR" dirty="0" smtClean="0">
                <a:latin typeface="+mn-ea"/>
                <a:ea typeface="+mn-ea"/>
              </a:rPr>
              <a:t>      2) telnet swing.sktelecom.com  443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5252234" y="6142075"/>
            <a:ext cx="4104168" cy="6188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l"/>
            <a:r>
              <a:rPr lang="en-US" altLang="ko-KR" dirty="0" smtClean="0">
                <a:latin typeface="+mn-ea"/>
                <a:ea typeface="+mn-ea"/>
              </a:rPr>
              <a:t>2.  N/W </a:t>
            </a:r>
            <a:r>
              <a:rPr lang="ko-KR" altLang="en-US" dirty="0" smtClean="0">
                <a:latin typeface="+mn-ea"/>
                <a:ea typeface="+mn-ea"/>
              </a:rPr>
              <a:t>정보 확인</a:t>
            </a:r>
            <a:endParaRPr lang="en-US" altLang="ko-KR" dirty="0" smtClean="0">
              <a:latin typeface="+mn-ea"/>
              <a:ea typeface="+mn-ea"/>
            </a:endParaRPr>
          </a:p>
          <a:p>
            <a:pPr algn="l"/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   1) IP</a:t>
            </a:r>
            <a:r>
              <a:rPr lang="ko-KR" altLang="en-US" dirty="0" smtClean="0">
                <a:latin typeface="+mn-ea"/>
                <a:ea typeface="+mn-ea"/>
              </a:rPr>
              <a:t>의 방화벽 </a:t>
            </a:r>
            <a:r>
              <a:rPr lang="en-US" altLang="ko-KR" dirty="0" smtClean="0">
                <a:latin typeface="+mn-ea"/>
                <a:ea typeface="+mn-ea"/>
              </a:rPr>
              <a:t>Open </a:t>
            </a:r>
            <a:r>
              <a:rPr lang="ko-KR" altLang="en-US" dirty="0" smtClean="0">
                <a:latin typeface="+mn-ea"/>
                <a:ea typeface="+mn-ea"/>
              </a:rPr>
              <a:t>점검 </a:t>
            </a:r>
            <a:endParaRPr lang="en-US" altLang="ko-KR" dirty="0" smtClean="0">
              <a:latin typeface="+mn-ea"/>
              <a:ea typeface="+mn-ea"/>
            </a:endParaRPr>
          </a:p>
          <a:p>
            <a:pPr algn="l"/>
            <a:r>
              <a:rPr lang="ko-KR" altLang="en-US" dirty="0" smtClean="0">
                <a:latin typeface="+mn-ea"/>
                <a:ea typeface="+mn-ea"/>
              </a:rPr>
              <a:t>      </a:t>
            </a:r>
            <a:r>
              <a:rPr lang="en-US" altLang="ko-KR" dirty="0" smtClean="0">
                <a:latin typeface="+mn-ea"/>
                <a:ea typeface="+mn-ea"/>
              </a:rPr>
              <a:t>2) </a:t>
            </a:r>
            <a:r>
              <a:rPr lang="ko-KR" altLang="en-US" dirty="0" err="1" smtClean="0">
                <a:latin typeface="+mn-ea"/>
                <a:ea typeface="+mn-ea"/>
              </a:rPr>
              <a:t>미라지웍스의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White list</a:t>
            </a:r>
            <a:r>
              <a:rPr lang="ko-KR" altLang="en-US" dirty="0" smtClean="0">
                <a:latin typeface="+mn-ea"/>
                <a:ea typeface="+mn-ea"/>
              </a:rPr>
              <a:t>에 </a:t>
            </a:r>
            <a:r>
              <a:rPr lang="en-US" altLang="ko-KR" dirty="0" smtClean="0">
                <a:latin typeface="+mn-ea"/>
                <a:ea typeface="+mn-ea"/>
              </a:rPr>
              <a:t>Swing </a:t>
            </a:r>
            <a:r>
              <a:rPr lang="ko-KR" altLang="en-US" dirty="0" smtClean="0">
                <a:latin typeface="+mn-ea"/>
                <a:ea typeface="+mn-ea"/>
              </a:rPr>
              <a:t>접속 서버 </a:t>
            </a:r>
            <a:r>
              <a:rPr lang="en-US" altLang="ko-KR" dirty="0" smtClean="0">
                <a:latin typeface="+mn-ea"/>
                <a:ea typeface="+mn-ea"/>
              </a:rPr>
              <a:t>Open </a:t>
            </a:r>
            <a:r>
              <a:rPr lang="ko-KR" altLang="en-US" dirty="0" smtClean="0">
                <a:latin typeface="+mn-ea"/>
                <a:ea typeface="+mn-ea"/>
              </a:rPr>
              <a:t>되었는가</a:t>
            </a:r>
            <a:r>
              <a:rPr lang="en-US" altLang="ko-KR" dirty="0" smtClean="0">
                <a:latin typeface="+mn-ea"/>
                <a:ea typeface="+mn-ea"/>
              </a:rPr>
              <a:t>?</a:t>
            </a:r>
            <a:endParaRPr lang="ko-KR" altLang="en-US" dirty="0">
              <a:latin typeface="+mn-ea"/>
              <a:ea typeface="+mn-ea"/>
            </a:endParaRPr>
          </a:p>
        </p:txBody>
      </p:sp>
      <p:cxnSp>
        <p:nvCxnSpPr>
          <p:cNvPr id="62" name="꺾인 연결선 61"/>
          <p:cNvCxnSpPr>
            <a:stCxn id="44" idx="3"/>
            <a:endCxn id="56" idx="1"/>
          </p:cNvCxnSpPr>
          <p:nvPr/>
        </p:nvCxnSpPr>
        <p:spPr bwMode="auto">
          <a:xfrm>
            <a:off x="4943656" y="5346935"/>
            <a:ext cx="308578" cy="1104551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5" name="꺾인 연결선 64"/>
          <p:cNvCxnSpPr>
            <a:stCxn id="44" idx="3"/>
            <a:endCxn id="55" idx="1"/>
          </p:cNvCxnSpPr>
          <p:nvPr/>
        </p:nvCxnSpPr>
        <p:spPr bwMode="auto">
          <a:xfrm>
            <a:off x="4943656" y="5346935"/>
            <a:ext cx="308578" cy="434655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76" name="그룹 75"/>
          <p:cNvGrpSpPr/>
          <p:nvPr/>
        </p:nvGrpSpPr>
        <p:grpSpPr>
          <a:xfrm>
            <a:off x="501551" y="5564262"/>
            <a:ext cx="1773816" cy="762110"/>
            <a:chOff x="501551" y="5564262"/>
            <a:chExt cx="1773816" cy="762110"/>
          </a:xfrm>
        </p:grpSpPr>
        <p:sp>
          <p:nvSpPr>
            <p:cNvPr id="75" name="직사각형 74"/>
            <p:cNvSpPr/>
            <p:nvPr/>
          </p:nvSpPr>
          <p:spPr bwMode="auto">
            <a:xfrm>
              <a:off x="501551" y="5564262"/>
              <a:ext cx="1773816" cy="76211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/>
            <p:cNvSpPr/>
            <p:nvPr/>
          </p:nvSpPr>
          <p:spPr bwMode="auto">
            <a:xfrm>
              <a:off x="765544" y="5975498"/>
              <a:ext cx="340242" cy="17012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TextBox 71"/>
            <p:cNvSpPr txBox="1"/>
            <p:nvPr/>
          </p:nvSpPr>
          <p:spPr bwMode="auto">
            <a:xfrm>
              <a:off x="1173549" y="5932969"/>
              <a:ext cx="902811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179388" marR="0" indent="-179388" algn="l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itchFamily="2" charset="2"/>
                <a:buNone/>
                <a:tabLst/>
              </a:pPr>
              <a:r>
                <a:rPr lang="en-US" altLang="ko-KR" b="1" kern="0" dirty="0" smtClean="0">
                  <a:latin typeface="+mn-lt"/>
                  <a:ea typeface="+mn-ea"/>
                </a:rPr>
                <a:t>N/W </a:t>
              </a:r>
              <a:r>
                <a:rPr lang="ko-KR" altLang="en-US" b="1" kern="0" dirty="0" smtClean="0">
                  <a:latin typeface="+mn-lt"/>
                  <a:ea typeface="+mn-ea"/>
                </a:rPr>
                <a:t>담당자</a:t>
              </a:r>
              <a:endParaRPr kumimoji="1" lang="ko-KR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73" name="직사각형 72"/>
            <p:cNvSpPr/>
            <p:nvPr/>
          </p:nvSpPr>
          <p:spPr bwMode="auto">
            <a:xfrm>
              <a:off x="765544" y="5723754"/>
              <a:ext cx="340242" cy="17012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TextBox 73"/>
            <p:cNvSpPr txBox="1"/>
            <p:nvPr/>
          </p:nvSpPr>
          <p:spPr bwMode="auto">
            <a:xfrm>
              <a:off x="1173549" y="5681225"/>
              <a:ext cx="856325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179388" marR="0" indent="-179388" algn="l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itchFamily="2" charset="2"/>
                <a:buNone/>
                <a:tabLst/>
              </a:pPr>
              <a:r>
                <a:rPr lang="en-US" altLang="ko-KR" b="1" kern="0" dirty="0" smtClean="0">
                  <a:latin typeface="+mn-lt"/>
                  <a:ea typeface="+mn-ea"/>
                </a:rPr>
                <a:t>Help Desk </a:t>
              </a:r>
              <a:endParaRPr kumimoji="1" lang="ko-KR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456153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Swing </a:t>
            </a:r>
            <a:r>
              <a:rPr lang="ko-KR" altLang="en-US" dirty="0" smtClean="0"/>
              <a:t>접속 오류에 대한 점검 항목 </a:t>
            </a:r>
            <a:r>
              <a:rPr lang="en-US" altLang="ko-KR" dirty="0" smtClean="0"/>
              <a:t>( </a:t>
            </a:r>
            <a:r>
              <a:rPr lang="en-US" altLang="ko-KR" dirty="0" smtClean="0">
                <a:solidFill>
                  <a:srgbClr val="FF0000"/>
                </a:solidFill>
              </a:rPr>
              <a:t>SKB</a:t>
            </a:r>
            <a:r>
              <a:rPr lang="en-US" altLang="ko-KR" dirty="0" smtClean="0"/>
              <a:t> )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 bwMode="auto">
          <a:xfrm>
            <a:off x="861237" y="1350335"/>
            <a:ext cx="914400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altLang="ko-KR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SKB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2008322" y="1341373"/>
            <a:ext cx="16658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lang="en-US" altLang="ko-KR" b="1" kern="0" noProof="0" dirty="0" smtClean="0">
                <a:latin typeface="+mn-lt"/>
                <a:ea typeface="+mn-ea"/>
              </a:rPr>
              <a:t>swing.skbroadband.com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cxnSp>
        <p:nvCxnSpPr>
          <p:cNvPr id="10" name="꺾인 연결선 9"/>
          <p:cNvCxnSpPr>
            <a:stCxn id="3" idx="3"/>
            <a:endCxn id="7" idx="1"/>
          </p:cNvCxnSpPr>
          <p:nvPr/>
        </p:nvCxnSpPr>
        <p:spPr bwMode="auto">
          <a:xfrm flipV="1">
            <a:off x="1775637" y="1464484"/>
            <a:ext cx="232685" cy="343051"/>
          </a:xfrm>
          <a:prstGeom prst="bentConnector3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 bwMode="auto">
          <a:xfrm>
            <a:off x="3944665" y="754896"/>
            <a:ext cx="88197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kumimoji="1" lang="en-US" altLang="ko-KR" sz="1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VPN </a:t>
            </a:r>
            <a:r>
              <a:rPr lang="ko-KR" altLang="en-US" b="1" kern="0" dirty="0" smtClean="0">
                <a:latin typeface="+mn-lt"/>
                <a:ea typeface="+mn-ea"/>
              </a:rPr>
              <a:t>사용</a:t>
            </a:r>
            <a:r>
              <a:rPr lang="ko-KR" altLang="en-US" b="1" kern="0" dirty="0">
                <a:latin typeface="+mn-lt"/>
                <a:ea typeface="+mn-ea"/>
              </a:rPr>
              <a:t>자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3944665" y="2082595"/>
            <a:ext cx="93968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lang="en-US" altLang="ko-KR" b="1" kern="0" noProof="0" dirty="0" smtClean="0">
                <a:latin typeface="+mn-lt"/>
                <a:ea typeface="+mn-ea"/>
              </a:rPr>
              <a:t>NAT </a:t>
            </a:r>
            <a:r>
              <a:rPr lang="ko-KR" altLang="en-US" b="1" kern="0" dirty="0" smtClean="0">
                <a:latin typeface="+mn-lt"/>
                <a:ea typeface="+mn-ea"/>
              </a:rPr>
              <a:t>경유자</a:t>
            </a:r>
            <a:r>
              <a:rPr lang="en-US" altLang="ko-KR" b="1" kern="0" dirty="0" smtClean="0">
                <a:latin typeface="+mn-lt"/>
                <a:ea typeface="+mn-ea"/>
              </a:rPr>
              <a:t>?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cxnSp>
        <p:nvCxnSpPr>
          <p:cNvPr id="16" name="꺾인 연결선 15"/>
          <p:cNvCxnSpPr>
            <a:stCxn id="7" idx="3"/>
            <a:endCxn id="14" idx="1"/>
          </p:cNvCxnSpPr>
          <p:nvPr/>
        </p:nvCxnSpPr>
        <p:spPr bwMode="auto">
          <a:xfrm flipV="1">
            <a:off x="3674163" y="878007"/>
            <a:ext cx="270502" cy="586477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꺾인 연결선 18"/>
          <p:cNvCxnSpPr>
            <a:stCxn id="7" idx="3"/>
            <a:endCxn id="15" idx="1"/>
          </p:cNvCxnSpPr>
          <p:nvPr/>
        </p:nvCxnSpPr>
        <p:spPr bwMode="auto">
          <a:xfrm>
            <a:off x="3674163" y="1464484"/>
            <a:ext cx="270502" cy="74122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TextBox 23"/>
          <p:cNvSpPr txBox="1"/>
          <p:nvPr/>
        </p:nvSpPr>
        <p:spPr bwMode="auto">
          <a:xfrm>
            <a:off x="5135511" y="2084264"/>
            <a:ext cx="481253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lang="en-US" altLang="ko-KR" b="1" kern="0" dirty="0" smtClean="0">
                <a:latin typeface="+mn-lt"/>
                <a:ea typeface="+mn-ea"/>
              </a:rPr>
              <a:t>NAT</a:t>
            </a:r>
            <a:r>
              <a:rPr lang="ko-KR" altLang="en-US" b="1" kern="0" dirty="0" smtClean="0">
                <a:latin typeface="+mn-lt"/>
                <a:ea typeface="+mn-ea"/>
              </a:rPr>
              <a:t>를 경유하는 경우는 방화벽 신청을 개인 </a:t>
            </a:r>
            <a:r>
              <a:rPr lang="en-US" altLang="ko-KR" b="1" kern="0" dirty="0" smtClean="0">
                <a:latin typeface="+mn-lt"/>
                <a:ea typeface="+mn-ea"/>
              </a:rPr>
              <a:t>IP</a:t>
            </a:r>
            <a:r>
              <a:rPr lang="ko-KR" altLang="en-US" b="1" kern="0" dirty="0" smtClean="0">
                <a:latin typeface="+mn-lt"/>
                <a:ea typeface="+mn-ea"/>
              </a:rPr>
              <a:t>가 아닌 </a:t>
            </a:r>
            <a:r>
              <a:rPr lang="en-US" altLang="ko-KR" b="1" kern="0" dirty="0" smtClean="0">
                <a:latin typeface="+mn-lt"/>
                <a:ea typeface="+mn-ea"/>
              </a:rPr>
              <a:t>NAT IP</a:t>
            </a:r>
            <a:r>
              <a:rPr lang="ko-KR" altLang="en-US" b="1" kern="0" dirty="0" smtClean="0">
                <a:latin typeface="+mn-lt"/>
                <a:ea typeface="+mn-ea"/>
              </a:rPr>
              <a:t>가 </a:t>
            </a:r>
            <a:r>
              <a:rPr lang="en-US" altLang="ko-KR" b="1" kern="0" dirty="0" smtClean="0">
                <a:latin typeface="+mn-lt"/>
                <a:ea typeface="+mn-ea"/>
              </a:rPr>
              <a:t>Open</a:t>
            </a:r>
            <a:r>
              <a:rPr lang="ko-KR" altLang="en-US" b="1" kern="0" dirty="0" err="1" smtClean="0">
                <a:latin typeface="+mn-lt"/>
                <a:ea typeface="+mn-ea"/>
              </a:rPr>
              <a:t>되어야함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cxnSp>
        <p:nvCxnSpPr>
          <p:cNvPr id="28" name="직선 연결선 27"/>
          <p:cNvCxnSpPr>
            <a:stCxn id="15" idx="3"/>
            <a:endCxn id="24" idx="1"/>
          </p:cNvCxnSpPr>
          <p:nvPr/>
        </p:nvCxnSpPr>
        <p:spPr bwMode="auto">
          <a:xfrm>
            <a:off x="4884346" y="2205706"/>
            <a:ext cx="251165" cy="1669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직사각형 28"/>
          <p:cNvSpPr/>
          <p:nvPr/>
        </p:nvSpPr>
        <p:spPr bwMode="auto">
          <a:xfrm>
            <a:off x="5252234" y="712625"/>
            <a:ext cx="4104168" cy="50869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228600" indent="-228600" algn="l">
              <a:buAutoNum type="arabicPeriod"/>
            </a:pPr>
            <a:r>
              <a:rPr lang="en-US" altLang="ko-KR" dirty="0" smtClean="0">
                <a:latin typeface="+mn-ea"/>
                <a:ea typeface="+mn-ea"/>
              </a:rPr>
              <a:t>Window </a:t>
            </a:r>
            <a:r>
              <a:rPr lang="ko-KR" altLang="en-US" dirty="0" err="1" smtClean="0">
                <a:latin typeface="+mn-ea"/>
                <a:ea typeface="+mn-ea"/>
              </a:rPr>
              <a:t>커맨드창에서</a:t>
            </a:r>
            <a:r>
              <a:rPr lang="ko-KR" altLang="en-US" dirty="0" smtClean="0">
                <a:latin typeface="+mn-ea"/>
                <a:ea typeface="+mn-ea"/>
              </a:rPr>
              <a:t> 다음 정보 확인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?</a:t>
            </a:r>
          </a:p>
          <a:p>
            <a:pPr algn="l"/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   1) DNS </a:t>
            </a:r>
            <a:r>
              <a:rPr lang="ko-KR" altLang="en-US" dirty="0" smtClean="0">
                <a:latin typeface="+mn-ea"/>
                <a:ea typeface="+mn-ea"/>
              </a:rPr>
              <a:t>정보가 정확하게 등록되었는가</a:t>
            </a:r>
            <a:r>
              <a:rPr lang="en-US" altLang="ko-KR" dirty="0" smtClean="0">
                <a:latin typeface="+mn-ea"/>
                <a:ea typeface="+mn-ea"/>
              </a:rPr>
              <a:t>? </a:t>
            </a:r>
            <a:r>
              <a:rPr lang="en-US" altLang="ko-KR" dirty="0" err="1" smtClean="0">
                <a:latin typeface="+mn-ea"/>
                <a:ea typeface="+mn-ea"/>
              </a:rPr>
              <a:t>nslookup</a:t>
            </a:r>
            <a:r>
              <a:rPr lang="en-US" altLang="ko-KR" dirty="0" smtClean="0">
                <a:latin typeface="+mn-ea"/>
                <a:ea typeface="+mn-ea"/>
              </a:rPr>
              <a:t> </a:t>
            </a:r>
          </a:p>
          <a:p>
            <a:pPr algn="l"/>
            <a:r>
              <a:rPr lang="en-US" altLang="ko-KR" dirty="0" smtClean="0">
                <a:latin typeface="+mn-ea"/>
                <a:ea typeface="+mn-ea"/>
              </a:rPr>
              <a:t>      2) telnet swing.sktelecom.com  443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5252234" y="1271932"/>
            <a:ext cx="4104168" cy="6188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l"/>
            <a:r>
              <a:rPr lang="en-US" altLang="ko-KR" dirty="0" smtClean="0">
                <a:latin typeface="+mn-ea"/>
                <a:ea typeface="+mn-ea"/>
              </a:rPr>
              <a:t>2.  N/W </a:t>
            </a:r>
            <a:r>
              <a:rPr lang="ko-KR" altLang="en-US" dirty="0" smtClean="0">
                <a:latin typeface="+mn-ea"/>
                <a:ea typeface="+mn-ea"/>
              </a:rPr>
              <a:t>정보 확인</a:t>
            </a:r>
            <a:endParaRPr lang="en-US" altLang="ko-KR" dirty="0" smtClean="0">
              <a:latin typeface="+mn-ea"/>
              <a:ea typeface="+mn-ea"/>
            </a:endParaRPr>
          </a:p>
          <a:p>
            <a:pPr algn="l"/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   1) VPN</a:t>
            </a:r>
            <a:r>
              <a:rPr lang="ko-KR" altLang="en-US" dirty="0" smtClean="0">
                <a:latin typeface="+mn-ea"/>
                <a:ea typeface="+mn-ea"/>
              </a:rPr>
              <a:t>에 </a:t>
            </a:r>
            <a:r>
              <a:rPr lang="en-US" altLang="ko-KR" dirty="0" smtClean="0">
                <a:latin typeface="+mn-ea"/>
                <a:ea typeface="+mn-ea"/>
              </a:rPr>
              <a:t>Swing </a:t>
            </a:r>
            <a:r>
              <a:rPr lang="ko-KR" altLang="en-US" dirty="0" smtClean="0">
                <a:latin typeface="+mn-ea"/>
                <a:ea typeface="+mn-ea"/>
              </a:rPr>
              <a:t>서버 접속 정책 </a:t>
            </a:r>
            <a:r>
              <a:rPr lang="en-US" altLang="ko-KR" dirty="0" smtClean="0">
                <a:latin typeface="+mn-ea"/>
                <a:ea typeface="+mn-ea"/>
              </a:rPr>
              <a:t>Open </a:t>
            </a:r>
            <a:r>
              <a:rPr lang="ko-KR" altLang="en-US" dirty="0" smtClean="0">
                <a:latin typeface="+mn-ea"/>
                <a:ea typeface="+mn-ea"/>
              </a:rPr>
              <a:t>되어 있는가</a:t>
            </a:r>
            <a:r>
              <a:rPr lang="en-US" altLang="ko-KR" dirty="0" smtClean="0">
                <a:latin typeface="+mn-ea"/>
                <a:ea typeface="+mn-ea"/>
              </a:rPr>
              <a:t>? </a:t>
            </a:r>
            <a:r>
              <a:rPr lang="ko-KR" altLang="en-US" dirty="0" smtClean="0">
                <a:latin typeface="+mn-ea"/>
                <a:ea typeface="+mn-ea"/>
              </a:rPr>
              <a:t>확인</a:t>
            </a:r>
            <a:endParaRPr lang="en-US" altLang="ko-KR" dirty="0" smtClean="0">
              <a:latin typeface="+mn-ea"/>
              <a:ea typeface="+mn-ea"/>
            </a:endParaRPr>
          </a:p>
          <a:p>
            <a:pPr algn="l"/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   2) </a:t>
            </a:r>
            <a:r>
              <a:rPr lang="ko-KR" altLang="en-US" dirty="0" smtClean="0">
                <a:latin typeface="+mn-ea"/>
                <a:ea typeface="+mn-ea"/>
              </a:rPr>
              <a:t>사용자</a:t>
            </a:r>
            <a:r>
              <a:rPr lang="en-US" altLang="ko-KR" dirty="0" smtClean="0">
                <a:latin typeface="+mn-ea"/>
                <a:ea typeface="+mn-ea"/>
              </a:rPr>
              <a:t> IP</a:t>
            </a:r>
            <a:r>
              <a:rPr lang="ko-KR" altLang="en-US" dirty="0" smtClean="0">
                <a:latin typeface="+mn-ea"/>
                <a:ea typeface="+mn-ea"/>
              </a:rPr>
              <a:t>의 방화벽 </a:t>
            </a:r>
            <a:r>
              <a:rPr lang="en-US" altLang="ko-KR" dirty="0" smtClean="0">
                <a:latin typeface="+mn-ea"/>
                <a:ea typeface="+mn-ea"/>
              </a:rPr>
              <a:t>Open </a:t>
            </a:r>
            <a:r>
              <a:rPr lang="ko-KR" altLang="en-US" dirty="0" smtClean="0">
                <a:latin typeface="+mn-ea"/>
                <a:ea typeface="+mn-ea"/>
              </a:rPr>
              <a:t>점검</a:t>
            </a:r>
            <a:endParaRPr lang="ko-KR" altLang="en-US" dirty="0">
              <a:latin typeface="+mn-ea"/>
              <a:ea typeface="+mn-ea"/>
            </a:endParaRPr>
          </a:p>
        </p:txBody>
      </p:sp>
      <p:cxnSp>
        <p:nvCxnSpPr>
          <p:cNvPr id="31" name="꺾인 연결선 30"/>
          <p:cNvCxnSpPr>
            <a:stCxn id="14" idx="3"/>
            <a:endCxn id="30" idx="1"/>
          </p:cNvCxnSpPr>
          <p:nvPr/>
        </p:nvCxnSpPr>
        <p:spPr bwMode="auto">
          <a:xfrm>
            <a:off x="4826638" y="878007"/>
            <a:ext cx="425596" cy="703336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꺾인 연결선 33"/>
          <p:cNvCxnSpPr>
            <a:stCxn id="14" idx="3"/>
            <a:endCxn id="29" idx="1"/>
          </p:cNvCxnSpPr>
          <p:nvPr/>
        </p:nvCxnSpPr>
        <p:spPr bwMode="auto">
          <a:xfrm>
            <a:off x="4826638" y="878007"/>
            <a:ext cx="425596" cy="88967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9" name="직사각형 38"/>
          <p:cNvSpPr/>
          <p:nvPr/>
        </p:nvSpPr>
        <p:spPr bwMode="auto">
          <a:xfrm>
            <a:off x="5252234" y="2377741"/>
            <a:ext cx="4104168" cy="50869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228600" indent="-228600" algn="l">
              <a:buAutoNum type="arabicPeriod"/>
            </a:pPr>
            <a:r>
              <a:rPr lang="en-US" altLang="ko-KR" dirty="0" smtClean="0">
                <a:latin typeface="+mn-ea"/>
                <a:ea typeface="+mn-ea"/>
              </a:rPr>
              <a:t>Window </a:t>
            </a:r>
            <a:r>
              <a:rPr lang="ko-KR" altLang="en-US" dirty="0" err="1" smtClean="0">
                <a:latin typeface="+mn-ea"/>
                <a:ea typeface="+mn-ea"/>
              </a:rPr>
              <a:t>커맨드창에서</a:t>
            </a:r>
            <a:r>
              <a:rPr lang="ko-KR" altLang="en-US" dirty="0" smtClean="0">
                <a:latin typeface="+mn-ea"/>
                <a:ea typeface="+mn-ea"/>
              </a:rPr>
              <a:t> 다음 정보 확인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?</a:t>
            </a:r>
          </a:p>
          <a:p>
            <a:pPr algn="l"/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   1) DNS </a:t>
            </a:r>
            <a:r>
              <a:rPr lang="ko-KR" altLang="en-US" dirty="0" smtClean="0">
                <a:latin typeface="+mn-ea"/>
                <a:ea typeface="+mn-ea"/>
              </a:rPr>
              <a:t>정보가 정확하게 등록되었는가</a:t>
            </a:r>
            <a:r>
              <a:rPr lang="en-US" altLang="ko-KR" dirty="0" smtClean="0">
                <a:latin typeface="+mn-ea"/>
                <a:ea typeface="+mn-ea"/>
              </a:rPr>
              <a:t>? </a:t>
            </a:r>
            <a:r>
              <a:rPr lang="en-US" altLang="ko-KR" dirty="0" err="1" smtClean="0">
                <a:latin typeface="+mn-ea"/>
                <a:ea typeface="+mn-ea"/>
              </a:rPr>
              <a:t>nslookup</a:t>
            </a:r>
            <a:r>
              <a:rPr lang="en-US" altLang="ko-KR" dirty="0" smtClean="0">
                <a:latin typeface="+mn-ea"/>
                <a:ea typeface="+mn-ea"/>
              </a:rPr>
              <a:t> </a:t>
            </a:r>
          </a:p>
          <a:p>
            <a:pPr algn="l"/>
            <a:r>
              <a:rPr lang="en-US" altLang="ko-KR" dirty="0" smtClean="0">
                <a:latin typeface="+mn-ea"/>
                <a:ea typeface="+mn-ea"/>
              </a:rPr>
              <a:t>      2) telnet swing.sktelecom.com  443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0" name="직사각형 39"/>
          <p:cNvSpPr/>
          <p:nvPr/>
        </p:nvSpPr>
        <p:spPr bwMode="auto">
          <a:xfrm>
            <a:off x="5252234" y="2937048"/>
            <a:ext cx="4104168" cy="6188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l"/>
            <a:r>
              <a:rPr lang="en-US" altLang="ko-KR" dirty="0" smtClean="0">
                <a:latin typeface="+mn-ea"/>
                <a:ea typeface="+mn-ea"/>
              </a:rPr>
              <a:t>2.  N/W </a:t>
            </a:r>
            <a:r>
              <a:rPr lang="ko-KR" altLang="en-US" dirty="0" smtClean="0">
                <a:latin typeface="+mn-ea"/>
                <a:ea typeface="+mn-ea"/>
              </a:rPr>
              <a:t>정보 확인</a:t>
            </a:r>
            <a:endParaRPr lang="en-US" altLang="ko-KR" dirty="0" smtClean="0">
              <a:latin typeface="+mn-ea"/>
              <a:ea typeface="+mn-ea"/>
            </a:endParaRPr>
          </a:p>
          <a:p>
            <a:pPr algn="l"/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   1) IP</a:t>
            </a:r>
            <a:r>
              <a:rPr lang="ko-KR" altLang="en-US" dirty="0" smtClean="0">
                <a:latin typeface="+mn-ea"/>
                <a:ea typeface="+mn-ea"/>
              </a:rPr>
              <a:t>의 방화벽 </a:t>
            </a:r>
            <a:r>
              <a:rPr lang="en-US" altLang="ko-KR" dirty="0" smtClean="0">
                <a:latin typeface="+mn-ea"/>
                <a:ea typeface="+mn-ea"/>
              </a:rPr>
              <a:t>Open </a:t>
            </a:r>
            <a:r>
              <a:rPr lang="ko-KR" altLang="en-US" dirty="0" smtClean="0">
                <a:latin typeface="+mn-ea"/>
                <a:ea typeface="+mn-ea"/>
              </a:rPr>
              <a:t>점검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1" name="TextBox 40"/>
          <p:cNvSpPr txBox="1"/>
          <p:nvPr/>
        </p:nvSpPr>
        <p:spPr bwMode="auto">
          <a:xfrm>
            <a:off x="3944665" y="3668204"/>
            <a:ext cx="99899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lang="ko-KR" altLang="en-US" b="1" kern="0" noProof="0" dirty="0" err="1" smtClean="0">
                <a:latin typeface="+mn-lt"/>
                <a:ea typeface="+mn-ea"/>
              </a:rPr>
              <a:t>미라지웍스</a:t>
            </a:r>
            <a:r>
              <a:rPr lang="ko-KR" altLang="en-US" b="1" kern="0" noProof="0" dirty="0" smtClean="0">
                <a:latin typeface="+mn-lt"/>
                <a:ea typeface="+mn-ea"/>
              </a:rPr>
              <a:t> 안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42" name="TextBox 41"/>
          <p:cNvSpPr txBox="1"/>
          <p:nvPr/>
        </p:nvSpPr>
        <p:spPr bwMode="auto">
          <a:xfrm>
            <a:off x="3944665" y="5176664"/>
            <a:ext cx="99899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lang="ko-KR" altLang="en-US" b="1" kern="0" noProof="0" dirty="0" err="1" smtClean="0">
                <a:latin typeface="+mn-lt"/>
                <a:ea typeface="+mn-ea"/>
              </a:rPr>
              <a:t>미라지웍스</a:t>
            </a:r>
            <a:r>
              <a:rPr lang="ko-KR" altLang="en-US" b="1" kern="0" noProof="0" dirty="0" smtClean="0">
                <a:latin typeface="+mn-lt"/>
                <a:ea typeface="+mn-ea"/>
              </a:rPr>
              <a:t> 밖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57" name="TextBox 56"/>
          <p:cNvSpPr txBox="1"/>
          <p:nvPr/>
        </p:nvSpPr>
        <p:spPr bwMode="auto">
          <a:xfrm>
            <a:off x="5135511" y="3668202"/>
            <a:ext cx="376737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lang="ko-KR" altLang="en-US" b="1" kern="0" dirty="0" err="1" smtClean="0">
                <a:latin typeface="+mn-lt"/>
                <a:ea typeface="+mn-ea"/>
              </a:rPr>
              <a:t>미라지웍스</a:t>
            </a:r>
            <a:r>
              <a:rPr lang="ko-KR" altLang="en-US" b="1" kern="0" dirty="0" smtClean="0">
                <a:latin typeface="+mn-lt"/>
                <a:ea typeface="+mn-ea"/>
              </a:rPr>
              <a:t> 로그인 전에 </a:t>
            </a:r>
            <a:r>
              <a:rPr lang="en-US" altLang="ko-KR" b="1" kern="0" dirty="0" smtClean="0">
                <a:latin typeface="+mn-lt"/>
                <a:ea typeface="+mn-ea"/>
              </a:rPr>
              <a:t>[Swing Process Stop] </a:t>
            </a:r>
            <a:r>
              <a:rPr lang="ko-KR" altLang="en-US" b="1" kern="0" dirty="0" smtClean="0">
                <a:latin typeface="+mn-lt"/>
                <a:ea typeface="+mn-ea"/>
              </a:rPr>
              <a:t>실행하였는가</a:t>
            </a:r>
            <a:r>
              <a:rPr lang="en-US" altLang="ko-KR" b="1" kern="0" dirty="0" smtClean="0">
                <a:latin typeface="+mn-lt"/>
                <a:ea typeface="+mn-ea"/>
              </a:rPr>
              <a:t>?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58" name="TextBox 57"/>
          <p:cNvSpPr txBox="1"/>
          <p:nvPr/>
        </p:nvSpPr>
        <p:spPr bwMode="auto">
          <a:xfrm>
            <a:off x="5135511" y="5178333"/>
            <a:ext cx="390363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lang="ko-KR" altLang="en-US" b="1" kern="0" dirty="0" err="1" smtClean="0">
                <a:latin typeface="+mn-lt"/>
                <a:ea typeface="+mn-ea"/>
              </a:rPr>
              <a:t>미라지웍스</a:t>
            </a:r>
            <a:r>
              <a:rPr lang="ko-KR" altLang="en-US" b="1" kern="0" dirty="0" smtClean="0">
                <a:latin typeface="+mn-lt"/>
                <a:ea typeface="+mn-ea"/>
              </a:rPr>
              <a:t> 로그아웃 후에 </a:t>
            </a:r>
            <a:r>
              <a:rPr lang="en-US" altLang="ko-KR" b="1" kern="0" dirty="0" smtClean="0">
                <a:latin typeface="+mn-lt"/>
                <a:ea typeface="+mn-ea"/>
              </a:rPr>
              <a:t>[Swing Process Start] </a:t>
            </a:r>
            <a:r>
              <a:rPr lang="ko-KR" altLang="en-US" b="1" kern="0" dirty="0" smtClean="0">
                <a:latin typeface="+mn-lt"/>
                <a:ea typeface="+mn-ea"/>
              </a:rPr>
              <a:t>실행하였는가</a:t>
            </a:r>
            <a:r>
              <a:rPr lang="en-US" altLang="ko-KR" b="1" kern="0" dirty="0" smtClean="0">
                <a:latin typeface="+mn-lt"/>
                <a:ea typeface="+mn-ea"/>
              </a:rPr>
              <a:t>?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cxnSp>
        <p:nvCxnSpPr>
          <p:cNvPr id="59" name="직선 연결선 58"/>
          <p:cNvCxnSpPr>
            <a:stCxn id="41" idx="3"/>
            <a:endCxn id="57" idx="1"/>
          </p:cNvCxnSpPr>
          <p:nvPr/>
        </p:nvCxnSpPr>
        <p:spPr bwMode="auto">
          <a:xfrm flipV="1">
            <a:off x="4943656" y="3791313"/>
            <a:ext cx="191855" cy="2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0" name="직선 연결선 59"/>
          <p:cNvCxnSpPr>
            <a:stCxn id="42" idx="3"/>
            <a:endCxn id="58" idx="1"/>
          </p:cNvCxnSpPr>
          <p:nvPr/>
        </p:nvCxnSpPr>
        <p:spPr bwMode="auto">
          <a:xfrm>
            <a:off x="4943656" y="5299775"/>
            <a:ext cx="191855" cy="1669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1" name="직사각형 60"/>
          <p:cNvSpPr/>
          <p:nvPr/>
        </p:nvSpPr>
        <p:spPr bwMode="auto">
          <a:xfrm>
            <a:off x="5252234" y="3976822"/>
            <a:ext cx="4104168" cy="50869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228600" indent="-228600" algn="l">
              <a:buAutoNum type="arabicPeriod"/>
            </a:pPr>
            <a:r>
              <a:rPr lang="en-US" altLang="ko-KR" dirty="0" smtClean="0">
                <a:latin typeface="+mn-ea"/>
                <a:ea typeface="+mn-ea"/>
              </a:rPr>
              <a:t>Window </a:t>
            </a:r>
            <a:r>
              <a:rPr lang="ko-KR" altLang="en-US" dirty="0" err="1" smtClean="0">
                <a:latin typeface="+mn-ea"/>
                <a:ea typeface="+mn-ea"/>
              </a:rPr>
              <a:t>커맨드창에서</a:t>
            </a:r>
            <a:r>
              <a:rPr lang="ko-KR" altLang="en-US" dirty="0" smtClean="0">
                <a:latin typeface="+mn-ea"/>
                <a:ea typeface="+mn-ea"/>
              </a:rPr>
              <a:t> 다음 정보 확인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?</a:t>
            </a:r>
          </a:p>
          <a:p>
            <a:pPr algn="l"/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   1) DNS </a:t>
            </a:r>
            <a:r>
              <a:rPr lang="ko-KR" altLang="en-US" dirty="0" smtClean="0">
                <a:latin typeface="+mn-ea"/>
                <a:ea typeface="+mn-ea"/>
              </a:rPr>
              <a:t>정보가 정확하게 등록되었는가</a:t>
            </a:r>
            <a:r>
              <a:rPr lang="en-US" altLang="ko-KR" dirty="0" smtClean="0">
                <a:latin typeface="+mn-ea"/>
                <a:ea typeface="+mn-ea"/>
              </a:rPr>
              <a:t>? </a:t>
            </a:r>
            <a:r>
              <a:rPr lang="en-US" altLang="ko-KR" dirty="0" err="1" smtClean="0">
                <a:latin typeface="+mn-ea"/>
                <a:ea typeface="+mn-ea"/>
              </a:rPr>
              <a:t>nslookup</a:t>
            </a:r>
            <a:r>
              <a:rPr lang="en-US" altLang="ko-KR" dirty="0" smtClean="0">
                <a:latin typeface="+mn-ea"/>
                <a:ea typeface="+mn-ea"/>
              </a:rPr>
              <a:t> </a:t>
            </a:r>
          </a:p>
          <a:p>
            <a:pPr algn="l"/>
            <a:r>
              <a:rPr lang="en-US" altLang="ko-KR" dirty="0" smtClean="0">
                <a:latin typeface="+mn-ea"/>
                <a:ea typeface="+mn-ea"/>
              </a:rPr>
              <a:t>      2) telnet swing.sktelecom.com  443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63" name="직사각형 62"/>
          <p:cNvSpPr/>
          <p:nvPr/>
        </p:nvSpPr>
        <p:spPr bwMode="auto">
          <a:xfrm>
            <a:off x="5252234" y="4536129"/>
            <a:ext cx="4104168" cy="6188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l"/>
            <a:r>
              <a:rPr lang="en-US" altLang="ko-KR" dirty="0" smtClean="0">
                <a:latin typeface="+mn-ea"/>
                <a:ea typeface="+mn-ea"/>
              </a:rPr>
              <a:t>2.  N/W </a:t>
            </a:r>
            <a:r>
              <a:rPr lang="ko-KR" altLang="en-US" dirty="0" smtClean="0">
                <a:latin typeface="+mn-ea"/>
                <a:ea typeface="+mn-ea"/>
              </a:rPr>
              <a:t>정보 확인</a:t>
            </a:r>
            <a:endParaRPr lang="en-US" altLang="ko-KR" dirty="0" smtClean="0">
              <a:latin typeface="+mn-ea"/>
              <a:ea typeface="+mn-ea"/>
            </a:endParaRPr>
          </a:p>
          <a:p>
            <a:pPr algn="l"/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   1) IP</a:t>
            </a:r>
            <a:r>
              <a:rPr lang="ko-KR" altLang="en-US" dirty="0" smtClean="0">
                <a:latin typeface="+mn-ea"/>
                <a:ea typeface="+mn-ea"/>
              </a:rPr>
              <a:t>의 방화벽 </a:t>
            </a:r>
            <a:r>
              <a:rPr lang="en-US" altLang="ko-KR" dirty="0" smtClean="0">
                <a:latin typeface="+mn-ea"/>
                <a:ea typeface="+mn-ea"/>
              </a:rPr>
              <a:t>Open </a:t>
            </a:r>
            <a:r>
              <a:rPr lang="ko-KR" altLang="en-US" dirty="0" smtClean="0">
                <a:latin typeface="+mn-ea"/>
                <a:ea typeface="+mn-ea"/>
              </a:rPr>
              <a:t>점검 </a:t>
            </a:r>
            <a:endParaRPr lang="en-US" altLang="ko-KR" dirty="0" smtClean="0">
              <a:latin typeface="+mn-ea"/>
              <a:ea typeface="+mn-ea"/>
            </a:endParaRPr>
          </a:p>
          <a:p>
            <a:pPr algn="l"/>
            <a:r>
              <a:rPr lang="ko-KR" altLang="en-US" dirty="0" smtClean="0">
                <a:latin typeface="+mn-ea"/>
                <a:ea typeface="+mn-ea"/>
              </a:rPr>
              <a:t>      </a:t>
            </a:r>
            <a:r>
              <a:rPr lang="en-US" altLang="ko-KR" dirty="0" smtClean="0">
                <a:latin typeface="+mn-ea"/>
                <a:ea typeface="+mn-ea"/>
              </a:rPr>
              <a:t>2) </a:t>
            </a:r>
            <a:r>
              <a:rPr lang="ko-KR" altLang="en-US" dirty="0" err="1" smtClean="0">
                <a:latin typeface="+mn-ea"/>
                <a:ea typeface="+mn-ea"/>
              </a:rPr>
              <a:t>미라지웍스의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White list</a:t>
            </a:r>
            <a:r>
              <a:rPr lang="ko-KR" altLang="en-US" dirty="0" smtClean="0">
                <a:latin typeface="+mn-ea"/>
                <a:ea typeface="+mn-ea"/>
              </a:rPr>
              <a:t>에 </a:t>
            </a:r>
            <a:r>
              <a:rPr lang="en-US" altLang="ko-KR" dirty="0" smtClean="0">
                <a:latin typeface="+mn-ea"/>
                <a:ea typeface="+mn-ea"/>
              </a:rPr>
              <a:t>Swing </a:t>
            </a:r>
            <a:r>
              <a:rPr lang="ko-KR" altLang="en-US" dirty="0" smtClean="0">
                <a:latin typeface="+mn-ea"/>
                <a:ea typeface="+mn-ea"/>
              </a:rPr>
              <a:t>접속 서버 </a:t>
            </a:r>
            <a:r>
              <a:rPr lang="en-US" altLang="ko-KR" dirty="0" smtClean="0">
                <a:latin typeface="+mn-ea"/>
                <a:ea typeface="+mn-ea"/>
              </a:rPr>
              <a:t>Open </a:t>
            </a:r>
            <a:r>
              <a:rPr lang="ko-KR" altLang="en-US" dirty="0" smtClean="0">
                <a:latin typeface="+mn-ea"/>
                <a:ea typeface="+mn-ea"/>
              </a:rPr>
              <a:t>되었는가</a:t>
            </a:r>
            <a:r>
              <a:rPr lang="en-US" altLang="ko-KR" dirty="0" smtClean="0">
                <a:latin typeface="+mn-ea"/>
                <a:ea typeface="+mn-ea"/>
              </a:rPr>
              <a:t>?</a:t>
            </a:r>
            <a:endParaRPr lang="ko-KR" altLang="en-US" dirty="0">
              <a:latin typeface="+mn-ea"/>
              <a:ea typeface="+mn-ea"/>
            </a:endParaRPr>
          </a:p>
        </p:txBody>
      </p:sp>
      <p:cxnSp>
        <p:nvCxnSpPr>
          <p:cNvPr id="64" name="꺾인 연결선 63"/>
          <p:cNvCxnSpPr>
            <a:stCxn id="41" idx="3"/>
            <a:endCxn id="63" idx="1"/>
          </p:cNvCxnSpPr>
          <p:nvPr/>
        </p:nvCxnSpPr>
        <p:spPr bwMode="auto">
          <a:xfrm>
            <a:off x="4943656" y="3791315"/>
            <a:ext cx="308578" cy="1054225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6" name="꺾인 연결선 65"/>
          <p:cNvCxnSpPr>
            <a:stCxn id="41" idx="3"/>
            <a:endCxn id="61" idx="1"/>
          </p:cNvCxnSpPr>
          <p:nvPr/>
        </p:nvCxnSpPr>
        <p:spPr bwMode="auto">
          <a:xfrm>
            <a:off x="4943656" y="3791315"/>
            <a:ext cx="308578" cy="439856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7" name="직사각형 66"/>
          <p:cNvSpPr/>
          <p:nvPr/>
        </p:nvSpPr>
        <p:spPr bwMode="auto">
          <a:xfrm>
            <a:off x="5252234" y="5471810"/>
            <a:ext cx="4104168" cy="50869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228600" indent="-228600" algn="l">
              <a:buAutoNum type="arabicPeriod"/>
            </a:pPr>
            <a:r>
              <a:rPr lang="en-US" altLang="ko-KR" dirty="0" smtClean="0">
                <a:latin typeface="+mn-ea"/>
                <a:ea typeface="+mn-ea"/>
              </a:rPr>
              <a:t>Window </a:t>
            </a:r>
            <a:r>
              <a:rPr lang="ko-KR" altLang="en-US" dirty="0" err="1" smtClean="0">
                <a:latin typeface="+mn-ea"/>
                <a:ea typeface="+mn-ea"/>
              </a:rPr>
              <a:t>커맨드창에서</a:t>
            </a:r>
            <a:r>
              <a:rPr lang="ko-KR" altLang="en-US" dirty="0" smtClean="0">
                <a:latin typeface="+mn-ea"/>
                <a:ea typeface="+mn-ea"/>
              </a:rPr>
              <a:t> 다음 정보 확인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?</a:t>
            </a:r>
          </a:p>
          <a:p>
            <a:pPr algn="l"/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   1) DNS </a:t>
            </a:r>
            <a:r>
              <a:rPr lang="ko-KR" altLang="en-US" dirty="0" smtClean="0">
                <a:latin typeface="+mn-ea"/>
                <a:ea typeface="+mn-ea"/>
              </a:rPr>
              <a:t>정보가 정확하게 등록되었는가</a:t>
            </a:r>
            <a:r>
              <a:rPr lang="en-US" altLang="ko-KR" dirty="0" smtClean="0">
                <a:latin typeface="+mn-ea"/>
                <a:ea typeface="+mn-ea"/>
              </a:rPr>
              <a:t>? </a:t>
            </a:r>
            <a:r>
              <a:rPr lang="en-US" altLang="ko-KR" dirty="0" err="1" smtClean="0">
                <a:latin typeface="+mn-ea"/>
                <a:ea typeface="+mn-ea"/>
              </a:rPr>
              <a:t>nslookup</a:t>
            </a:r>
            <a:r>
              <a:rPr lang="en-US" altLang="ko-KR" dirty="0" smtClean="0">
                <a:latin typeface="+mn-ea"/>
                <a:ea typeface="+mn-ea"/>
              </a:rPr>
              <a:t> </a:t>
            </a:r>
          </a:p>
          <a:p>
            <a:pPr algn="l"/>
            <a:r>
              <a:rPr lang="en-US" altLang="ko-KR" dirty="0" smtClean="0">
                <a:latin typeface="+mn-ea"/>
                <a:ea typeface="+mn-ea"/>
              </a:rPr>
              <a:t>      2) telnet swing.sktelecom.com  443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68" name="직사각형 67"/>
          <p:cNvSpPr/>
          <p:nvPr/>
        </p:nvSpPr>
        <p:spPr bwMode="auto">
          <a:xfrm>
            <a:off x="5252234" y="6031117"/>
            <a:ext cx="4104168" cy="6188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l"/>
            <a:r>
              <a:rPr lang="en-US" altLang="ko-KR" dirty="0" smtClean="0">
                <a:latin typeface="+mn-ea"/>
                <a:ea typeface="+mn-ea"/>
              </a:rPr>
              <a:t>2.  N/W </a:t>
            </a:r>
            <a:r>
              <a:rPr lang="ko-KR" altLang="en-US" dirty="0" smtClean="0">
                <a:latin typeface="+mn-ea"/>
                <a:ea typeface="+mn-ea"/>
              </a:rPr>
              <a:t>정보 확인</a:t>
            </a:r>
            <a:endParaRPr lang="en-US" altLang="ko-KR" dirty="0" smtClean="0">
              <a:latin typeface="+mn-ea"/>
              <a:ea typeface="+mn-ea"/>
            </a:endParaRPr>
          </a:p>
          <a:p>
            <a:pPr algn="l"/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   1) IP</a:t>
            </a:r>
            <a:r>
              <a:rPr lang="ko-KR" altLang="en-US" dirty="0" smtClean="0">
                <a:latin typeface="+mn-ea"/>
                <a:ea typeface="+mn-ea"/>
              </a:rPr>
              <a:t>의 방화벽 </a:t>
            </a:r>
            <a:r>
              <a:rPr lang="en-US" altLang="ko-KR" dirty="0" smtClean="0">
                <a:latin typeface="+mn-ea"/>
                <a:ea typeface="+mn-ea"/>
              </a:rPr>
              <a:t>Open </a:t>
            </a:r>
            <a:r>
              <a:rPr lang="ko-KR" altLang="en-US" dirty="0" smtClean="0">
                <a:latin typeface="+mn-ea"/>
                <a:ea typeface="+mn-ea"/>
              </a:rPr>
              <a:t>점검 </a:t>
            </a:r>
            <a:endParaRPr lang="en-US" altLang="ko-KR" dirty="0" smtClean="0">
              <a:latin typeface="+mn-ea"/>
              <a:ea typeface="+mn-ea"/>
            </a:endParaRPr>
          </a:p>
          <a:p>
            <a:pPr algn="l"/>
            <a:r>
              <a:rPr lang="ko-KR" altLang="en-US" dirty="0" smtClean="0">
                <a:latin typeface="+mn-ea"/>
                <a:ea typeface="+mn-ea"/>
              </a:rPr>
              <a:t>      </a:t>
            </a:r>
            <a:r>
              <a:rPr lang="en-US" altLang="ko-KR" dirty="0" smtClean="0">
                <a:latin typeface="+mn-ea"/>
                <a:ea typeface="+mn-ea"/>
              </a:rPr>
              <a:t>2) </a:t>
            </a:r>
            <a:r>
              <a:rPr lang="ko-KR" altLang="en-US" dirty="0" err="1" smtClean="0">
                <a:latin typeface="+mn-ea"/>
                <a:ea typeface="+mn-ea"/>
              </a:rPr>
              <a:t>미라지웍스의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White list</a:t>
            </a:r>
            <a:r>
              <a:rPr lang="ko-KR" altLang="en-US" dirty="0" smtClean="0">
                <a:latin typeface="+mn-ea"/>
                <a:ea typeface="+mn-ea"/>
              </a:rPr>
              <a:t>에 </a:t>
            </a:r>
            <a:r>
              <a:rPr lang="en-US" altLang="ko-KR" dirty="0" smtClean="0">
                <a:latin typeface="+mn-ea"/>
                <a:ea typeface="+mn-ea"/>
              </a:rPr>
              <a:t>Swing </a:t>
            </a:r>
            <a:r>
              <a:rPr lang="ko-KR" altLang="en-US" dirty="0" smtClean="0">
                <a:latin typeface="+mn-ea"/>
                <a:ea typeface="+mn-ea"/>
              </a:rPr>
              <a:t>접속 서버 </a:t>
            </a:r>
            <a:r>
              <a:rPr lang="en-US" altLang="ko-KR" dirty="0" smtClean="0">
                <a:latin typeface="+mn-ea"/>
                <a:ea typeface="+mn-ea"/>
              </a:rPr>
              <a:t>Open </a:t>
            </a:r>
            <a:r>
              <a:rPr lang="ko-KR" altLang="en-US" dirty="0" smtClean="0">
                <a:latin typeface="+mn-ea"/>
                <a:ea typeface="+mn-ea"/>
              </a:rPr>
              <a:t>되었는가</a:t>
            </a:r>
            <a:r>
              <a:rPr lang="en-US" altLang="ko-KR" dirty="0" smtClean="0">
                <a:latin typeface="+mn-ea"/>
                <a:ea typeface="+mn-ea"/>
              </a:rPr>
              <a:t>?</a:t>
            </a:r>
            <a:endParaRPr lang="ko-KR" altLang="en-US" dirty="0">
              <a:latin typeface="+mn-ea"/>
              <a:ea typeface="+mn-ea"/>
            </a:endParaRPr>
          </a:p>
        </p:txBody>
      </p:sp>
      <p:cxnSp>
        <p:nvCxnSpPr>
          <p:cNvPr id="69" name="꺾인 연결선 68"/>
          <p:cNvCxnSpPr>
            <a:stCxn id="7" idx="3"/>
            <a:endCxn id="41" idx="1"/>
          </p:cNvCxnSpPr>
          <p:nvPr/>
        </p:nvCxnSpPr>
        <p:spPr bwMode="auto">
          <a:xfrm>
            <a:off x="3674163" y="1464484"/>
            <a:ext cx="270502" cy="2326831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0" name="꺾인 연결선 69"/>
          <p:cNvCxnSpPr>
            <a:stCxn id="7" idx="3"/>
            <a:endCxn id="42" idx="1"/>
          </p:cNvCxnSpPr>
          <p:nvPr/>
        </p:nvCxnSpPr>
        <p:spPr bwMode="auto">
          <a:xfrm>
            <a:off x="3674163" y="1464484"/>
            <a:ext cx="270502" cy="3835291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1" name="꺾인 연결선 70"/>
          <p:cNvCxnSpPr>
            <a:stCxn id="15" idx="3"/>
            <a:endCxn id="40" idx="1"/>
          </p:cNvCxnSpPr>
          <p:nvPr/>
        </p:nvCxnSpPr>
        <p:spPr bwMode="auto">
          <a:xfrm>
            <a:off x="4884346" y="2205706"/>
            <a:ext cx="367888" cy="1040753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2" name="꺾인 연결선 71"/>
          <p:cNvCxnSpPr>
            <a:stCxn id="15" idx="3"/>
            <a:endCxn id="39" idx="1"/>
          </p:cNvCxnSpPr>
          <p:nvPr/>
        </p:nvCxnSpPr>
        <p:spPr bwMode="auto">
          <a:xfrm>
            <a:off x="4884346" y="2205706"/>
            <a:ext cx="367888" cy="426384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73" name="그룹 72"/>
          <p:cNvGrpSpPr/>
          <p:nvPr/>
        </p:nvGrpSpPr>
        <p:grpSpPr>
          <a:xfrm>
            <a:off x="501551" y="5564262"/>
            <a:ext cx="1773816" cy="762110"/>
            <a:chOff x="501551" y="5564262"/>
            <a:chExt cx="1773816" cy="762110"/>
          </a:xfrm>
        </p:grpSpPr>
        <p:sp>
          <p:nvSpPr>
            <p:cNvPr id="74" name="직사각형 73"/>
            <p:cNvSpPr/>
            <p:nvPr/>
          </p:nvSpPr>
          <p:spPr bwMode="auto">
            <a:xfrm>
              <a:off x="501551" y="5564262"/>
              <a:ext cx="1773816" cy="76211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/>
            <p:cNvSpPr/>
            <p:nvPr/>
          </p:nvSpPr>
          <p:spPr bwMode="auto">
            <a:xfrm>
              <a:off x="765544" y="5975498"/>
              <a:ext cx="340242" cy="17012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TextBox 75"/>
            <p:cNvSpPr txBox="1"/>
            <p:nvPr/>
          </p:nvSpPr>
          <p:spPr bwMode="auto">
            <a:xfrm>
              <a:off x="1173549" y="5932969"/>
              <a:ext cx="902811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179388" marR="0" indent="-179388" algn="l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itchFamily="2" charset="2"/>
                <a:buNone/>
                <a:tabLst/>
              </a:pPr>
              <a:r>
                <a:rPr lang="en-US" altLang="ko-KR" b="1" kern="0" dirty="0" smtClean="0">
                  <a:latin typeface="+mn-lt"/>
                  <a:ea typeface="+mn-ea"/>
                </a:rPr>
                <a:t>N/W </a:t>
              </a:r>
              <a:r>
                <a:rPr lang="ko-KR" altLang="en-US" b="1" kern="0" dirty="0" smtClean="0">
                  <a:latin typeface="+mn-lt"/>
                  <a:ea typeface="+mn-ea"/>
                </a:rPr>
                <a:t>담당자</a:t>
              </a:r>
              <a:endParaRPr kumimoji="1" lang="ko-KR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77" name="직사각형 76"/>
            <p:cNvSpPr/>
            <p:nvPr/>
          </p:nvSpPr>
          <p:spPr bwMode="auto">
            <a:xfrm>
              <a:off x="765544" y="5723754"/>
              <a:ext cx="340242" cy="17012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TextBox 77"/>
            <p:cNvSpPr txBox="1"/>
            <p:nvPr/>
          </p:nvSpPr>
          <p:spPr bwMode="auto">
            <a:xfrm>
              <a:off x="1173549" y="5681225"/>
              <a:ext cx="856325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179388" marR="0" indent="-179388" algn="l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itchFamily="2" charset="2"/>
                <a:buNone/>
                <a:tabLst/>
              </a:pPr>
              <a:r>
                <a:rPr lang="en-US" altLang="ko-KR" b="1" kern="0" dirty="0" smtClean="0">
                  <a:latin typeface="+mn-lt"/>
                  <a:ea typeface="+mn-ea"/>
                </a:rPr>
                <a:t>Help Desk </a:t>
              </a:r>
              <a:endParaRPr kumimoji="1" lang="ko-KR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25534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Swing </a:t>
            </a:r>
            <a:r>
              <a:rPr lang="ko-KR" altLang="en-US" dirty="0" smtClean="0"/>
              <a:t>접속 오류에 대한 점검 항목 </a:t>
            </a:r>
            <a:r>
              <a:rPr lang="en-US" altLang="ko-KR" dirty="0" smtClean="0"/>
              <a:t>( </a:t>
            </a:r>
            <a:r>
              <a:rPr lang="ko-KR" altLang="en-US" dirty="0" smtClean="0">
                <a:solidFill>
                  <a:srgbClr val="FF0000"/>
                </a:solidFill>
              </a:rPr>
              <a:t>인터넷 브라우저 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501552" y="1884448"/>
            <a:ext cx="4325630" cy="312540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4944140" y="2436442"/>
            <a:ext cx="4253023" cy="398562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17821" y="898945"/>
            <a:ext cx="851756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Wingdings"/>
              <a:buChar char="Ø"/>
            </a:pPr>
            <a:r>
              <a:rPr lang="ko-KR" altLang="en-US" sz="1400" b="1" dirty="0" smtClean="0">
                <a:latin typeface="+mn-ea"/>
                <a:ea typeface="+mn-ea"/>
              </a:rPr>
              <a:t>하위 버전의 웹 브라우저 사용 시 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  <a:ea typeface="+mn-ea"/>
              </a:rPr>
              <a:t>TLS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  <a:ea typeface="+mn-ea"/>
              </a:rPr>
              <a:t>1.0 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  <a:ea typeface="+mn-ea"/>
              </a:rPr>
              <a:t>사용만 체크된 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  <a:ea typeface="+mn-ea"/>
              </a:rPr>
              <a:t>경우 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  <a:ea typeface="+mn-ea"/>
              </a:rPr>
              <a:t>https 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  <a:ea typeface="+mn-ea"/>
              </a:rPr>
              <a:t>접속이 불가한 경우 발생 가능</a:t>
            </a:r>
            <a:endParaRPr lang="en-US" altLang="ko-KR" sz="1400" b="1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 marL="285750" indent="-285750" algn="l">
              <a:buFont typeface="Wingdings"/>
              <a:buChar char="Ø"/>
            </a:pPr>
            <a:endParaRPr lang="en-US" altLang="ko-KR" sz="1400" b="1" dirty="0" smtClean="0">
              <a:latin typeface="+mn-ea"/>
              <a:ea typeface="+mn-ea"/>
            </a:endParaRPr>
          </a:p>
          <a:p>
            <a:pPr marL="342900" indent="-342900" algn="l">
              <a:buFont typeface="Wingdings" panose="05000000000000000000" pitchFamily="2" charset="2"/>
              <a:buChar char="Ø"/>
              <a:tabLst>
                <a:tab pos="265113" algn="l"/>
              </a:tabLst>
            </a:pPr>
            <a:r>
              <a:rPr lang="ko-KR" altLang="en-US" sz="1400" b="1" dirty="0" smtClean="0">
                <a:latin typeface="+mn-ea"/>
                <a:ea typeface="+mn-ea"/>
              </a:rPr>
              <a:t>처리 방법 </a:t>
            </a:r>
            <a:r>
              <a:rPr lang="en-US" altLang="ko-KR" sz="1400" b="1" dirty="0" smtClean="0">
                <a:latin typeface="+mn-ea"/>
                <a:ea typeface="+mn-ea"/>
              </a:rPr>
              <a:t>: 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TLS 1.0, 1.1, 1.2 </a:t>
            </a:r>
            <a:r>
              <a:rPr lang="ko-KR" altLang="en-US" sz="1400" b="1" dirty="0" smtClean="0">
                <a:solidFill>
                  <a:srgbClr val="0000CC"/>
                </a:solidFill>
                <a:latin typeface="+mn-ea"/>
                <a:ea typeface="+mn-ea"/>
              </a:rPr>
              <a:t>모두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 </a:t>
            </a:r>
            <a:r>
              <a:rPr lang="ko-KR" altLang="en-US" sz="1400" b="1" dirty="0" smtClean="0">
                <a:solidFill>
                  <a:srgbClr val="0000CC"/>
                </a:solidFill>
                <a:latin typeface="+mn-ea"/>
                <a:ea typeface="+mn-ea"/>
              </a:rPr>
              <a:t>사용으로 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Check</a:t>
            </a:r>
            <a:r>
              <a:rPr lang="ko-KR" altLang="en-US" sz="1400" b="1" dirty="0" smtClean="0">
                <a:solidFill>
                  <a:srgbClr val="0000CC"/>
                </a:solidFill>
                <a:latin typeface="+mn-ea"/>
                <a:ea typeface="+mn-ea"/>
              </a:rPr>
              <a:t>한 후 </a:t>
            </a:r>
            <a:r>
              <a:rPr lang="en-US" altLang="ko-KR" sz="1400" b="1" dirty="0" smtClean="0">
                <a:latin typeface="+mn-ea"/>
                <a:ea typeface="+mn-ea"/>
              </a:rPr>
              <a:t>https </a:t>
            </a:r>
            <a:r>
              <a:rPr lang="ko-KR" altLang="en-US" sz="1400" b="1" dirty="0" smtClean="0">
                <a:latin typeface="+mn-ea"/>
                <a:ea typeface="+mn-ea"/>
              </a:rPr>
              <a:t>접속 테스트 수행</a:t>
            </a:r>
            <a:endParaRPr lang="en-US" altLang="ko-KR" sz="1400" b="1" dirty="0" smtClean="0"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/>
        </p:nvSpPr>
        <p:spPr bwMode="auto">
          <a:xfrm>
            <a:off x="3572540" y="3312655"/>
            <a:ext cx="1041990" cy="179511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 bwMode="auto">
          <a:xfrm>
            <a:off x="5465133" y="3897446"/>
            <a:ext cx="967562" cy="461903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 bwMode="auto">
          <a:xfrm>
            <a:off x="817821" y="3232147"/>
            <a:ext cx="2583712" cy="43000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ko-KR" altLang="en-US" sz="1400" b="1" dirty="0" smtClean="0">
                <a:solidFill>
                  <a:srgbClr val="0000CC"/>
                </a:solidFill>
                <a:latin typeface="+mn-ea"/>
                <a:ea typeface="+mn-ea"/>
              </a:rPr>
              <a:t>웹 브라우저 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&gt; </a:t>
            </a:r>
            <a:r>
              <a:rPr lang="ko-KR" altLang="en-US" sz="1400" b="1" dirty="0" smtClean="0">
                <a:solidFill>
                  <a:srgbClr val="0000CC"/>
                </a:solidFill>
                <a:latin typeface="+mn-ea"/>
                <a:ea typeface="+mn-ea"/>
              </a:rPr>
              <a:t>인터넷 옵션</a:t>
            </a:r>
            <a:endParaRPr lang="en-US" altLang="ko-KR" sz="1400" b="1" dirty="0" smtClean="0">
              <a:solidFill>
                <a:srgbClr val="0000CC"/>
              </a:solidFill>
              <a:latin typeface="+mn-ea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6549658" y="3809420"/>
            <a:ext cx="1509823" cy="63795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TLS 1.0 </a:t>
            </a:r>
            <a:r>
              <a:rPr lang="ko-KR" altLang="en-US" sz="1400" b="1" dirty="0" smtClean="0">
                <a:solidFill>
                  <a:srgbClr val="0000CC"/>
                </a:solidFill>
                <a:latin typeface="+mn-ea"/>
                <a:ea typeface="+mn-ea"/>
              </a:rPr>
              <a:t>사용</a:t>
            </a:r>
            <a:endParaRPr lang="en-US" altLang="ko-KR" sz="1400" b="1" dirty="0" smtClean="0">
              <a:solidFill>
                <a:srgbClr val="0000CC"/>
              </a:solidFill>
              <a:latin typeface="+mn-ea"/>
              <a:ea typeface="+mn-ea"/>
            </a:endParaRPr>
          </a:p>
          <a:p>
            <a:pPr algn="ctr"/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TLS 1.1 </a:t>
            </a:r>
            <a:r>
              <a:rPr lang="ko-KR" altLang="en-US" sz="1400" b="1" dirty="0" smtClean="0">
                <a:solidFill>
                  <a:srgbClr val="0000CC"/>
                </a:solidFill>
                <a:latin typeface="+mn-ea"/>
                <a:ea typeface="+mn-ea"/>
              </a:rPr>
              <a:t>사용</a:t>
            </a:r>
            <a:endParaRPr lang="en-US" altLang="ko-KR" sz="1400" b="1" dirty="0" smtClean="0">
              <a:solidFill>
                <a:srgbClr val="0000CC"/>
              </a:solidFill>
              <a:latin typeface="+mn-ea"/>
              <a:ea typeface="+mn-ea"/>
            </a:endParaRPr>
          </a:p>
          <a:p>
            <a:pPr algn="ctr"/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TLS 1.2 </a:t>
            </a:r>
            <a:r>
              <a:rPr lang="ko-KR" altLang="en-US" sz="1400" b="1" dirty="0" smtClean="0">
                <a:solidFill>
                  <a:srgbClr val="0000CC"/>
                </a:solidFill>
                <a:latin typeface="+mn-ea"/>
                <a:ea typeface="+mn-ea"/>
              </a:rPr>
              <a:t>사용</a:t>
            </a:r>
            <a:endParaRPr lang="en-US" altLang="ko-KR" sz="1400" b="1" dirty="0" smtClean="0">
              <a:solidFill>
                <a:srgbClr val="0000CC"/>
              </a:solidFill>
              <a:latin typeface="+mn-ea"/>
              <a:ea typeface="+mn-ea"/>
            </a:endParaRPr>
          </a:p>
        </p:txBody>
      </p:sp>
      <p:sp>
        <p:nvSpPr>
          <p:cNvPr id="12" name="아래로 구부러진 화살표 11"/>
          <p:cNvSpPr/>
          <p:nvPr/>
        </p:nvSpPr>
        <p:spPr bwMode="auto">
          <a:xfrm rot="1453363">
            <a:off x="4522357" y="2898838"/>
            <a:ext cx="1775638" cy="663559"/>
          </a:xfrm>
          <a:prstGeom prst="curvedDownArrow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 bwMode="auto">
          <a:xfrm>
            <a:off x="4024540" y="2914081"/>
            <a:ext cx="415498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kumimoji="1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6123526" y="3502790"/>
            <a:ext cx="415498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kumimoji="1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xmlns="" val="13103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1551" y="229395"/>
            <a:ext cx="9003956" cy="338134"/>
          </a:xfrm>
        </p:spPr>
        <p:txBody>
          <a:bodyPr/>
          <a:lstStyle/>
          <a:p>
            <a:r>
              <a:rPr lang="en-US" altLang="ko-KR" dirty="0" smtClean="0"/>
              <a:t>3. Swing </a:t>
            </a:r>
            <a:r>
              <a:rPr lang="ko-KR" altLang="en-US" dirty="0" smtClean="0"/>
              <a:t>메인 화면의 하단의 </a:t>
            </a:r>
            <a:r>
              <a:rPr lang="en-US" altLang="ko-KR" dirty="0" smtClean="0"/>
              <a:t>Icon</a:t>
            </a:r>
            <a:r>
              <a:rPr lang="ko-KR" altLang="en-US" dirty="0" smtClean="0"/>
              <a:t>이 </a:t>
            </a:r>
            <a:r>
              <a:rPr lang="ko-KR" altLang="en-US" dirty="0" smtClean="0">
                <a:solidFill>
                  <a:srgbClr val="FF0000"/>
                </a:solidFill>
              </a:rPr>
              <a:t>빨강색</a:t>
            </a:r>
            <a:r>
              <a:rPr lang="ko-KR" altLang="en-US" dirty="0" smtClean="0"/>
              <a:t>인 경우 </a:t>
            </a:r>
            <a:r>
              <a:rPr lang="en-US" altLang="ko-KR" dirty="0" smtClean="0"/>
              <a:t>Alert </a:t>
            </a:r>
            <a:r>
              <a:rPr lang="ko-KR" altLang="en-US" dirty="0" smtClean="0"/>
              <a:t>보고 </a:t>
            </a:r>
            <a:r>
              <a:rPr lang="en-US" altLang="ko-KR" dirty="0" smtClean="0"/>
              <a:t>helpdesk </a:t>
            </a:r>
            <a:r>
              <a:rPr lang="ko-KR" altLang="en-US" dirty="0" smtClean="0"/>
              <a:t>지원 대응방안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817821" y="898945"/>
            <a:ext cx="8517565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Wingdings"/>
              <a:buChar char="Ø"/>
            </a:pPr>
            <a:r>
              <a:rPr lang="ko-KR" altLang="en-US" sz="1400" b="1" dirty="0" smtClean="0">
                <a:latin typeface="+mn-ea"/>
                <a:ea typeface="+mn-ea"/>
              </a:rPr>
              <a:t>문제 원인 </a:t>
            </a:r>
            <a:endParaRPr lang="en-US" altLang="ko-KR" sz="1400" b="1" dirty="0" smtClean="0">
              <a:latin typeface="+mn-ea"/>
              <a:ea typeface="+mn-ea"/>
            </a:endParaRPr>
          </a:p>
          <a:p>
            <a:pPr marL="285750" indent="-285750" algn="l">
              <a:buFont typeface="Wingdings"/>
              <a:buChar char="Ø"/>
            </a:pPr>
            <a:endParaRPr lang="en-US" altLang="ko-KR" sz="1400" b="1" dirty="0" smtClean="0">
              <a:latin typeface="+mn-ea"/>
              <a:ea typeface="+mn-ea"/>
            </a:endParaRPr>
          </a:p>
          <a:p>
            <a:pPr algn="l"/>
            <a:r>
              <a:rPr lang="en-US" altLang="ko-KR" sz="1400" b="1" dirty="0">
                <a:latin typeface="+mn-ea"/>
                <a:ea typeface="+mn-ea"/>
              </a:rPr>
              <a:t> </a:t>
            </a:r>
            <a:r>
              <a:rPr lang="en-US" altLang="ko-KR" sz="1400" b="1" dirty="0" smtClean="0">
                <a:latin typeface="+mn-ea"/>
                <a:ea typeface="+mn-ea"/>
              </a:rPr>
              <a:t>     -  Push </a:t>
            </a:r>
            <a:r>
              <a:rPr lang="ko-KR" altLang="en-US" sz="1400" b="1" dirty="0" smtClean="0">
                <a:latin typeface="+mn-ea"/>
                <a:ea typeface="+mn-ea"/>
              </a:rPr>
              <a:t>모듈을 </a:t>
            </a:r>
            <a:r>
              <a:rPr lang="en-US" altLang="ko-KR" sz="1400" b="1" dirty="0" smtClean="0">
                <a:latin typeface="+mn-ea"/>
                <a:ea typeface="+mn-ea"/>
              </a:rPr>
              <a:t>Registry</a:t>
            </a:r>
            <a:r>
              <a:rPr lang="ko-KR" altLang="en-US" sz="1400" b="1" dirty="0" smtClean="0">
                <a:latin typeface="+mn-ea"/>
                <a:ea typeface="+mn-ea"/>
              </a:rPr>
              <a:t>에 등록하면서 오류가 발생한 건으로</a:t>
            </a:r>
            <a:endParaRPr lang="en-US" altLang="ko-KR" sz="1400" b="1" dirty="0" smtClean="0">
              <a:latin typeface="+mn-ea"/>
              <a:ea typeface="+mn-ea"/>
            </a:endParaRPr>
          </a:p>
          <a:p>
            <a:pPr algn="l"/>
            <a:r>
              <a:rPr lang="en-US" altLang="ko-KR" sz="1400" b="1" dirty="0" smtClean="0">
                <a:latin typeface="+mn-ea"/>
                <a:ea typeface="+mn-ea"/>
              </a:rPr>
              <a:t>         Microsoft Visual C++ 2015 </a:t>
            </a:r>
            <a:r>
              <a:rPr lang="ko-KR" altLang="en-US" sz="1400" b="1" dirty="0" smtClean="0">
                <a:latin typeface="+mn-ea"/>
                <a:ea typeface="+mn-ea"/>
              </a:rPr>
              <a:t>재 배포 </a:t>
            </a:r>
            <a:r>
              <a:rPr lang="en-US" altLang="ko-KR" sz="1400" b="1" dirty="0" smtClean="0">
                <a:latin typeface="+mn-ea"/>
                <a:ea typeface="+mn-ea"/>
              </a:rPr>
              <a:t>Package </a:t>
            </a:r>
            <a:r>
              <a:rPr lang="ko-KR" altLang="en-US" sz="1400" b="1" dirty="0" smtClean="0">
                <a:latin typeface="+mn-ea"/>
                <a:ea typeface="+mn-ea"/>
              </a:rPr>
              <a:t>가 제대로 설치가 안된 환경</a:t>
            </a:r>
            <a:endParaRPr lang="en-US" altLang="ko-KR" sz="1400" b="1" dirty="0" smtClean="0">
              <a:latin typeface="+mn-ea"/>
              <a:ea typeface="+mn-ea"/>
            </a:endParaRPr>
          </a:p>
          <a:p>
            <a:pPr algn="l"/>
            <a:r>
              <a:rPr lang="en-US" altLang="ko-KR" sz="1400" b="1" dirty="0" smtClean="0">
                <a:latin typeface="+mn-ea"/>
                <a:ea typeface="+mn-ea"/>
              </a:rPr>
              <a:t>         ( 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5 page</a:t>
            </a:r>
            <a:r>
              <a:rPr lang="en-US" altLang="ko-KR" sz="1400" b="1" dirty="0" smtClean="0">
                <a:latin typeface="+mn-ea"/>
                <a:ea typeface="+mn-ea"/>
              </a:rPr>
              <a:t>  Swing </a:t>
            </a:r>
            <a:r>
              <a:rPr lang="ko-KR" altLang="en-US" sz="1400" b="1" dirty="0" smtClean="0">
                <a:latin typeface="+mn-ea"/>
                <a:ea typeface="+mn-ea"/>
              </a:rPr>
              <a:t>업무 환경 점검자료 참고 </a:t>
            </a:r>
            <a:r>
              <a:rPr lang="en-US" altLang="ko-KR" sz="1400" b="1" dirty="0" smtClean="0">
                <a:latin typeface="+mn-ea"/>
                <a:ea typeface="+mn-ea"/>
              </a:rPr>
              <a:t>) </a:t>
            </a:r>
          </a:p>
          <a:p>
            <a:pPr algn="l"/>
            <a:endParaRPr lang="en-US" altLang="ko-KR" sz="1400" b="1" dirty="0">
              <a:latin typeface="+mn-ea"/>
              <a:ea typeface="+mn-ea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ko-KR" altLang="en-US" sz="1400" b="1" dirty="0" smtClean="0">
                <a:latin typeface="+mn-ea"/>
                <a:ea typeface="+mn-ea"/>
              </a:rPr>
              <a:t>해결방안</a:t>
            </a:r>
            <a:endParaRPr lang="en-US" altLang="ko-KR" sz="1400" b="1" dirty="0" smtClean="0">
              <a:latin typeface="+mn-ea"/>
              <a:ea typeface="+mn-ea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altLang="ko-KR" sz="1400" b="1" dirty="0" smtClean="0">
              <a:latin typeface="+mn-ea"/>
              <a:ea typeface="+mn-ea"/>
            </a:endParaRPr>
          </a:p>
          <a:p>
            <a:pPr algn="l"/>
            <a:r>
              <a:rPr lang="en-US" altLang="ko-KR" sz="1400" b="1" dirty="0" smtClean="0">
                <a:latin typeface="+mn-ea"/>
                <a:ea typeface="+mn-ea"/>
              </a:rPr>
              <a:t>      - W-Gear</a:t>
            </a:r>
            <a:r>
              <a:rPr lang="ko-KR" altLang="en-US" sz="1400" b="1" dirty="0" smtClean="0">
                <a:latin typeface="+mn-ea"/>
                <a:ea typeface="+mn-ea"/>
              </a:rPr>
              <a:t>가 정상적으로 실행 중인지 확인한다</a:t>
            </a:r>
            <a:r>
              <a:rPr lang="en-US" altLang="ko-KR" sz="1400" b="1" dirty="0" smtClean="0">
                <a:latin typeface="+mn-ea"/>
                <a:ea typeface="+mn-ea"/>
              </a:rPr>
              <a:t>.</a:t>
            </a:r>
          </a:p>
          <a:p>
            <a:pPr algn="l"/>
            <a:endParaRPr lang="en-US" altLang="ko-KR" sz="1400" b="1" dirty="0" smtClean="0">
              <a:latin typeface="+mn-ea"/>
              <a:ea typeface="+mn-ea"/>
            </a:endParaRPr>
          </a:p>
          <a:p>
            <a:pPr algn="l"/>
            <a:r>
              <a:rPr lang="en-US" altLang="ko-KR" sz="1400" b="1" dirty="0">
                <a:latin typeface="+mn-ea"/>
                <a:ea typeface="+mn-ea"/>
              </a:rPr>
              <a:t> </a:t>
            </a:r>
            <a:r>
              <a:rPr lang="en-US" altLang="ko-KR" sz="1400" b="1" dirty="0" smtClean="0">
                <a:latin typeface="+mn-ea"/>
                <a:ea typeface="+mn-ea"/>
              </a:rPr>
              <a:t>       1) </a:t>
            </a:r>
            <a:r>
              <a:rPr lang="ko-KR" altLang="en-US" sz="1400" b="1" dirty="0" smtClean="0">
                <a:latin typeface="+mn-ea"/>
                <a:ea typeface="+mn-ea"/>
              </a:rPr>
              <a:t>화면 우측 하단 </a:t>
            </a:r>
            <a:r>
              <a:rPr lang="en-US" altLang="ko-KR" sz="1400" b="1" dirty="0" smtClean="0">
                <a:latin typeface="+mn-ea"/>
                <a:ea typeface="+mn-ea"/>
              </a:rPr>
              <a:t>W-Gear Tray icon </a:t>
            </a:r>
            <a:r>
              <a:rPr lang="ko-KR" altLang="en-US" sz="1400" b="1" dirty="0" smtClean="0">
                <a:latin typeface="+mn-ea"/>
                <a:ea typeface="+mn-ea"/>
              </a:rPr>
              <a:t>클릭하여 </a:t>
            </a:r>
            <a:r>
              <a:rPr lang="en-US" altLang="ko-KR" sz="1400" b="1" dirty="0" smtClean="0">
                <a:latin typeface="+mn-ea"/>
                <a:ea typeface="+mn-ea"/>
              </a:rPr>
              <a:t>W-gear </a:t>
            </a:r>
            <a:r>
              <a:rPr lang="ko-KR" altLang="en-US" sz="1400" b="1" dirty="0" err="1" smtClean="0">
                <a:latin typeface="+mn-ea"/>
                <a:ea typeface="+mn-ea"/>
              </a:rPr>
              <a:t>상태창을</a:t>
            </a:r>
            <a:r>
              <a:rPr lang="ko-KR" altLang="en-US" sz="1400" b="1" dirty="0" smtClean="0">
                <a:latin typeface="+mn-ea"/>
                <a:ea typeface="+mn-ea"/>
              </a:rPr>
              <a:t> 실행한다</a:t>
            </a:r>
            <a:r>
              <a:rPr lang="en-US" altLang="ko-KR" sz="1400" b="1" dirty="0" smtClean="0">
                <a:latin typeface="+mn-ea"/>
                <a:ea typeface="+mn-ea"/>
              </a:rPr>
              <a:t>.</a:t>
            </a:r>
          </a:p>
          <a:p>
            <a:pPr algn="l"/>
            <a:endParaRPr lang="en-US" altLang="ko-KR" sz="1400" b="1" dirty="0" smtClean="0">
              <a:latin typeface="+mn-ea"/>
              <a:ea typeface="+mn-ea"/>
            </a:endParaRPr>
          </a:p>
          <a:p>
            <a:pPr algn="l"/>
            <a:r>
              <a:rPr lang="en-US" altLang="ko-KR" sz="1400" b="1" dirty="0">
                <a:latin typeface="+mn-ea"/>
                <a:ea typeface="+mn-ea"/>
              </a:rPr>
              <a:t> </a:t>
            </a:r>
            <a:r>
              <a:rPr lang="en-US" altLang="ko-KR" sz="1400" b="1" dirty="0" smtClean="0">
                <a:latin typeface="+mn-ea"/>
                <a:ea typeface="+mn-ea"/>
              </a:rPr>
              <a:t>       2) W-Gear </a:t>
            </a:r>
            <a:r>
              <a:rPr lang="ko-KR" altLang="en-US" sz="1400" b="1" dirty="0" err="1" smtClean="0">
                <a:latin typeface="+mn-ea"/>
                <a:ea typeface="+mn-ea"/>
              </a:rPr>
              <a:t>상태창에서</a:t>
            </a:r>
            <a:r>
              <a:rPr lang="ko-KR" altLang="en-US" sz="1400" b="1" dirty="0">
                <a:latin typeface="+mn-ea"/>
                <a:ea typeface="+mn-ea"/>
              </a:rPr>
              <a:t> </a:t>
            </a:r>
            <a:r>
              <a:rPr lang="ko-KR" altLang="en-US" sz="1400" b="1" dirty="0" smtClean="0">
                <a:latin typeface="+mn-ea"/>
                <a:ea typeface="+mn-ea"/>
              </a:rPr>
              <a:t>상태와 버전을 확인한다</a:t>
            </a:r>
            <a:r>
              <a:rPr lang="en-US" altLang="ko-KR" sz="1400" b="1" dirty="0" smtClean="0">
                <a:latin typeface="+mn-ea"/>
                <a:ea typeface="+mn-ea"/>
              </a:rPr>
              <a:t>. </a:t>
            </a:r>
          </a:p>
          <a:p>
            <a:pPr algn="l"/>
            <a:r>
              <a:rPr lang="en-US" altLang="ko-KR" sz="1400" b="1" dirty="0">
                <a:latin typeface="+mn-ea"/>
                <a:ea typeface="+mn-ea"/>
              </a:rPr>
              <a:t> </a:t>
            </a:r>
            <a:r>
              <a:rPr lang="en-US" altLang="ko-KR" sz="1400" b="1" dirty="0" smtClean="0">
                <a:latin typeface="+mn-ea"/>
                <a:ea typeface="+mn-ea"/>
              </a:rPr>
              <a:t>           (“</a:t>
            </a:r>
            <a:r>
              <a:rPr lang="ko-KR" altLang="en-US" sz="1400" b="1" dirty="0" smtClean="0">
                <a:latin typeface="+mn-ea"/>
                <a:ea typeface="+mn-ea"/>
              </a:rPr>
              <a:t>상태</a:t>
            </a:r>
            <a:r>
              <a:rPr lang="en-US" altLang="ko-KR" sz="1400" b="1" dirty="0" smtClean="0">
                <a:latin typeface="+mn-ea"/>
                <a:ea typeface="+mn-ea"/>
              </a:rPr>
              <a:t>: </a:t>
            </a:r>
            <a:r>
              <a:rPr lang="ko-KR" altLang="en-US" sz="1400" b="1" dirty="0" smtClean="0">
                <a:latin typeface="+mn-ea"/>
                <a:ea typeface="+mn-ea"/>
              </a:rPr>
              <a:t>실행 중입니다</a:t>
            </a:r>
            <a:r>
              <a:rPr lang="en-US" altLang="ko-KR" sz="1400" b="1" dirty="0" smtClean="0">
                <a:latin typeface="+mn-ea"/>
                <a:ea typeface="+mn-ea"/>
              </a:rPr>
              <a:t>.”</a:t>
            </a:r>
            <a:r>
              <a:rPr lang="ko-KR" altLang="en-US" sz="1400" b="1" dirty="0" smtClean="0">
                <a:latin typeface="+mn-ea"/>
                <a:ea typeface="+mn-ea"/>
              </a:rPr>
              <a:t>로 표시되면 정상임</a:t>
            </a:r>
            <a:r>
              <a:rPr lang="en-US" altLang="ko-KR" sz="1400" b="1" dirty="0" smtClean="0">
                <a:latin typeface="+mn-ea"/>
                <a:ea typeface="+mn-ea"/>
              </a:rPr>
              <a:t>)</a:t>
            </a:r>
          </a:p>
          <a:p>
            <a:pPr algn="l"/>
            <a:endParaRPr lang="en-US" altLang="ko-KR" sz="1400" b="1" dirty="0" smtClean="0">
              <a:latin typeface="+mn-ea"/>
              <a:ea typeface="+mn-ea"/>
            </a:endParaRPr>
          </a:p>
          <a:p>
            <a:pPr algn="l"/>
            <a:r>
              <a:rPr lang="en-US" altLang="ko-KR" sz="1400" b="1" dirty="0" smtClean="0">
                <a:latin typeface="+mn-ea"/>
                <a:ea typeface="+mn-ea"/>
              </a:rPr>
              <a:t>       - </a:t>
            </a:r>
            <a:r>
              <a:rPr lang="en-US" altLang="ko-KR" sz="1400" b="1" dirty="0">
                <a:latin typeface="+mn-ea"/>
                <a:ea typeface="+mn-ea"/>
              </a:rPr>
              <a:t>Microsoft Visual C++ </a:t>
            </a:r>
            <a:r>
              <a:rPr lang="en-US" altLang="ko-KR" sz="1400" b="1" dirty="0" smtClean="0">
                <a:latin typeface="+mn-ea"/>
                <a:ea typeface="+mn-ea"/>
              </a:rPr>
              <a:t>2015 </a:t>
            </a:r>
            <a:r>
              <a:rPr lang="ko-KR" altLang="en-US" sz="1400" b="1" dirty="0" smtClean="0">
                <a:latin typeface="+mn-ea"/>
                <a:ea typeface="+mn-ea"/>
              </a:rPr>
              <a:t>재 배포 </a:t>
            </a:r>
            <a:r>
              <a:rPr lang="en-US" altLang="ko-KR" sz="1400" b="1" dirty="0" smtClean="0">
                <a:latin typeface="+mn-ea"/>
                <a:ea typeface="+mn-ea"/>
              </a:rPr>
              <a:t>Package</a:t>
            </a:r>
            <a:r>
              <a:rPr lang="ko-KR" altLang="en-US" sz="1400" b="1" dirty="0" smtClean="0">
                <a:latin typeface="+mn-ea"/>
                <a:ea typeface="+mn-ea"/>
              </a:rPr>
              <a:t>를 수동으로 재 설치를 진행해 본다</a:t>
            </a:r>
            <a:r>
              <a:rPr lang="en-US" altLang="ko-KR" sz="1400" b="1" dirty="0" smtClean="0">
                <a:latin typeface="+mn-ea"/>
                <a:ea typeface="+mn-ea"/>
              </a:rPr>
              <a:t>.</a:t>
            </a:r>
          </a:p>
          <a:p>
            <a:pPr algn="l"/>
            <a:endParaRPr lang="en-US" altLang="ko-KR" sz="1400" b="1" dirty="0">
              <a:latin typeface="+mn-ea"/>
              <a:ea typeface="+mn-ea"/>
            </a:endParaRPr>
          </a:p>
          <a:p>
            <a:pPr algn="l"/>
            <a:r>
              <a:rPr lang="en-US" altLang="ko-KR" sz="1400" b="1" dirty="0" smtClean="0">
                <a:latin typeface="+mn-ea"/>
                <a:ea typeface="+mn-ea"/>
              </a:rPr>
              <a:t>        1) PC</a:t>
            </a:r>
            <a:r>
              <a:rPr lang="ko-KR" altLang="en-US" sz="1400" b="1" dirty="0" smtClean="0">
                <a:latin typeface="+mn-ea"/>
                <a:ea typeface="+mn-ea"/>
              </a:rPr>
              <a:t>에서 프로그램 삭제</a:t>
            </a:r>
            <a:r>
              <a:rPr lang="en-US" altLang="ko-KR" sz="1400" b="1" dirty="0" smtClean="0">
                <a:latin typeface="+mn-ea"/>
                <a:ea typeface="+mn-ea"/>
              </a:rPr>
              <a:t>( 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6 page</a:t>
            </a:r>
            <a:r>
              <a:rPr lang="en-US" altLang="ko-KR" sz="1400" b="1" dirty="0" smtClean="0">
                <a:latin typeface="+mn-ea"/>
                <a:ea typeface="+mn-ea"/>
              </a:rPr>
              <a:t> </a:t>
            </a:r>
            <a:r>
              <a:rPr lang="ko-KR" altLang="en-US" sz="1400" b="1" dirty="0" smtClean="0">
                <a:latin typeface="+mn-ea"/>
                <a:ea typeface="+mn-ea"/>
              </a:rPr>
              <a:t>참고</a:t>
            </a:r>
            <a:r>
              <a:rPr lang="en-US" altLang="ko-KR" sz="1400" b="1" dirty="0" smtClean="0">
                <a:latin typeface="+mn-ea"/>
                <a:ea typeface="+mn-ea"/>
              </a:rPr>
              <a:t>)</a:t>
            </a:r>
            <a:r>
              <a:rPr lang="ko-KR" altLang="en-US" sz="1400" b="1" dirty="0" smtClean="0">
                <a:latin typeface="+mn-ea"/>
                <a:ea typeface="+mn-ea"/>
              </a:rPr>
              <a:t>한 후 수동으로 프로그램을 </a:t>
            </a:r>
            <a:r>
              <a:rPr lang="en-US" altLang="ko-KR" sz="1400" b="1" dirty="0" smtClean="0">
                <a:latin typeface="+mn-ea"/>
                <a:ea typeface="+mn-ea"/>
              </a:rPr>
              <a:t>Local </a:t>
            </a:r>
            <a:r>
              <a:rPr lang="ko-KR" altLang="en-US" sz="1400" b="1" dirty="0" smtClean="0">
                <a:latin typeface="+mn-ea"/>
                <a:ea typeface="+mn-ea"/>
              </a:rPr>
              <a:t>다운받은</a:t>
            </a:r>
            <a:r>
              <a:rPr lang="en-US" altLang="ko-KR" sz="1400" b="1" dirty="0" smtClean="0">
                <a:latin typeface="+mn-ea"/>
                <a:ea typeface="+mn-ea"/>
              </a:rPr>
              <a:t> </a:t>
            </a:r>
            <a:r>
              <a:rPr lang="ko-KR" altLang="en-US" sz="1400" b="1" dirty="0" smtClean="0">
                <a:latin typeface="+mn-ea"/>
                <a:ea typeface="+mn-ea"/>
              </a:rPr>
              <a:t>후 </a:t>
            </a:r>
            <a:endParaRPr lang="en-US" altLang="ko-KR" sz="1400" b="1" dirty="0" smtClean="0">
              <a:latin typeface="+mn-ea"/>
              <a:ea typeface="+mn-ea"/>
            </a:endParaRPr>
          </a:p>
          <a:p>
            <a:pPr algn="l"/>
            <a:r>
              <a:rPr lang="en-US" altLang="ko-KR" sz="1400" b="1" dirty="0">
                <a:latin typeface="+mn-ea"/>
                <a:ea typeface="+mn-ea"/>
              </a:rPr>
              <a:t> </a:t>
            </a:r>
            <a:r>
              <a:rPr lang="en-US" altLang="ko-KR" sz="1400" b="1" dirty="0" smtClean="0">
                <a:latin typeface="+mn-ea"/>
                <a:ea typeface="+mn-ea"/>
              </a:rPr>
              <a:t>          </a:t>
            </a:r>
            <a:r>
              <a:rPr lang="ko-KR" altLang="en-US" sz="1400" b="1" dirty="0" smtClean="0">
                <a:latin typeface="+mn-ea"/>
                <a:ea typeface="+mn-ea"/>
              </a:rPr>
              <a:t>설치</a:t>
            </a:r>
            <a:r>
              <a:rPr lang="en-US" altLang="ko-KR" sz="1400" b="1" dirty="0" smtClean="0">
                <a:latin typeface="+mn-ea"/>
                <a:ea typeface="+mn-ea"/>
              </a:rPr>
              <a:t>( 7 page </a:t>
            </a:r>
            <a:r>
              <a:rPr lang="ko-KR" altLang="en-US" sz="1400" b="1" dirty="0" smtClean="0">
                <a:latin typeface="+mn-ea"/>
                <a:ea typeface="+mn-ea"/>
              </a:rPr>
              <a:t>백업 </a:t>
            </a:r>
            <a:r>
              <a:rPr lang="en-US" altLang="ko-KR" sz="1400" b="1" dirty="0" smtClean="0">
                <a:latin typeface="+mn-ea"/>
                <a:ea typeface="+mn-ea"/>
              </a:rPr>
              <a:t>3)</a:t>
            </a:r>
            <a:r>
              <a:rPr lang="ko-KR" altLang="en-US" sz="1400" b="1" dirty="0" smtClean="0">
                <a:latin typeface="+mn-ea"/>
                <a:ea typeface="+mn-ea"/>
              </a:rPr>
              <a:t>한다</a:t>
            </a:r>
            <a:r>
              <a:rPr lang="en-US" altLang="ko-KR" sz="1400" b="1" dirty="0" smtClean="0">
                <a:latin typeface="+mn-ea"/>
                <a:ea typeface="+mn-ea"/>
              </a:rPr>
              <a:t>.</a:t>
            </a:r>
          </a:p>
          <a:p>
            <a:pPr algn="l"/>
            <a:endParaRPr lang="en-US" altLang="ko-KR" sz="1400" b="1" dirty="0" smtClean="0">
              <a:latin typeface="+mn-ea"/>
              <a:ea typeface="+mn-ea"/>
            </a:endParaRPr>
          </a:p>
          <a:p>
            <a:pPr algn="l"/>
            <a:r>
              <a:rPr lang="en-US" altLang="ko-KR" sz="1400" b="1" dirty="0">
                <a:latin typeface="+mn-ea"/>
                <a:ea typeface="+mn-ea"/>
              </a:rPr>
              <a:t> </a:t>
            </a:r>
            <a:r>
              <a:rPr lang="en-US" altLang="ko-KR" sz="1400" b="1" dirty="0" smtClean="0">
                <a:latin typeface="+mn-ea"/>
                <a:ea typeface="+mn-ea"/>
              </a:rPr>
              <a:t>           http://swingsw.sktelecom.com:8100/install_all.html   </a:t>
            </a:r>
          </a:p>
          <a:p>
            <a:pPr algn="l"/>
            <a:r>
              <a:rPr lang="en-US" altLang="ko-KR" sz="1400" b="1" dirty="0">
                <a:latin typeface="+mn-ea"/>
                <a:ea typeface="+mn-ea"/>
              </a:rPr>
              <a:t> </a:t>
            </a:r>
            <a:r>
              <a:rPr lang="en-US" altLang="ko-KR" sz="1400" b="1" dirty="0" smtClean="0">
                <a:latin typeface="+mn-ea"/>
                <a:ea typeface="+mn-ea"/>
              </a:rPr>
              <a:t>             ( </a:t>
            </a:r>
            <a:r>
              <a:rPr lang="ko-KR" altLang="en-US" sz="1400" b="1" dirty="0" err="1" smtClean="0">
                <a:latin typeface="+mn-ea"/>
                <a:ea typeface="+mn-ea"/>
              </a:rPr>
              <a:t>프로그램명</a:t>
            </a:r>
            <a:r>
              <a:rPr lang="ko-KR" altLang="en-US" sz="1400" b="1" dirty="0" smtClean="0">
                <a:latin typeface="+mn-ea"/>
                <a:ea typeface="+mn-ea"/>
              </a:rPr>
              <a:t> </a:t>
            </a:r>
            <a:r>
              <a:rPr lang="en-US" altLang="ko-KR" sz="1400" b="1" dirty="0" smtClean="0">
                <a:latin typeface="+mn-ea"/>
                <a:ea typeface="+mn-ea"/>
              </a:rPr>
              <a:t>: Microsoft</a:t>
            </a:r>
            <a:r>
              <a:rPr lang="ko-KR" altLang="en-US" sz="1400" b="1" dirty="0" smtClean="0">
                <a:latin typeface="+mn-ea"/>
                <a:ea typeface="+mn-ea"/>
              </a:rPr>
              <a:t>필수</a:t>
            </a:r>
            <a:r>
              <a:rPr lang="en-US" altLang="ko-KR" sz="1400" b="1" dirty="0" smtClean="0">
                <a:latin typeface="+mn-ea"/>
                <a:ea typeface="+mn-ea"/>
              </a:rPr>
              <a:t>Update</a:t>
            </a:r>
            <a:r>
              <a:rPr lang="ko-KR" altLang="en-US" sz="1400" b="1" dirty="0" smtClean="0">
                <a:latin typeface="+mn-ea"/>
                <a:ea typeface="+mn-ea"/>
              </a:rPr>
              <a:t>와 </a:t>
            </a:r>
            <a:r>
              <a:rPr lang="en-US" altLang="ko-KR" sz="1400" b="1" dirty="0" smtClean="0">
                <a:latin typeface="+mn-ea"/>
                <a:ea typeface="+mn-ea"/>
              </a:rPr>
              <a:t>VC++ 2015</a:t>
            </a:r>
            <a:r>
              <a:rPr lang="ko-KR" altLang="en-US" sz="1400" b="1" dirty="0" smtClean="0">
                <a:latin typeface="+mn-ea"/>
                <a:ea typeface="+mn-ea"/>
              </a:rPr>
              <a:t>를 각각 다운로드 함</a:t>
            </a:r>
            <a:r>
              <a:rPr lang="en-US" altLang="ko-KR" sz="1400" b="1" dirty="0" smtClean="0">
                <a:latin typeface="+mn-ea"/>
                <a:ea typeface="+mn-ea"/>
              </a:rPr>
              <a:t>, 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  <a:ea typeface="+mn-ea"/>
              </a:rPr>
              <a:t>Microsoft 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  <a:ea typeface="+mn-ea"/>
              </a:rPr>
              <a:t>필수 </a:t>
            </a:r>
            <a:endParaRPr lang="en-US" altLang="ko-KR" sz="1400" b="1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 algn="l"/>
            <a:r>
              <a:rPr lang="en-US" altLang="ko-KR" sz="14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  <a:ea typeface="+mn-ea"/>
              </a:rPr>
              <a:t>               Update(</a:t>
            </a:r>
            <a:r>
              <a:rPr lang="en-US" altLang="ko-KR" sz="1400" b="1" dirty="0" err="1" smtClean="0">
                <a:solidFill>
                  <a:srgbClr val="FF0000"/>
                </a:solidFill>
                <a:latin typeface="+mn-ea"/>
                <a:ea typeface="+mn-ea"/>
              </a:rPr>
              <a:t>Mircrosoft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  <a:ea typeface="+mn-ea"/>
              </a:rPr>
              <a:t>필수</a:t>
            </a:r>
            <a:r>
              <a:rPr lang="en-US" altLang="ko-KR" sz="1400" b="1" dirty="0" err="1" smtClean="0">
                <a:solidFill>
                  <a:srgbClr val="FF0000"/>
                </a:solidFill>
                <a:latin typeface="+mn-ea"/>
                <a:ea typeface="+mn-ea"/>
              </a:rPr>
              <a:t>Update+VC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  <a:ea typeface="+mn-ea"/>
              </a:rPr>
              <a:t>++ 2015)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  <a:ea typeface="+mn-ea"/>
              </a:rPr>
              <a:t>가 아님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  <a:ea typeface="+mn-ea"/>
              </a:rPr>
              <a:t>.</a:t>
            </a:r>
            <a:r>
              <a:rPr lang="en-US" altLang="ko-KR" sz="1400" b="1" dirty="0" smtClean="0">
                <a:latin typeface="+mn-ea"/>
                <a:ea typeface="+mn-ea"/>
              </a:rPr>
              <a:t>)</a:t>
            </a:r>
          </a:p>
          <a:p>
            <a:pPr algn="l"/>
            <a:r>
              <a:rPr lang="en-US" altLang="ko-KR" sz="1400" b="1" dirty="0">
                <a:latin typeface="+mn-ea"/>
                <a:ea typeface="+mn-ea"/>
              </a:rPr>
              <a:t> </a:t>
            </a:r>
            <a:r>
              <a:rPr lang="en-US" altLang="ko-KR" sz="1400" b="1" dirty="0" smtClean="0">
                <a:latin typeface="+mn-ea"/>
                <a:ea typeface="+mn-ea"/>
              </a:rPr>
              <a:t>        </a:t>
            </a:r>
          </a:p>
          <a:p>
            <a:pPr algn="l"/>
            <a:r>
              <a:rPr lang="en-US" altLang="ko-KR" sz="1400" b="1" dirty="0">
                <a:latin typeface="+mn-ea"/>
                <a:ea typeface="+mn-ea"/>
              </a:rPr>
              <a:t> </a:t>
            </a:r>
            <a:r>
              <a:rPr lang="en-US" altLang="ko-KR" sz="1400" b="1" dirty="0" smtClean="0">
                <a:latin typeface="+mn-ea"/>
                <a:ea typeface="+mn-ea"/>
              </a:rPr>
              <a:t>           - </a:t>
            </a:r>
            <a:r>
              <a:rPr lang="ko-KR" altLang="en-US" sz="1400" b="1" dirty="0" smtClean="0">
                <a:latin typeface="+mn-ea"/>
                <a:ea typeface="+mn-ea"/>
              </a:rPr>
              <a:t>알림 메시지가   성공으로 나오면</a:t>
            </a:r>
            <a:r>
              <a:rPr lang="en-US" altLang="ko-KR" sz="1400" b="1" dirty="0" smtClean="0">
                <a:latin typeface="+mn-ea"/>
                <a:ea typeface="+mn-ea"/>
              </a:rPr>
              <a:t>,  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Swing </a:t>
            </a:r>
            <a:r>
              <a:rPr lang="ko-KR" altLang="en-US" sz="1400" b="1" dirty="0" smtClean="0">
                <a:solidFill>
                  <a:srgbClr val="0000CC"/>
                </a:solidFill>
                <a:latin typeface="+mn-ea"/>
                <a:ea typeface="+mn-ea"/>
              </a:rPr>
              <a:t>화면 접속 및 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Icon </a:t>
            </a:r>
            <a:r>
              <a:rPr lang="ko-KR" altLang="en-US" sz="1400" b="1" dirty="0" smtClean="0">
                <a:solidFill>
                  <a:srgbClr val="0000CC"/>
                </a:solidFill>
                <a:latin typeface="+mn-ea"/>
                <a:ea typeface="+mn-ea"/>
              </a:rPr>
              <a:t>정상 확인 점검</a:t>
            </a:r>
            <a:endParaRPr lang="en-US" altLang="ko-KR" sz="1400" b="1" dirty="0" smtClean="0">
              <a:solidFill>
                <a:srgbClr val="0000CC"/>
              </a:solidFill>
              <a:latin typeface="+mn-ea"/>
              <a:ea typeface="+mn-ea"/>
            </a:endParaRPr>
          </a:p>
          <a:p>
            <a:pPr algn="l"/>
            <a:r>
              <a:rPr lang="en-US" altLang="ko-KR" sz="1400" b="1" dirty="0">
                <a:latin typeface="+mn-ea"/>
                <a:ea typeface="+mn-ea"/>
              </a:rPr>
              <a:t> </a:t>
            </a:r>
            <a:r>
              <a:rPr lang="en-US" altLang="ko-KR" sz="1400" b="1" dirty="0" smtClean="0">
                <a:latin typeface="+mn-ea"/>
                <a:ea typeface="+mn-ea"/>
              </a:rPr>
              <a:t>                                  </a:t>
            </a:r>
            <a:r>
              <a:rPr lang="ko-KR" altLang="en-US" sz="1400" b="1" dirty="0" smtClean="0">
                <a:latin typeface="+mn-ea"/>
                <a:ea typeface="+mn-ea"/>
              </a:rPr>
              <a:t>실패로    나오면</a:t>
            </a:r>
            <a:r>
              <a:rPr lang="en-US" altLang="ko-KR" sz="1400" b="1" dirty="0" smtClean="0">
                <a:latin typeface="+mn-ea"/>
                <a:ea typeface="+mn-ea"/>
              </a:rPr>
              <a:t>,  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  <a:ea typeface="+mn-ea"/>
              </a:rPr>
              <a:t>OS </a:t>
            </a:r>
            <a:r>
              <a:rPr lang="ko-KR" altLang="en-US" sz="1400" b="1" dirty="0" err="1" smtClean="0">
                <a:solidFill>
                  <a:srgbClr val="FF0000"/>
                </a:solidFill>
                <a:latin typeface="+mn-ea"/>
                <a:ea typeface="+mn-ea"/>
              </a:rPr>
              <a:t>재설치로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ko-KR" altLang="en-US" sz="1400" b="1" dirty="0" err="1" smtClean="0">
                <a:solidFill>
                  <a:srgbClr val="FF0000"/>
                </a:solidFill>
                <a:latin typeface="+mn-ea"/>
                <a:ea typeface="+mn-ea"/>
              </a:rPr>
              <a:t>가이드함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  <a:ea typeface="+mn-ea"/>
              </a:rPr>
              <a:t>.</a:t>
            </a:r>
          </a:p>
          <a:p>
            <a:pPr algn="l"/>
            <a:r>
              <a:rPr lang="en-US" altLang="ko-KR" sz="1400" b="1" dirty="0" smtClean="0">
                <a:latin typeface="+mn-ea"/>
                <a:ea typeface="+mn-ea"/>
              </a:rPr>
              <a:t>       </a:t>
            </a:r>
            <a:endParaRPr lang="ko-KR" altLang="en-US" sz="1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6287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백업</a:t>
            </a:r>
            <a:r>
              <a:rPr lang="en-US" altLang="ko-KR" dirty="0" smtClean="0"/>
              <a:t>1] Swing </a:t>
            </a:r>
            <a:r>
              <a:rPr lang="ko-KR" altLang="en-US" dirty="0" smtClean="0"/>
              <a:t>업무환경 점검 방법</a:t>
            </a:r>
            <a:endParaRPr lang="ko-KR" altLang="en-US" dirty="0"/>
          </a:p>
        </p:txBody>
      </p:sp>
      <p:pic>
        <p:nvPicPr>
          <p:cNvPr id="5" name="그림 4" descr="C:\Users\Inswave\Pictures\Push 정상 상태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1552" y="845778"/>
            <a:ext cx="5006114" cy="1886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Oval 2"/>
          <p:cNvSpPr>
            <a:spLocks noChangeArrowheads="1"/>
          </p:cNvSpPr>
          <p:nvPr/>
        </p:nvSpPr>
        <p:spPr bwMode="auto">
          <a:xfrm>
            <a:off x="4928228" y="2568149"/>
            <a:ext cx="180975" cy="1905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00"/>
                </a:solidFill>
              </a14:hiddenFill>
            </a:ext>
          </a:extLst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 descr="C:\Users\Inswave\Pictures\Push 오류 상태.PN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1551" y="2938017"/>
            <a:ext cx="5006115" cy="165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Oval 2"/>
          <p:cNvSpPr>
            <a:spLocks noChangeArrowheads="1"/>
          </p:cNvSpPr>
          <p:nvPr/>
        </p:nvSpPr>
        <p:spPr bwMode="auto">
          <a:xfrm>
            <a:off x="4896328" y="4445295"/>
            <a:ext cx="180975" cy="1905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00"/>
                </a:solidFill>
              </a14:hiddenFill>
            </a:ext>
          </a:extLst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 descr="C:\Users\Inswave\Pictures\Push 서버 연결 실패 상태.PN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1552" y="4796340"/>
            <a:ext cx="5006114" cy="175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Oval 2"/>
          <p:cNvSpPr>
            <a:spLocks noChangeArrowheads="1"/>
          </p:cNvSpPr>
          <p:nvPr/>
        </p:nvSpPr>
        <p:spPr bwMode="auto">
          <a:xfrm>
            <a:off x="4795207" y="6396371"/>
            <a:ext cx="180975" cy="1905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00"/>
                </a:solidFill>
              </a14:hiddenFill>
            </a:ext>
          </a:extLst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직사각형 10"/>
          <p:cNvSpPr/>
          <p:nvPr/>
        </p:nvSpPr>
        <p:spPr bwMode="auto">
          <a:xfrm>
            <a:off x="5889762" y="1105786"/>
            <a:ext cx="914400" cy="11405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ko-KR" altLang="en-US" sz="1400" b="1" dirty="0" smtClean="0">
                <a:latin typeface="+mn-ea"/>
                <a:ea typeface="+mn-ea"/>
              </a:rPr>
              <a:t>정상</a:t>
            </a:r>
            <a:endParaRPr lang="en-US" altLang="ko-KR" sz="1400" b="1" dirty="0" smtClean="0">
              <a:latin typeface="+mn-ea"/>
              <a:ea typeface="+mn-ea"/>
            </a:endParaRPr>
          </a:p>
          <a:p>
            <a:pPr algn="ctr"/>
            <a:endParaRPr lang="en-US" altLang="ko-KR" sz="1400" b="1" dirty="0">
              <a:latin typeface="+mn-ea"/>
              <a:ea typeface="+mn-ea"/>
            </a:endParaRPr>
          </a:p>
          <a:p>
            <a:pPr algn="ctr"/>
            <a:r>
              <a:rPr lang="en-US" altLang="ko-KR" sz="1400" b="1" dirty="0" smtClean="0">
                <a:latin typeface="+mn-ea"/>
                <a:ea typeface="+mn-ea"/>
              </a:rPr>
              <a:t>( </a:t>
            </a:r>
            <a:r>
              <a:rPr lang="ko-KR" altLang="en-US" sz="1400" b="1" dirty="0" smtClean="0">
                <a:latin typeface="+mn-ea"/>
                <a:ea typeface="+mn-ea"/>
              </a:rPr>
              <a:t>초록색 </a:t>
            </a:r>
            <a:r>
              <a:rPr lang="en-US" altLang="ko-KR" sz="1400" b="1" dirty="0" smtClean="0">
                <a:latin typeface="+mn-ea"/>
                <a:ea typeface="+mn-ea"/>
              </a:rPr>
              <a:t>)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5884108" y="2938017"/>
            <a:ext cx="914400" cy="14860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ko-KR" altLang="en-US" sz="1400" b="1" dirty="0" smtClean="0">
                <a:latin typeface="+mn-ea"/>
                <a:ea typeface="+mn-ea"/>
              </a:rPr>
              <a:t>비 정상</a:t>
            </a:r>
            <a:endParaRPr lang="en-US" altLang="ko-KR" sz="1400" b="1" dirty="0" smtClean="0">
              <a:latin typeface="+mn-ea"/>
              <a:ea typeface="+mn-ea"/>
            </a:endParaRPr>
          </a:p>
          <a:p>
            <a:pPr algn="ctr"/>
            <a:endParaRPr lang="en-US" altLang="ko-KR" sz="1400" b="1" dirty="0">
              <a:latin typeface="+mn-ea"/>
              <a:ea typeface="+mn-ea"/>
            </a:endParaRPr>
          </a:p>
          <a:p>
            <a:pPr algn="ctr"/>
            <a:r>
              <a:rPr lang="en-US" altLang="ko-KR" sz="1400" b="1" dirty="0" smtClean="0">
                <a:latin typeface="+mn-ea"/>
                <a:ea typeface="+mn-ea"/>
              </a:rPr>
              <a:t>( </a:t>
            </a:r>
            <a:r>
              <a:rPr lang="ko-KR" altLang="en-US" sz="1400" b="1" dirty="0" smtClean="0">
                <a:latin typeface="+mn-ea"/>
                <a:ea typeface="+mn-ea"/>
              </a:rPr>
              <a:t>빨강색 </a:t>
            </a:r>
            <a:r>
              <a:rPr lang="en-US" altLang="ko-KR" sz="1400" b="1" dirty="0" smtClean="0">
                <a:latin typeface="+mn-ea"/>
                <a:ea typeface="+mn-ea"/>
              </a:rPr>
              <a:t>)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5889762" y="5178061"/>
            <a:ext cx="914400" cy="107175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ko-KR" altLang="en-US" sz="1400" b="1" dirty="0" smtClean="0">
                <a:latin typeface="+mn-ea"/>
                <a:ea typeface="+mn-ea"/>
              </a:rPr>
              <a:t>비 정상</a:t>
            </a:r>
            <a:endParaRPr lang="en-US" altLang="ko-KR" sz="1400" b="1" dirty="0" smtClean="0">
              <a:latin typeface="+mn-ea"/>
              <a:ea typeface="+mn-ea"/>
            </a:endParaRPr>
          </a:p>
          <a:p>
            <a:pPr algn="ctr"/>
            <a:endParaRPr lang="en-US" altLang="ko-KR" sz="1400" b="1" dirty="0">
              <a:latin typeface="+mn-ea"/>
              <a:ea typeface="+mn-ea"/>
            </a:endParaRPr>
          </a:p>
          <a:p>
            <a:pPr algn="ctr"/>
            <a:r>
              <a:rPr lang="en-US" altLang="ko-KR" sz="1400" b="1" dirty="0" smtClean="0">
                <a:latin typeface="+mn-ea"/>
                <a:ea typeface="+mn-ea"/>
              </a:rPr>
              <a:t>( </a:t>
            </a:r>
            <a:r>
              <a:rPr lang="ko-KR" altLang="en-US" sz="1400" b="1" dirty="0" smtClean="0">
                <a:latin typeface="+mn-ea"/>
                <a:ea typeface="+mn-ea"/>
              </a:rPr>
              <a:t>회색 </a:t>
            </a:r>
            <a:r>
              <a:rPr lang="en-US" altLang="ko-KR" sz="1400" b="1" dirty="0" smtClean="0">
                <a:latin typeface="+mn-ea"/>
                <a:ea typeface="+mn-ea"/>
              </a:rPr>
              <a:t>)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7027334" y="1306746"/>
            <a:ext cx="2414378" cy="944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5725" indent="-85725" algn="l" hangingPunc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+mn-ea"/>
                <a:ea typeface="+mn-ea"/>
                <a:cs typeface="맑은 고딕"/>
              </a:rPr>
              <a:t>아이콘 </a:t>
            </a:r>
            <a:r>
              <a:rPr lang="ko-KR" altLang="ko-KR" sz="1200" dirty="0" smtClean="0">
                <a:latin typeface="+mn-ea"/>
                <a:ea typeface="+mn-ea"/>
                <a:cs typeface="맑은 고딕"/>
              </a:rPr>
              <a:t>마우스 오버</a:t>
            </a:r>
            <a:r>
              <a:rPr lang="en-US" altLang="ko-KR" sz="1200" dirty="0" smtClean="0">
                <a:latin typeface="+mn-ea"/>
                <a:ea typeface="+mn-ea"/>
                <a:cs typeface="맑은 고딕"/>
              </a:rPr>
              <a:t> </a:t>
            </a:r>
            <a:r>
              <a:rPr lang="ko-KR" altLang="ko-KR" sz="1200" dirty="0" smtClean="0">
                <a:latin typeface="+mn-ea"/>
                <a:ea typeface="+mn-ea"/>
                <a:cs typeface="맑은 고딕"/>
              </a:rPr>
              <a:t>시 </a:t>
            </a:r>
            <a:r>
              <a:rPr lang="ko-KR" altLang="ko-KR" sz="1200" dirty="0">
                <a:latin typeface="+mn-ea"/>
                <a:ea typeface="+mn-ea"/>
                <a:cs typeface="맑은 고딕"/>
              </a:rPr>
              <a:t>메시지</a:t>
            </a:r>
            <a:r>
              <a:rPr lang="en-US" altLang="ko-KR" sz="1200" dirty="0">
                <a:latin typeface="+mn-ea"/>
                <a:ea typeface="+mn-ea"/>
                <a:cs typeface="맑은 고딕"/>
              </a:rPr>
              <a:t> </a:t>
            </a:r>
            <a:r>
              <a:rPr lang="en-US" altLang="ko-KR" sz="1200" dirty="0" smtClean="0">
                <a:latin typeface="+mn-ea"/>
                <a:ea typeface="+mn-ea"/>
                <a:cs typeface="맑은 고딕"/>
              </a:rPr>
              <a:t>:</a:t>
            </a:r>
          </a:p>
          <a:p>
            <a:pPr algn="l" hangingPunct="0">
              <a:spcBef>
                <a:spcPts val="600"/>
              </a:spcBef>
              <a:spcAft>
                <a:spcPts val="0"/>
              </a:spcAft>
            </a:pPr>
            <a:r>
              <a:rPr lang="en-US" altLang="ko-KR" sz="1200" dirty="0" smtClean="0">
                <a:solidFill>
                  <a:srgbClr val="0000CC"/>
                </a:solidFill>
                <a:latin typeface="+mn-ea"/>
                <a:ea typeface="+mn-ea"/>
                <a:cs typeface="맑은 고딕"/>
              </a:rPr>
              <a:t> </a:t>
            </a:r>
            <a:r>
              <a:rPr lang="en-US" altLang="ko-KR" sz="1200" dirty="0">
                <a:solidFill>
                  <a:srgbClr val="0000CC"/>
                </a:solidFill>
                <a:latin typeface="+mn-ea"/>
                <a:ea typeface="+mn-ea"/>
                <a:cs typeface="맑은 고딕"/>
              </a:rPr>
              <a:t>[</a:t>
            </a:r>
            <a:r>
              <a:rPr lang="ko-KR" altLang="ko-KR" sz="1200" dirty="0">
                <a:solidFill>
                  <a:srgbClr val="0000CC"/>
                </a:solidFill>
                <a:latin typeface="+mn-ea"/>
                <a:ea typeface="+mn-ea"/>
                <a:cs typeface="맑은 고딕"/>
              </a:rPr>
              <a:t>프로세스 정상 수행 중</a:t>
            </a:r>
            <a:r>
              <a:rPr lang="en-US" altLang="ko-KR" sz="1200" dirty="0">
                <a:solidFill>
                  <a:srgbClr val="0000CC"/>
                </a:solidFill>
                <a:latin typeface="+mn-ea"/>
                <a:ea typeface="+mn-ea"/>
                <a:cs typeface="맑은 고딕"/>
              </a:rPr>
              <a:t>] </a:t>
            </a:r>
            <a:r>
              <a:rPr lang="ko-KR" altLang="ko-KR" sz="1200" dirty="0">
                <a:solidFill>
                  <a:srgbClr val="0000CC"/>
                </a:solidFill>
                <a:latin typeface="+mn-ea"/>
                <a:ea typeface="+mn-ea"/>
                <a:cs typeface="맑은 고딕"/>
              </a:rPr>
              <a:t>시스템 연동 상태가 정상 입니다</a:t>
            </a:r>
            <a:r>
              <a:rPr lang="en-US" altLang="ko-KR" sz="1200" dirty="0">
                <a:solidFill>
                  <a:srgbClr val="0000CC"/>
                </a:solidFill>
                <a:latin typeface="+mn-ea"/>
                <a:ea typeface="+mn-ea"/>
                <a:cs typeface="맑은 고딕"/>
              </a:rPr>
              <a:t>.</a:t>
            </a:r>
            <a:endParaRPr lang="ko-KR" altLang="ko-KR" sz="1200" dirty="0">
              <a:solidFill>
                <a:srgbClr val="0000CC"/>
              </a:solidFill>
              <a:latin typeface="+mn-ea"/>
              <a:ea typeface="+mn-ea"/>
              <a:cs typeface="맑은 고딕"/>
            </a:endParaRPr>
          </a:p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Char char="ü"/>
              <a:tabLst/>
            </a:pPr>
            <a:endParaRPr kumimoji="1" lang="ko-KR" altLang="en-US" sz="1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7027334" y="2746887"/>
            <a:ext cx="2414378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5725" indent="-85725" algn="l" hangingPunc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+mn-ea"/>
                <a:ea typeface="+mn-ea"/>
                <a:cs typeface="맑은 고딕"/>
              </a:rPr>
              <a:t>아이콘 </a:t>
            </a:r>
            <a:r>
              <a:rPr lang="ko-KR" altLang="ko-KR" sz="1200" dirty="0" smtClean="0">
                <a:latin typeface="+mn-ea"/>
                <a:ea typeface="+mn-ea"/>
                <a:cs typeface="맑은 고딕"/>
              </a:rPr>
              <a:t>마우스 오버</a:t>
            </a:r>
            <a:r>
              <a:rPr lang="en-US" altLang="ko-KR" sz="1200" dirty="0" smtClean="0">
                <a:latin typeface="+mn-ea"/>
                <a:ea typeface="+mn-ea"/>
                <a:cs typeface="맑은 고딕"/>
              </a:rPr>
              <a:t> </a:t>
            </a:r>
            <a:r>
              <a:rPr lang="ko-KR" altLang="ko-KR" sz="1200" dirty="0" smtClean="0">
                <a:latin typeface="+mn-ea"/>
                <a:ea typeface="+mn-ea"/>
                <a:cs typeface="맑은 고딕"/>
              </a:rPr>
              <a:t>시 </a:t>
            </a:r>
            <a:r>
              <a:rPr lang="ko-KR" altLang="ko-KR" sz="1200" dirty="0">
                <a:latin typeface="+mn-ea"/>
                <a:ea typeface="+mn-ea"/>
                <a:cs typeface="맑은 고딕"/>
              </a:rPr>
              <a:t>메시지</a:t>
            </a:r>
            <a:r>
              <a:rPr lang="en-US" altLang="ko-KR" sz="1200" dirty="0">
                <a:latin typeface="+mn-ea"/>
                <a:ea typeface="+mn-ea"/>
                <a:cs typeface="맑은 고딕"/>
              </a:rPr>
              <a:t> </a:t>
            </a:r>
            <a:r>
              <a:rPr lang="en-US" altLang="ko-KR" sz="1200" dirty="0" smtClean="0">
                <a:latin typeface="+mn-ea"/>
                <a:ea typeface="+mn-ea"/>
                <a:cs typeface="맑은 고딕"/>
              </a:rPr>
              <a:t>:</a:t>
            </a:r>
          </a:p>
          <a:p>
            <a:pPr algn="l" hangingPunct="0">
              <a:spcBef>
                <a:spcPts val="600"/>
              </a:spcBef>
              <a:spcAft>
                <a:spcPts val="0"/>
              </a:spcAft>
            </a:pPr>
            <a:r>
              <a:rPr lang="en-US" altLang="ko-KR" sz="1200" dirty="0" smtClean="0">
                <a:latin typeface="+mn-ea"/>
                <a:ea typeface="+mn-ea"/>
                <a:cs typeface="맑은 고딕"/>
              </a:rPr>
              <a:t> </a:t>
            </a:r>
            <a:r>
              <a:rPr lang="en-US" altLang="ko-KR" sz="1200" dirty="0">
                <a:latin typeface="+mn-ea"/>
                <a:ea typeface="+mn-ea"/>
                <a:cs typeface="맑은 고딕"/>
              </a:rPr>
              <a:t>: [W-Gear </a:t>
            </a:r>
            <a:r>
              <a:rPr lang="ko-KR" altLang="en-US" sz="1200" dirty="0">
                <a:latin typeface="+mn-ea"/>
                <a:ea typeface="+mn-ea"/>
                <a:cs typeface="맑은 고딕"/>
              </a:rPr>
              <a:t>프로세스 오류</a:t>
            </a:r>
            <a:r>
              <a:rPr lang="en-US" altLang="ko-KR" sz="1200" dirty="0">
                <a:latin typeface="+mn-ea"/>
                <a:ea typeface="+mn-ea"/>
                <a:cs typeface="맑은 고딕"/>
              </a:rPr>
              <a:t>]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맑은 고딕"/>
              </a:rPr>
              <a:t>W-Gear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  <a:cs typeface="맑은 고딕"/>
              </a:rPr>
              <a:t>프로세스가 </a:t>
            </a:r>
            <a:r>
              <a:rPr lang="ko-KR" altLang="en-US" sz="1200" dirty="0" smtClean="0">
                <a:solidFill>
                  <a:srgbClr val="FF0000"/>
                </a:solidFill>
                <a:latin typeface="+mn-ea"/>
                <a:ea typeface="+mn-ea"/>
                <a:cs typeface="맑은 고딕"/>
              </a:rPr>
              <a:t>정상 동작하지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  <a:cs typeface="맑은 고딕"/>
              </a:rPr>
              <a:t>않고 않습니다</a:t>
            </a:r>
            <a:r>
              <a:rPr lang="en-US" altLang="ko-KR" sz="1200" dirty="0" smtClean="0">
                <a:solidFill>
                  <a:srgbClr val="FF0000"/>
                </a:solidFill>
                <a:latin typeface="+mn-ea"/>
                <a:ea typeface="+mn-ea"/>
                <a:cs typeface="맑은 고딕"/>
              </a:rPr>
              <a:t>.</a:t>
            </a:r>
          </a:p>
          <a:p>
            <a:pPr marL="171450" indent="-171450" algn="l" hangingPunct="0">
              <a:spcBef>
                <a:spcPts val="600"/>
              </a:spcBef>
              <a:spcAft>
                <a:spcPts val="0"/>
              </a:spcAft>
              <a:buFont typeface="Symbol"/>
              <a:buChar char="Þ"/>
            </a:pPr>
            <a:r>
              <a:rPr lang="ko-KR" altLang="en-US" sz="1200" b="1" kern="0" dirty="0" smtClean="0">
                <a:latin typeface="+mn-ea"/>
                <a:ea typeface="+mn-ea"/>
              </a:rPr>
              <a:t> 원인 </a:t>
            </a:r>
            <a:r>
              <a:rPr lang="en-US" altLang="ko-KR" sz="1200" b="1" kern="0" dirty="0" smtClean="0">
                <a:latin typeface="+mn-ea"/>
                <a:ea typeface="+mn-ea"/>
              </a:rPr>
              <a:t>: </a:t>
            </a:r>
            <a:r>
              <a:rPr lang="ko-KR" altLang="en-US" sz="1200" b="1" kern="0" dirty="0" smtClean="0">
                <a:latin typeface="+mn-ea"/>
                <a:ea typeface="+mn-ea"/>
              </a:rPr>
              <a:t>모듈로딩 오류</a:t>
            </a:r>
            <a:r>
              <a:rPr lang="en-US" altLang="ko-KR" sz="1200" b="1" kern="0" dirty="0" smtClean="0">
                <a:latin typeface="+mn-ea"/>
                <a:ea typeface="+mn-ea"/>
              </a:rPr>
              <a:t>.</a:t>
            </a:r>
          </a:p>
          <a:p>
            <a:pPr algn="l" hangingPunct="0">
              <a:spcBef>
                <a:spcPts val="600"/>
              </a:spcBef>
              <a:spcAft>
                <a:spcPts val="0"/>
              </a:spcAft>
            </a:pPr>
            <a:r>
              <a:rPr kumimoji="1" lang="en-US" altLang="ko-KR" sz="12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    </a:t>
            </a:r>
            <a:r>
              <a:rPr kumimoji="1" lang="en-US" altLang="ko-KR" sz="12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vc</a:t>
            </a:r>
            <a:r>
              <a:rPr kumimoji="1" lang="en-US" altLang="ko-KR" sz="12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++ 2015 </a:t>
            </a:r>
            <a:r>
              <a:rPr kumimoji="1" lang="ko-KR" altLang="en-US" sz="12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재배포</a:t>
            </a:r>
            <a:r>
              <a:rPr kumimoji="1" lang="ko-KR" altLang="en-US" sz="12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 패키지 </a:t>
            </a:r>
            <a:r>
              <a:rPr lang="ko-KR" altLang="en-US" sz="1200" b="1" kern="0" dirty="0" smtClean="0">
                <a:latin typeface="+mn-ea"/>
                <a:ea typeface="+mn-ea"/>
              </a:rPr>
              <a:t>설치오류 가능성 높음</a:t>
            </a:r>
            <a:r>
              <a:rPr lang="en-US" altLang="ko-KR" sz="1200" b="1" kern="0" dirty="0" smtClean="0">
                <a:latin typeface="+mn-ea"/>
                <a:ea typeface="+mn-ea"/>
              </a:rPr>
              <a:t>. </a:t>
            </a:r>
          </a:p>
          <a:p>
            <a:pPr algn="l" hangingPunct="0">
              <a:spcBef>
                <a:spcPts val="600"/>
              </a:spcBef>
              <a:spcAft>
                <a:spcPts val="0"/>
              </a:spcAft>
            </a:pPr>
            <a:r>
              <a:rPr lang="en-US" altLang="ko-KR" sz="1200" b="1" kern="0" dirty="0">
                <a:solidFill>
                  <a:srgbClr val="0000CC"/>
                </a:solidFill>
                <a:latin typeface="+mn-ea"/>
                <a:ea typeface="+mn-ea"/>
              </a:rPr>
              <a:t> </a:t>
            </a:r>
            <a:r>
              <a:rPr lang="en-US" altLang="ko-KR" sz="1200" b="1" kern="0" dirty="0" smtClean="0">
                <a:solidFill>
                  <a:srgbClr val="0000CC"/>
                </a:solidFill>
                <a:latin typeface="+mn-ea"/>
                <a:ea typeface="+mn-ea"/>
              </a:rPr>
              <a:t>   </a:t>
            </a:r>
            <a:r>
              <a:rPr lang="ko-KR" altLang="en-US" sz="1200" b="1" kern="0" dirty="0" smtClean="0">
                <a:solidFill>
                  <a:srgbClr val="0000CC"/>
                </a:solidFill>
                <a:latin typeface="+mn-ea"/>
                <a:ea typeface="+mn-ea"/>
              </a:rPr>
              <a:t>조치 </a:t>
            </a:r>
            <a:r>
              <a:rPr lang="en-US" altLang="ko-KR" sz="1200" b="1" kern="0" dirty="0" smtClean="0">
                <a:solidFill>
                  <a:srgbClr val="0000CC"/>
                </a:solidFill>
                <a:latin typeface="+mn-ea"/>
                <a:ea typeface="+mn-ea"/>
              </a:rPr>
              <a:t>:  </a:t>
            </a:r>
            <a:r>
              <a:rPr lang="en-US" altLang="ko-KR" sz="1200" b="1" kern="0" dirty="0" err="1" smtClean="0">
                <a:solidFill>
                  <a:srgbClr val="0000CC"/>
                </a:solidFill>
                <a:latin typeface="+mn-ea"/>
                <a:ea typeface="+mn-ea"/>
              </a:rPr>
              <a:t>vc</a:t>
            </a:r>
            <a:r>
              <a:rPr lang="en-US" altLang="ko-KR" sz="1200" b="1" kern="0" dirty="0" smtClean="0">
                <a:solidFill>
                  <a:srgbClr val="0000CC"/>
                </a:solidFill>
                <a:latin typeface="+mn-ea"/>
                <a:ea typeface="+mn-ea"/>
              </a:rPr>
              <a:t>++ </a:t>
            </a:r>
            <a:r>
              <a:rPr lang="ko-KR" altLang="en-US" sz="1200" b="1" kern="0" dirty="0" smtClean="0">
                <a:solidFill>
                  <a:srgbClr val="0000CC"/>
                </a:solidFill>
                <a:latin typeface="+mn-ea"/>
                <a:ea typeface="+mn-ea"/>
              </a:rPr>
              <a:t>재설치 후 재 로그인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/>
        </p:nvSpPr>
        <p:spPr bwMode="auto">
          <a:xfrm>
            <a:off x="7027334" y="5160687"/>
            <a:ext cx="2414378" cy="1431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5725" indent="-85725" algn="l" hangingPunc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+mn-ea"/>
                <a:ea typeface="+mn-ea"/>
                <a:cs typeface="맑은 고딕"/>
              </a:rPr>
              <a:t>아이콘 </a:t>
            </a:r>
            <a:r>
              <a:rPr lang="ko-KR" altLang="ko-KR" sz="1200" dirty="0" smtClean="0">
                <a:latin typeface="+mn-ea"/>
                <a:ea typeface="+mn-ea"/>
                <a:cs typeface="맑은 고딕"/>
              </a:rPr>
              <a:t>마우스 오버</a:t>
            </a:r>
            <a:r>
              <a:rPr lang="en-US" altLang="ko-KR" sz="1200" dirty="0" smtClean="0">
                <a:latin typeface="+mn-ea"/>
                <a:ea typeface="+mn-ea"/>
                <a:cs typeface="맑은 고딕"/>
              </a:rPr>
              <a:t> </a:t>
            </a:r>
            <a:r>
              <a:rPr lang="ko-KR" altLang="ko-KR" sz="1200" dirty="0" smtClean="0">
                <a:latin typeface="+mn-ea"/>
                <a:ea typeface="+mn-ea"/>
                <a:cs typeface="맑은 고딕"/>
              </a:rPr>
              <a:t>시 </a:t>
            </a:r>
            <a:r>
              <a:rPr lang="ko-KR" altLang="ko-KR" sz="1200" dirty="0">
                <a:latin typeface="+mn-ea"/>
                <a:ea typeface="+mn-ea"/>
                <a:cs typeface="맑은 고딕"/>
              </a:rPr>
              <a:t>메시지</a:t>
            </a:r>
            <a:r>
              <a:rPr lang="en-US" altLang="ko-KR" sz="1200" dirty="0">
                <a:latin typeface="+mn-ea"/>
                <a:ea typeface="+mn-ea"/>
                <a:cs typeface="맑은 고딕"/>
              </a:rPr>
              <a:t> </a:t>
            </a:r>
            <a:r>
              <a:rPr lang="en-US" altLang="ko-KR" sz="1200" dirty="0" smtClean="0">
                <a:latin typeface="+mn-ea"/>
                <a:ea typeface="+mn-ea"/>
                <a:cs typeface="맑은 고딕"/>
              </a:rPr>
              <a:t>:</a:t>
            </a:r>
          </a:p>
          <a:p>
            <a:pPr algn="l" hangingPunct="0">
              <a:spcBef>
                <a:spcPts val="600"/>
              </a:spcBef>
              <a:spcAft>
                <a:spcPts val="0"/>
              </a:spcAft>
            </a:pPr>
            <a:r>
              <a:rPr lang="en-US" altLang="ko-KR" sz="1200" dirty="0" smtClean="0">
                <a:latin typeface="+mn-ea"/>
                <a:ea typeface="+mn-ea"/>
                <a:cs typeface="맑은 고딕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맑은 고딕"/>
              </a:rPr>
              <a:t>[Push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  <a:cs typeface="맑은 고딕"/>
              </a:rPr>
              <a:t>프로세스 오류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맑은 고딕"/>
              </a:rPr>
              <a:t>] On-demand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  <a:cs typeface="맑은 고딕"/>
              </a:rPr>
              <a:t>처리와 긴급메시지 수신에 오류가 있습니다</a:t>
            </a:r>
            <a:r>
              <a:rPr lang="en-US" altLang="ko-KR" sz="1200" dirty="0" smtClean="0">
                <a:solidFill>
                  <a:srgbClr val="FF0000"/>
                </a:solidFill>
                <a:latin typeface="+mn-ea"/>
                <a:ea typeface="+mn-ea"/>
                <a:cs typeface="맑은 고딕"/>
              </a:rPr>
              <a:t>.</a:t>
            </a:r>
          </a:p>
          <a:p>
            <a:pPr marL="171450" indent="-171450" algn="l" hangingPunct="0">
              <a:spcBef>
                <a:spcPts val="600"/>
              </a:spcBef>
              <a:spcAft>
                <a:spcPts val="0"/>
              </a:spcAft>
              <a:buFont typeface="Symbol"/>
              <a:buChar char="Þ"/>
            </a:pPr>
            <a:r>
              <a:rPr lang="ko-KR" altLang="en-US" sz="1200" b="1" kern="0" dirty="0" smtClean="0">
                <a:latin typeface="+mn-ea"/>
                <a:ea typeface="+mn-ea"/>
              </a:rPr>
              <a:t>원인 </a:t>
            </a:r>
            <a:r>
              <a:rPr lang="en-US" altLang="ko-KR" sz="1200" b="1" kern="0" dirty="0" smtClean="0">
                <a:latin typeface="+mn-ea"/>
                <a:ea typeface="+mn-ea"/>
              </a:rPr>
              <a:t>: Push</a:t>
            </a:r>
            <a:r>
              <a:rPr lang="ko-KR" altLang="en-US" sz="1200" b="1" kern="0" dirty="0" smtClean="0">
                <a:latin typeface="+mn-ea"/>
                <a:ea typeface="+mn-ea"/>
              </a:rPr>
              <a:t>서버와 통신오류</a:t>
            </a:r>
            <a:endParaRPr lang="en-US" altLang="ko-KR" sz="1200" b="1" kern="0" dirty="0" smtClean="0">
              <a:latin typeface="+mn-ea"/>
              <a:ea typeface="+mn-ea"/>
            </a:endParaRPr>
          </a:p>
          <a:p>
            <a:pPr algn="l" hangingPunct="0">
              <a:spcBef>
                <a:spcPts val="600"/>
              </a:spcBef>
              <a:spcAft>
                <a:spcPts val="0"/>
              </a:spcAft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ea"/>
                <a:ea typeface="+mn-ea"/>
              </a:rPr>
              <a:t>  </a:t>
            </a:r>
            <a:r>
              <a:rPr kumimoji="1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ea"/>
                <a:ea typeface="+mn-ea"/>
              </a:rPr>
              <a:t>조치 </a:t>
            </a:r>
            <a:r>
              <a:rPr kumimoji="1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ea"/>
                <a:ea typeface="+mn-ea"/>
              </a:rPr>
              <a:t>: </a:t>
            </a:r>
            <a:r>
              <a:rPr kumimoji="1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ea"/>
                <a:ea typeface="+mn-ea"/>
              </a:rPr>
              <a:t>방화벽 </a:t>
            </a:r>
            <a:r>
              <a:rPr kumimoji="1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ea"/>
                <a:ea typeface="+mn-ea"/>
              </a:rPr>
              <a:t>Open </a:t>
            </a:r>
            <a:r>
              <a:rPr kumimoji="1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ea"/>
                <a:ea typeface="+mn-ea"/>
              </a:rPr>
              <a:t>확인하기</a:t>
            </a:r>
          </a:p>
        </p:txBody>
      </p:sp>
    </p:spTree>
    <p:extLst>
      <p:ext uri="{BB962C8B-B14F-4D97-AF65-F5344CB8AC3E}">
        <p14:creationId xmlns:p14="http://schemas.microsoft.com/office/powerpoint/2010/main" xmlns="" val="2133485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백업</a:t>
            </a:r>
            <a:r>
              <a:rPr lang="en-US" altLang="ko-KR" dirty="0" smtClean="0"/>
              <a:t>2] VC++ 2015 </a:t>
            </a:r>
            <a:r>
              <a:rPr lang="ko-KR" altLang="en-US" dirty="0" smtClean="0"/>
              <a:t>재 배포 </a:t>
            </a:r>
            <a:r>
              <a:rPr lang="en-US" altLang="ko-KR" dirty="0" smtClean="0"/>
              <a:t>Package </a:t>
            </a:r>
            <a:r>
              <a:rPr lang="ko-KR" altLang="en-US" dirty="0" smtClean="0"/>
              <a:t>삭제 가이드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smtClean="0"/>
              <a:t>사용자 </a:t>
            </a:r>
            <a:r>
              <a:rPr lang="en-US" altLang="ko-KR" dirty="0" smtClean="0"/>
              <a:t>PC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Window &gt; </a:t>
            </a:r>
            <a:r>
              <a:rPr lang="ko-KR" altLang="en-US" dirty="0" smtClean="0"/>
              <a:t>제어판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프로그램 및 기능 </a:t>
            </a:r>
            <a:r>
              <a:rPr lang="en-US" altLang="ko-KR" dirty="0" smtClean="0"/>
              <a:t>&gt; Microsoft Visual C++ 2015 </a:t>
            </a:r>
            <a:r>
              <a:rPr lang="ko-KR" altLang="en-US" dirty="0" smtClean="0"/>
              <a:t>이름의 프로그램을 모두 삭제함 </a:t>
            </a:r>
            <a:r>
              <a:rPr lang="en-US" altLang="ko-KR" dirty="0" smtClean="0"/>
              <a:t>( 1</a:t>
            </a:r>
            <a:r>
              <a:rPr lang="ko-KR" altLang="en-US" dirty="0" smtClean="0"/>
              <a:t>개 이상 있을 수 있음 </a:t>
            </a:r>
            <a:r>
              <a:rPr lang="en-US" altLang="ko-KR" dirty="0" smtClean="0"/>
              <a:t>) – </a:t>
            </a:r>
            <a:r>
              <a:rPr lang="ko-KR" altLang="en-US" dirty="0" smtClean="0"/>
              <a:t>선택 후 우측마우스 클릭하여 </a:t>
            </a:r>
            <a:r>
              <a:rPr lang="en-US" altLang="ko-KR" dirty="0" smtClean="0"/>
              <a:t>[</a:t>
            </a:r>
            <a:r>
              <a:rPr lang="ko-KR" altLang="en-US" dirty="0" smtClean="0"/>
              <a:t>제거</a:t>
            </a:r>
            <a:r>
              <a:rPr lang="en-US" altLang="ko-KR" dirty="0" smtClean="0"/>
              <a:t>] </a:t>
            </a:r>
            <a:r>
              <a:rPr lang="ko-KR" altLang="en-US" dirty="0" smtClean="0"/>
              <a:t>함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614097" y="1552352"/>
            <a:ext cx="3293029" cy="229663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81283" y="1621463"/>
            <a:ext cx="4742121" cy="220094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04037" y="3997842"/>
            <a:ext cx="8782493" cy="2628230"/>
          </a:xfrm>
          <a:prstGeom prst="rect">
            <a:avLst/>
          </a:prstGeom>
        </p:spPr>
      </p:pic>
      <p:sp>
        <p:nvSpPr>
          <p:cNvPr id="4" name="오른쪽 화살표 3"/>
          <p:cNvSpPr/>
          <p:nvPr/>
        </p:nvSpPr>
        <p:spPr bwMode="auto">
          <a:xfrm>
            <a:off x="3987209" y="2190307"/>
            <a:ext cx="350875" cy="648586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오른쪽 화살표 7"/>
          <p:cNvSpPr/>
          <p:nvPr/>
        </p:nvSpPr>
        <p:spPr bwMode="auto">
          <a:xfrm rot="5400000">
            <a:off x="6676908" y="3455580"/>
            <a:ext cx="350875" cy="648586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 bwMode="auto">
          <a:xfrm>
            <a:off x="5868833" y="2897372"/>
            <a:ext cx="1967023" cy="457200"/>
          </a:xfrm>
          <a:prstGeom prst="rect">
            <a:avLst/>
          </a:prstGeom>
          <a:solidFill>
            <a:srgbClr val="0000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  <a:latin typeface="+mn-ea"/>
                <a:ea typeface="+mn-ea"/>
              </a:rPr>
              <a:t>프로그램 및 기능</a:t>
            </a:r>
            <a:endParaRPr lang="ko-KR" altLang="en-US" sz="1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2381693" y="2286000"/>
            <a:ext cx="1147977" cy="457200"/>
          </a:xfrm>
          <a:prstGeom prst="rect">
            <a:avLst/>
          </a:prstGeom>
          <a:solidFill>
            <a:srgbClr val="0000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ko-KR" altLang="en-US" sz="1400" b="1" smtClean="0">
                <a:solidFill>
                  <a:schemeClr val="bg1"/>
                </a:solidFill>
                <a:latin typeface="+mn-ea"/>
                <a:ea typeface="+mn-ea"/>
              </a:rPr>
              <a:t>제어판</a:t>
            </a:r>
            <a:endParaRPr lang="ko-KR" altLang="en-US" sz="1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1733107" y="5311957"/>
            <a:ext cx="6400800" cy="457200"/>
          </a:xfrm>
          <a:prstGeom prst="rect">
            <a:avLst/>
          </a:prstGeom>
          <a:solidFill>
            <a:srgbClr val="0000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r>
              <a:rPr lang="en-US" altLang="ko-KR" sz="1400" b="1" dirty="0">
                <a:solidFill>
                  <a:schemeClr val="bg1"/>
                </a:solidFill>
                <a:latin typeface="+mn-ea"/>
                <a:ea typeface="+mn-ea"/>
              </a:rPr>
              <a:t>Microsoft Visual C++ 2015 </a:t>
            </a:r>
            <a:r>
              <a:rPr lang="ko-KR" altLang="en-US" sz="1400" b="1" dirty="0" smtClean="0">
                <a:solidFill>
                  <a:schemeClr val="bg1"/>
                </a:solidFill>
                <a:latin typeface="+mn-ea"/>
                <a:ea typeface="+mn-ea"/>
              </a:rPr>
              <a:t>로 시작하는 프로그램 모두 선택</a:t>
            </a:r>
            <a:r>
              <a:rPr lang="en-US" altLang="ko-KR" sz="1400" b="1" dirty="0" smtClean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ko-KR" altLang="en-US" sz="1400" b="1" dirty="0" smtClean="0">
                <a:solidFill>
                  <a:schemeClr val="bg1"/>
                </a:solidFill>
                <a:latin typeface="+mn-ea"/>
                <a:ea typeface="+mn-ea"/>
              </a:rPr>
              <a:t>제거함</a:t>
            </a:r>
            <a:endParaRPr lang="ko-KR" altLang="en-US" sz="1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43497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 smtClean="0"/>
              <a:t>백업</a:t>
            </a:r>
            <a:r>
              <a:rPr lang="en-US" altLang="ko-KR" dirty="0" smtClean="0"/>
              <a:t>3] </a:t>
            </a:r>
            <a:r>
              <a:rPr lang="en-US" altLang="ko-KR" dirty="0"/>
              <a:t>VC++ 2015 </a:t>
            </a:r>
            <a:r>
              <a:rPr lang="ko-KR" altLang="en-US" dirty="0"/>
              <a:t>재 배포 </a:t>
            </a:r>
            <a:r>
              <a:rPr lang="en-US" altLang="ko-KR" dirty="0"/>
              <a:t>Package </a:t>
            </a:r>
            <a:r>
              <a:rPr lang="ko-KR" altLang="en-US" dirty="0" smtClean="0"/>
              <a:t>설</a:t>
            </a:r>
            <a:r>
              <a:rPr lang="ko-KR" altLang="en-US" dirty="0"/>
              <a:t>치</a:t>
            </a:r>
            <a:r>
              <a:rPr lang="ko-KR" altLang="en-US" dirty="0" smtClean="0"/>
              <a:t> 가이드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501551" y="1991285"/>
            <a:ext cx="8880401" cy="1878623"/>
          </a:xfrm>
        </p:spPr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en-US" altLang="ko-KR" dirty="0" smtClean="0"/>
              <a:t>Microsoft </a:t>
            </a:r>
            <a:r>
              <a:rPr lang="ko-KR" altLang="en-US" dirty="0" smtClean="0"/>
              <a:t>필수 </a:t>
            </a:r>
            <a:r>
              <a:rPr lang="en-US" altLang="ko-KR" dirty="0" smtClean="0"/>
              <a:t>Update</a:t>
            </a:r>
            <a:r>
              <a:rPr lang="ko-KR" altLang="en-US" dirty="0" smtClean="0"/>
              <a:t>를 설치 한다</a:t>
            </a:r>
            <a:r>
              <a:rPr lang="en-US" altLang="ko-KR" dirty="0" smtClean="0"/>
              <a:t>.</a:t>
            </a:r>
          </a:p>
          <a:p>
            <a:pPr marL="779178" lvl="1" indent="-342900">
              <a:buAutoNum type="arabicPeriod"/>
            </a:pPr>
            <a:r>
              <a:rPr lang="ko-KR" altLang="en-US" dirty="0" smtClean="0"/>
              <a:t>다운로드 받은 </a:t>
            </a:r>
            <a:r>
              <a:rPr lang="en-US" altLang="ko-KR" dirty="0" smtClean="0"/>
              <a:t>WindowsUCRT_170110.zip</a:t>
            </a:r>
            <a:r>
              <a:rPr lang="ko-KR" altLang="en-US" dirty="0" smtClean="0"/>
              <a:t>의 압축을 해제한다</a:t>
            </a:r>
            <a:r>
              <a:rPr lang="en-US" altLang="ko-KR" dirty="0" smtClean="0"/>
              <a:t>.</a:t>
            </a:r>
          </a:p>
          <a:p>
            <a:pPr marL="779178" lvl="1" indent="-342900">
              <a:buFontTx/>
              <a:buAutoNum type="arabicPeriod"/>
            </a:pPr>
            <a:r>
              <a:rPr lang="en-US" altLang="ko-KR" dirty="0" smtClean="0"/>
              <a:t>Windows OS</a:t>
            </a:r>
            <a:r>
              <a:rPr lang="ko-KR" altLang="en-US" dirty="0" smtClean="0"/>
              <a:t>에 맞는 실행 파일을 선택하여 설치한다</a:t>
            </a:r>
            <a:r>
              <a:rPr lang="en-US" altLang="ko-KR" dirty="0" smtClean="0"/>
              <a:t>. </a:t>
            </a:r>
          </a:p>
          <a:p>
            <a:pPr lvl="1" indent="0">
              <a:buNone/>
            </a:pPr>
            <a:r>
              <a:rPr lang="ko-KR" altLang="en-US" dirty="0" smtClean="0"/>
              <a:t>예</a:t>
            </a:r>
            <a:r>
              <a:rPr lang="en-US" altLang="ko-KR" dirty="0" smtClean="0"/>
              <a:t>) </a:t>
            </a:r>
            <a:r>
              <a:rPr lang="ko-KR" altLang="en-US" dirty="0" smtClean="0"/>
              <a:t>윈도우</a:t>
            </a:r>
            <a:r>
              <a:rPr lang="en-US" altLang="ko-KR" dirty="0" smtClean="0"/>
              <a:t>7 SP1 32bit: Windows6.1-KB2999226-x86.msu, </a:t>
            </a:r>
            <a:r>
              <a:rPr lang="ko-KR" altLang="en-US" dirty="0" smtClean="0"/>
              <a:t>윈도우</a:t>
            </a:r>
            <a:r>
              <a:rPr lang="en-US" altLang="ko-KR" dirty="0" smtClean="0"/>
              <a:t>7 SP1 64bit: Windows6.1-KB2999226-x64.msu </a:t>
            </a:r>
          </a:p>
          <a:p>
            <a:pPr marL="779178" lvl="1" indent="-342900">
              <a:buFont typeface="+mj-lt"/>
              <a:buAutoNum type="arabicPeriod" startAt="3"/>
            </a:pPr>
            <a:r>
              <a:rPr lang="ko-KR" altLang="en-US" dirty="0"/>
              <a:t>이미 설치되어 있는 </a:t>
            </a:r>
            <a:r>
              <a:rPr lang="ko-KR" altLang="en-US" dirty="0" smtClean="0"/>
              <a:t>경우에는 </a:t>
            </a:r>
            <a:r>
              <a:rPr lang="en-US" altLang="ko-KR" dirty="0" smtClean="0"/>
              <a:t>“Windows</a:t>
            </a:r>
            <a:r>
              <a:rPr lang="ko-KR" altLang="en-US" dirty="0" smtClean="0"/>
              <a:t>용 업데이트</a:t>
            </a:r>
            <a:r>
              <a:rPr lang="en-US" altLang="ko-KR" dirty="0" smtClean="0"/>
              <a:t>(KB……)</a:t>
            </a:r>
            <a:r>
              <a:rPr lang="ko-KR" altLang="en-US" dirty="0" smtClean="0"/>
              <a:t>이</a:t>
            </a:r>
            <a:r>
              <a:rPr lang="en-US" altLang="ko-KR" dirty="0" smtClean="0"/>
              <a:t>(</a:t>
            </a:r>
            <a:r>
              <a:rPr lang="ko-KR" altLang="en-US" dirty="0" smtClean="0"/>
              <a:t>가</a:t>
            </a:r>
            <a:r>
              <a:rPr lang="en-US" altLang="ko-KR" dirty="0" smtClean="0"/>
              <a:t>) </a:t>
            </a:r>
            <a:r>
              <a:rPr lang="ko-KR" altLang="en-US" dirty="0" smtClean="0"/>
              <a:t>이 컴퓨터에 설치되어 있습니다</a:t>
            </a:r>
            <a:r>
              <a:rPr lang="en-US" altLang="ko-KR" dirty="0" smtClean="0"/>
              <a:t>.” </a:t>
            </a:r>
            <a:r>
              <a:rPr lang="ko-KR" altLang="en-US" dirty="0" smtClean="0"/>
              <a:t>메시지 창이 나오며 이 경우 바로 </a:t>
            </a:r>
            <a:r>
              <a:rPr lang="en-US" altLang="ko-KR" dirty="0" smtClean="0"/>
              <a:t>VC++ 2015 </a:t>
            </a:r>
            <a:r>
              <a:rPr lang="ko-KR" altLang="en-US" dirty="0" smtClean="0"/>
              <a:t>설치하면 된다</a:t>
            </a:r>
            <a:r>
              <a:rPr lang="en-US" altLang="ko-KR" dirty="0" smtClean="0"/>
              <a:t>.</a:t>
            </a:r>
          </a:p>
          <a:p>
            <a:pPr marL="779178" lvl="1" indent="-342900">
              <a:buFont typeface="+mj-lt"/>
              <a:buAutoNum type="arabicPeriod" startAt="3"/>
            </a:pPr>
            <a:r>
              <a:rPr lang="en-US" altLang="ko-KR" dirty="0" smtClean="0"/>
              <a:t>OS</a:t>
            </a:r>
            <a:r>
              <a:rPr lang="ko-KR" altLang="en-US" dirty="0" smtClean="0"/>
              <a:t>에 맞지 않는 실행 파일을 선택했을 경우 </a:t>
            </a:r>
            <a:r>
              <a:rPr lang="en-US" altLang="ko-KR" dirty="0" smtClean="0"/>
              <a:t>“</a:t>
            </a:r>
            <a:r>
              <a:rPr lang="ko-KR" altLang="en-US" dirty="0" smtClean="0"/>
              <a:t>업데이트를 컴퓨터에 적용할 수 없습니다</a:t>
            </a:r>
            <a:r>
              <a:rPr lang="en-US" altLang="ko-KR" dirty="0" smtClean="0"/>
              <a:t>.”</a:t>
            </a:r>
            <a:r>
              <a:rPr lang="ko-KR" altLang="en-US" dirty="0" smtClean="0"/>
              <a:t>라는 메시지 창이 나오며 이 경우는 맞는 실행 파일을 확인하여 다시 설치를 한다</a:t>
            </a:r>
            <a:r>
              <a:rPr lang="en-US" altLang="ko-KR" dirty="0" smtClean="0"/>
              <a:t>.</a:t>
            </a:r>
          </a:p>
          <a:p>
            <a:pPr marL="779178" lvl="1" indent="-342900">
              <a:buFont typeface="+mj-lt"/>
              <a:buAutoNum type="arabicPeriod" startAt="3"/>
            </a:pPr>
            <a:r>
              <a:rPr lang="ko-KR" altLang="en-US" dirty="0" smtClean="0"/>
              <a:t>설치가 완료되었을 경우 </a:t>
            </a:r>
            <a:r>
              <a:rPr lang="en-US" altLang="ko-KR" dirty="0" smtClean="0"/>
              <a:t>VC++ </a:t>
            </a:r>
            <a:r>
              <a:rPr lang="ko-KR" altLang="en-US" dirty="0" err="1" smtClean="0"/>
              <a:t>재배포</a:t>
            </a:r>
            <a:r>
              <a:rPr lang="ko-KR" altLang="en-US" dirty="0" smtClean="0"/>
              <a:t> </a:t>
            </a:r>
            <a:r>
              <a:rPr lang="en-US" altLang="ko-KR" dirty="0" smtClean="0"/>
              <a:t>Package </a:t>
            </a:r>
            <a:r>
              <a:rPr lang="ko-KR" altLang="en-US" dirty="0" smtClean="0"/>
              <a:t>설치를 한다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pPr lvl="1" indent="0">
              <a:buNone/>
            </a:pPr>
            <a:r>
              <a:rPr lang="en-US" altLang="ko-KR" dirty="0" smtClean="0"/>
              <a:t> </a:t>
            </a:r>
          </a:p>
          <a:p>
            <a:pPr marL="342900" indent="-342900">
              <a:buAutoNum type="arabicPeriod" startAt="2"/>
            </a:pPr>
            <a:endParaRPr lang="en-US" altLang="ko-KR" dirty="0" smtClean="0"/>
          </a:p>
          <a:p>
            <a:pPr marL="342900" indent="-342900">
              <a:buAutoNum type="arabicPeriod" startAt="2"/>
            </a:pPr>
            <a:endParaRPr lang="ko-KR" altLang="en-US" dirty="0"/>
          </a:p>
        </p:txBody>
      </p:sp>
      <p:sp>
        <p:nvSpPr>
          <p:cNvPr id="6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501551" y="3933995"/>
            <a:ext cx="8880401" cy="675586"/>
          </a:xfrm>
        </p:spPr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en-US" altLang="ko-KR" dirty="0" smtClean="0"/>
              <a:t>VC++ 2015 </a:t>
            </a:r>
            <a:r>
              <a:rPr lang="ko-KR" altLang="en-US" dirty="0" err="1" smtClean="0"/>
              <a:t>재배포</a:t>
            </a:r>
            <a:r>
              <a:rPr lang="ko-KR" altLang="en-US" dirty="0" smtClean="0"/>
              <a:t> 패키지 설치</a:t>
            </a:r>
            <a:endParaRPr lang="en-US" altLang="ko-KR" dirty="0" smtClean="0"/>
          </a:p>
          <a:p>
            <a:pPr marL="779178" lvl="1" indent="-342900">
              <a:buFont typeface="+mj-lt"/>
              <a:buAutoNum type="arabicPeriod"/>
            </a:pPr>
            <a:r>
              <a:rPr lang="ko-KR" altLang="en-US" dirty="0" smtClean="0"/>
              <a:t>다운로드 받은 </a:t>
            </a:r>
            <a:r>
              <a:rPr lang="en-US" altLang="ko-KR" dirty="0" smtClean="0"/>
              <a:t>vc_redist.x86.exe</a:t>
            </a:r>
            <a:r>
              <a:rPr lang="ko-KR" altLang="en-US" dirty="0" smtClean="0"/>
              <a:t>를 실행한다</a:t>
            </a:r>
            <a:r>
              <a:rPr lang="en-US" altLang="ko-KR" dirty="0" smtClean="0"/>
              <a:t>.</a:t>
            </a:r>
          </a:p>
          <a:p>
            <a:pPr marL="779178" lvl="1" indent="-342900">
              <a:buFont typeface="+mj-lt"/>
              <a:buAutoNum type="arabicPeriod"/>
            </a:pPr>
            <a:r>
              <a:rPr lang="ko-KR" altLang="en-US" dirty="0" smtClean="0"/>
              <a:t>설치 완료되어 설치 성공을 확인한다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8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501551" y="775537"/>
            <a:ext cx="8880401" cy="1258301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ko-KR" dirty="0" smtClean="0"/>
              <a:t>Microsoft </a:t>
            </a:r>
            <a:r>
              <a:rPr lang="ko-KR" altLang="en-US" dirty="0" smtClean="0"/>
              <a:t>필수 </a:t>
            </a:r>
            <a:r>
              <a:rPr lang="en-US" altLang="ko-KR" dirty="0" smtClean="0"/>
              <a:t>Update </a:t>
            </a:r>
            <a:r>
              <a:rPr lang="ko-KR" altLang="en-US" dirty="0" smtClean="0"/>
              <a:t>설치 확인 </a:t>
            </a:r>
            <a:endParaRPr lang="en-US" altLang="ko-KR" dirty="0" smtClean="0"/>
          </a:p>
          <a:p>
            <a:pPr marL="779178" lvl="1" indent="-342900">
              <a:buFont typeface="+mj-lt"/>
              <a:buAutoNum type="arabicPeriod"/>
            </a:pPr>
            <a:r>
              <a:rPr lang="ko-KR" altLang="en-US" dirty="0" smtClean="0"/>
              <a:t>제어판</a:t>
            </a:r>
            <a:r>
              <a:rPr lang="en-US" altLang="ko-KR" dirty="0" smtClean="0"/>
              <a:t>\</a:t>
            </a:r>
            <a:r>
              <a:rPr lang="ko-KR" altLang="en-US" dirty="0" smtClean="0"/>
              <a:t>모든 제어판 항목</a:t>
            </a:r>
            <a:r>
              <a:rPr lang="en-US" altLang="ko-KR" dirty="0" smtClean="0"/>
              <a:t>\</a:t>
            </a:r>
            <a:r>
              <a:rPr lang="ko-KR" altLang="en-US" dirty="0" smtClean="0"/>
              <a:t>프로그램 및 기능에서 설치된 업데이트 보기를 선택한다</a:t>
            </a:r>
            <a:r>
              <a:rPr lang="en-US" altLang="ko-KR" dirty="0" smtClean="0"/>
              <a:t>.</a:t>
            </a:r>
          </a:p>
          <a:p>
            <a:pPr marL="779178" lvl="1" indent="-342900">
              <a:buFont typeface="+mj-lt"/>
              <a:buAutoNum type="arabicPeriod"/>
            </a:pPr>
            <a:r>
              <a:rPr lang="en-US" altLang="ko-KR" dirty="0" smtClean="0"/>
              <a:t>KB3118401(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KB2999226)</a:t>
            </a:r>
            <a:r>
              <a:rPr lang="ko-KR" altLang="en-US" dirty="0" smtClean="0"/>
              <a:t>이 설치되어 있는지 확인한다</a:t>
            </a:r>
            <a:r>
              <a:rPr lang="en-US" altLang="ko-KR" dirty="0" smtClean="0"/>
              <a:t>.</a:t>
            </a:r>
          </a:p>
          <a:p>
            <a:pPr marL="779178" lvl="1" indent="-342900">
              <a:buFont typeface="+mj-lt"/>
              <a:buAutoNum type="arabicPeriod"/>
            </a:pPr>
            <a:r>
              <a:rPr lang="ko-KR" altLang="en-US" dirty="0" smtClean="0"/>
              <a:t>설치되어 있는 것을 확인했을 경우에는 바로 </a:t>
            </a:r>
            <a:r>
              <a:rPr lang="en-US" altLang="ko-KR" dirty="0" smtClean="0"/>
              <a:t>VC++ 2015 </a:t>
            </a:r>
            <a:r>
              <a:rPr lang="ko-KR" altLang="en-US" dirty="0" err="1" smtClean="0"/>
              <a:t>재배포</a:t>
            </a:r>
            <a:r>
              <a:rPr lang="ko-KR" altLang="en-US" dirty="0" smtClean="0"/>
              <a:t> 패키지 설치를 한다</a:t>
            </a:r>
            <a:r>
              <a:rPr lang="en-US" altLang="ko-KR" dirty="0" smtClean="0"/>
              <a:t>. (3. VC++ 2015 </a:t>
            </a:r>
            <a:r>
              <a:rPr lang="ko-KR" altLang="en-US" dirty="0" err="1" smtClean="0"/>
              <a:t>재배포</a:t>
            </a:r>
            <a:r>
              <a:rPr lang="ko-KR" altLang="en-US" dirty="0" smtClean="0"/>
              <a:t> 패키지 설치</a:t>
            </a:r>
            <a:r>
              <a:rPr lang="en-US" altLang="ko-KR" dirty="0" smtClean="0"/>
              <a:t>)</a:t>
            </a:r>
          </a:p>
          <a:p>
            <a:pPr marL="779178" lvl="1" indent="-342900">
              <a:buFont typeface="+mj-lt"/>
              <a:buAutoNum type="arabicPeriod"/>
            </a:pPr>
            <a:r>
              <a:rPr lang="ko-KR" altLang="en-US" dirty="0" smtClean="0"/>
              <a:t>설치되어 있지 않을 경우에는 </a:t>
            </a:r>
            <a:r>
              <a:rPr lang="en-US" altLang="ko-KR" dirty="0" err="1" smtClean="0"/>
              <a:t>Micorsoft</a:t>
            </a:r>
            <a:r>
              <a:rPr lang="en-US" altLang="ko-KR" dirty="0" smtClean="0"/>
              <a:t> </a:t>
            </a:r>
            <a:r>
              <a:rPr lang="ko-KR" altLang="en-US" dirty="0" smtClean="0"/>
              <a:t>필수 </a:t>
            </a:r>
            <a:r>
              <a:rPr lang="en-US" altLang="ko-KR" dirty="0" smtClean="0"/>
              <a:t>Update</a:t>
            </a:r>
            <a:r>
              <a:rPr lang="ko-KR" altLang="en-US" dirty="0" smtClean="0"/>
              <a:t>를 설치한다</a:t>
            </a:r>
            <a:r>
              <a:rPr lang="en-US" altLang="ko-KR" dirty="0" smtClean="0"/>
              <a:t>. (2. Microsoft </a:t>
            </a:r>
            <a:r>
              <a:rPr lang="ko-KR" altLang="en-US" dirty="0" smtClean="0"/>
              <a:t>필수 </a:t>
            </a:r>
            <a:r>
              <a:rPr lang="en-US" altLang="ko-KR" dirty="0" smtClean="0"/>
              <a:t>Update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10525" y="4705278"/>
            <a:ext cx="2714517" cy="1725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54365" y="4095346"/>
            <a:ext cx="3245041" cy="233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704471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err="1" smtClean="0"/>
              <a:t>미라지웍스</a:t>
            </a:r>
            <a:r>
              <a:rPr lang="ko-KR" altLang="en-US" dirty="0" smtClean="0"/>
              <a:t> 사용자 오류 대응 건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501551" y="2636886"/>
            <a:ext cx="8880401" cy="4019146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dirty="0">
                <a:latin typeface="+mn-ea"/>
              </a:rPr>
              <a:t>조치방법 </a:t>
            </a:r>
            <a:r>
              <a:rPr lang="en-US" altLang="ko-KR" dirty="0">
                <a:latin typeface="+mn-ea"/>
              </a:rPr>
              <a:t>:</a:t>
            </a:r>
            <a:r>
              <a:rPr lang="ko-KR" altLang="en-US" dirty="0">
                <a:latin typeface="+mn-ea"/>
              </a:rPr>
              <a:t>  </a:t>
            </a:r>
          </a:p>
          <a:p>
            <a:r>
              <a:rPr lang="ko-KR" altLang="en-US" sz="1200" dirty="0">
                <a:latin typeface="+mn-ea"/>
              </a:rPr>
              <a:t>     </a:t>
            </a:r>
            <a:r>
              <a:rPr lang="en-US" altLang="ko-KR" sz="1200" dirty="0">
                <a:latin typeface="+mn-ea"/>
              </a:rPr>
              <a:t>1. Local PC</a:t>
            </a:r>
            <a:r>
              <a:rPr lang="ko-KR" altLang="en-US" sz="1200" dirty="0">
                <a:latin typeface="+mn-ea"/>
              </a:rPr>
              <a:t>에서 최신버전을 설치한다</a:t>
            </a:r>
            <a:r>
              <a:rPr lang="en-US" altLang="ko-KR" sz="1200" dirty="0">
                <a:latin typeface="+mn-ea"/>
              </a:rPr>
              <a:t>.</a:t>
            </a:r>
            <a:endParaRPr lang="ko-KR" altLang="en-US" sz="1200" dirty="0">
              <a:latin typeface="+mn-ea"/>
            </a:endParaRPr>
          </a:p>
          <a:p>
            <a:r>
              <a:rPr lang="ko-KR" altLang="en-US" sz="1200" b="0" dirty="0">
                <a:latin typeface="+mn-ea"/>
              </a:rPr>
              <a:t>       </a:t>
            </a:r>
            <a:r>
              <a:rPr lang="en-US" altLang="ko-KR" sz="1200" b="0" dirty="0">
                <a:latin typeface="+mn-ea"/>
              </a:rPr>
              <a:t>( https://swing.sktelecom.com  </a:t>
            </a:r>
            <a:r>
              <a:rPr lang="ko-KR" altLang="en-US" sz="1200" b="0" dirty="0">
                <a:latin typeface="+mn-ea"/>
              </a:rPr>
              <a:t>포탈 접근 후 </a:t>
            </a:r>
            <a:r>
              <a:rPr lang="en-US" altLang="ko-KR" sz="1200" b="0" dirty="0">
                <a:latin typeface="+mn-ea"/>
              </a:rPr>
              <a:t>Swing </a:t>
            </a:r>
            <a:r>
              <a:rPr lang="ko-KR" altLang="en-US" sz="1200" b="0" dirty="0">
                <a:latin typeface="+mn-ea"/>
              </a:rPr>
              <a:t>버튼을 누르면 최신버전인지 확인해서 </a:t>
            </a:r>
            <a:r>
              <a:rPr lang="ko-KR" altLang="en-US" sz="1200" b="0" dirty="0" smtClean="0">
                <a:latin typeface="+mn-ea"/>
              </a:rPr>
              <a:t>설치페이지          </a:t>
            </a:r>
            <a:endParaRPr lang="en-US" altLang="ko-KR" sz="1200" b="0" dirty="0" smtClean="0">
              <a:latin typeface="+mn-ea"/>
            </a:endParaRPr>
          </a:p>
          <a:p>
            <a:r>
              <a:rPr lang="en-US" altLang="ko-KR" sz="1200" b="0" dirty="0">
                <a:latin typeface="+mn-ea"/>
              </a:rPr>
              <a:t> </a:t>
            </a:r>
            <a:r>
              <a:rPr lang="en-US" altLang="ko-KR" sz="1200" b="0" dirty="0" smtClean="0">
                <a:latin typeface="+mn-ea"/>
              </a:rPr>
              <a:t>        </a:t>
            </a:r>
            <a:r>
              <a:rPr lang="ko-KR" altLang="en-US" sz="1200" b="0" dirty="0" smtClean="0">
                <a:latin typeface="+mn-ea"/>
              </a:rPr>
              <a:t>로 </a:t>
            </a:r>
            <a:r>
              <a:rPr lang="ko-KR" altLang="en-US" sz="1200" b="0" dirty="0">
                <a:latin typeface="+mn-ea"/>
              </a:rPr>
              <a:t>이동함</a:t>
            </a:r>
            <a:r>
              <a:rPr lang="en-US" altLang="ko-KR" sz="1200" b="0" dirty="0">
                <a:latin typeface="+mn-ea"/>
              </a:rPr>
              <a:t>.  </a:t>
            </a:r>
            <a:r>
              <a:rPr lang="ko-KR" altLang="en-US" sz="1200" b="0" dirty="0" smtClean="0">
                <a:latin typeface="+mn-ea"/>
              </a:rPr>
              <a:t>설치페이지로 </a:t>
            </a:r>
            <a:r>
              <a:rPr lang="ko-KR" altLang="en-US" sz="1200" b="0" dirty="0">
                <a:latin typeface="+mn-ea"/>
              </a:rPr>
              <a:t>이동하지 않으면 전체 설치된 상태임</a:t>
            </a:r>
            <a:r>
              <a:rPr lang="en-US" altLang="ko-KR" sz="1200" b="0" dirty="0" smtClean="0">
                <a:latin typeface="+mn-ea"/>
              </a:rPr>
              <a:t>.</a:t>
            </a:r>
            <a:r>
              <a:rPr lang="ko-KR" altLang="en-US" sz="1200" b="0" dirty="0" smtClean="0">
                <a:latin typeface="+mn-ea"/>
              </a:rPr>
              <a:t> </a:t>
            </a:r>
            <a:r>
              <a:rPr lang="en-US" altLang="ko-KR" sz="1200" b="0" dirty="0">
                <a:latin typeface="+mn-ea"/>
              </a:rPr>
              <a:t>)</a:t>
            </a:r>
            <a:endParaRPr lang="ko-KR" altLang="en-US" sz="1200" b="0" dirty="0">
              <a:latin typeface="+mn-ea"/>
            </a:endParaRPr>
          </a:p>
          <a:p>
            <a:r>
              <a:rPr lang="ko-KR" altLang="en-US" sz="1200" b="0" dirty="0">
                <a:latin typeface="+mn-ea"/>
              </a:rPr>
              <a:t> </a:t>
            </a:r>
          </a:p>
          <a:p>
            <a:r>
              <a:rPr lang="ko-KR" altLang="en-US" sz="1200" b="0" dirty="0">
                <a:latin typeface="+mn-ea"/>
              </a:rPr>
              <a:t> </a:t>
            </a:r>
            <a:r>
              <a:rPr lang="ko-KR" altLang="en-US" sz="1200" dirty="0">
                <a:latin typeface="+mn-ea"/>
              </a:rPr>
              <a:t>   </a:t>
            </a:r>
            <a:r>
              <a:rPr lang="en-US" altLang="ko-KR" sz="1200" dirty="0" smtClean="0">
                <a:latin typeface="+mn-ea"/>
              </a:rPr>
              <a:t>2. </a:t>
            </a:r>
            <a:r>
              <a:rPr lang="ko-KR" altLang="en-US" sz="1200" dirty="0" err="1">
                <a:latin typeface="+mn-ea"/>
              </a:rPr>
              <a:t>미라지웍스</a:t>
            </a:r>
            <a:r>
              <a:rPr lang="ko-KR" altLang="en-US" sz="1200" dirty="0">
                <a:latin typeface="+mn-ea"/>
              </a:rPr>
              <a:t> 사용 프로세스에 따라 업무 진행</a:t>
            </a:r>
          </a:p>
          <a:p>
            <a:r>
              <a:rPr lang="ko-KR" altLang="en-US" sz="1200" b="0" dirty="0">
                <a:latin typeface="+mn-ea"/>
              </a:rPr>
              <a:t>        </a:t>
            </a:r>
            <a:r>
              <a:rPr lang="en-US" altLang="ko-KR" sz="1200" b="0" dirty="0">
                <a:latin typeface="+mn-ea"/>
              </a:rPr>
              <a:t>- Local PC</a:t>
            </a:r>
            <a:r>
              <a:rPr lang="ko-KR" altLang="en-US" sz="1200" b="0" dirty="0">
                <a:latin typeface="+mn-ea"/>
              </a:rPr>
              <a:t>에서 </a:t>
            </a:r>
            <a:r>
              <a:rPr lang="en-US" altLang="ko-KR" sz="1200" b="0" dirty="0" err="1">
                <a:latin typeface="+mn-ea"/>
              </a:rPr>
              <a:t>SwingProcessStop</a:t>
            </a:r>
            <a:r>
              <a:rPr lang="en-US" altLang="ko-KR" sz="1200" b="0" dirty="0">
                <a:latin typeface="+mn-ea"/>
              </a:rPr>
              <a:t> Icon</a:t>
            </a:r>
            <a:r>
              <a:rPr lang="ko-KR" altLang="en-US" sz="1200" b="0" dirty="0">
                <a:latin typeface="+mn-ea"/>
              </a:rPr>
              <a:t>을 클릭실행 </a:t>
            </a:r>
            <a:r>
              <a:rPr lang="en-US" altLang="ko-KR" sz="1200" b="0" dirty="0">
                <a:latin typeface="+mn-ea"/>
              </a:rPr>
              <a:t>-&gt; </a:t>
            </a:r>
            <a:r>
              <a:rPr lang="ko-KR" altLang="en-US" sz="1200" b="0" dirty="0" err="1">
                <a:latin typeface="+mn-ea"/>
              </a:rPr>
              <a:t>미라지웍스</a:t>
            </a:r>
            <a:r>
              <a:rPr lang="ko-KR" altLang="en-US" sz="1200" b="0" dirty="0">
                <a:latin typeface="+mn-ea"/>
              </a:rPr>
              <a:t> 로그인 </a:t>
            </a:r>
            <a:r>
              <a:rPr lang="en-US" altLang="ko-KR" sz="1200" b="0" dirty="0">
                <a:latin typeface="+mn-ea"/>
              </a:rPr>
              <a:t>-</a:t>
            </a:r>
            <a:endParaRPr lang="ko-KR" altLang="en-US" sz="1200" b="0" dirty="0">
              <a:latin typeface="+mn-ea"/>
            </a:endParaRPr>
          </a:p>
          <a:p>
            <a:r>
              <a:rPr lang="ko-KR" altLang="en-US" sz="1200" b="0" dirty="0">
                <a:latin typeface="+mn-ea"/>
              </a:rPr>
              <a:t>         </a:t>
            </a:r>
            <a:r>
              <a:rPr lang="en-US" altLang="ko-KR" sz="1200" b="0" dirty="0">
                <a:latin typeface="+mn-ea"/>
              </a:rPr>
              <a:t>&gt; </a:t>
            </a:r>
            <a:r>
              <a:rPr lang="ko-KR" altLang="en-US" sz="1200" b="0" dirty="0" err="1">
                <a:latin typeface="+mn-ea"/>
              </a:rPr>
              <a:t>미라지웍스의</a:t>
            </a:r>
            <a:r>
              <a:rPr lang="ko-KR" altLang="en-US" sz="1200" b="0" dirty="0">
                <a:latin typeface="+mn-ea"/>
              </a:rPr>
              <a:t> </a:t>
            </a:r>
            <a:r>
              <a:rPr lang="en-US" altLang="ko-KR" sz="1200" b="0" dirty="0" err="1">
                <a:latin typeface="+mn-ea"/>
              </a:rPr>
              <a:t>SwingProcessStart</a:t>
            </a:r>
            <a:r>
              <a:rPr lang="en-US" altLang="ko-KR" sz="1200" b="0" dirty="0">
                <a:latin typeface="+mn-ea"/>
              </a:rPr>
              <a:t> Icon </a:t>
            </a:r>
            <a:r>
              <a:rPr lang="ko-KR" altLang="en-US" sz="1200" b="0" dirty="0">
                <a:latin typeface="+mn-ea"/>
              </a:rPr>
              <a:t>클릭실행 </a:t>
            </a:r>
            <a:r>
              <a:rPr lang="en-US" altLang="ko-KR" sz="1200" b="0" dirty="0">
                <a:latin typeface="+mn-ea"/>
              </a:rPr>
              <a:t>-&gt; Swing Portal Icon </a:t>
            </a:r>
            <a:r>
              <a:rPr lang="ko-KR" altLang="en-US" sz="1200" b="0" dirty="0">
                <a:latin typeface="+mn-ea"/>
              </a:rPr>
              <a:t>클릭 후 로그인 </a:t>
            </a:r>
            <a:r>
              <a:rPr lang="en-US" altLang="ko-KR" sz="1200" b="0" dirty="0" smtClean="0">
                <a:latin typeface="+mn-ea"/>
              </a:rPr>
              <a:t>-&gt; Swing </a:t>
            </a:r>
            <a:r>
              <a:rPr lang="ko-KR" altLang="en-US" sz="1200" b="0" dirty="0" smtClean="0">
                <a:latin typeface="+mn-ea"/>
              </a:rPr>
              <a:t>접속</a:t>
            </a:r>
            <a:endParaRPr lang="ko-KR" altLang="en-US" sz="1200" b="0" dirty="0">
              <a:latin typeface="+mn-ea"/>
            </a:endParaRPr>
          </a:p>
          <a:p>
            <a:endParaRPr lang="ko-KR" altLang="en-US" sz="1200" b="0" dirty="0">
              <a:latin typeface="+mn-ea"/>
            </a:endParaRPr>
          </a:p>
          <a:p>
            <a:r>
              <a:rPr lang="ko-KR" altLang="en-US" sz="1200" b="0" dirty="0">
                <a:latin typeface="+mn-ea"/>
              </a:rPr>
              <a:t>  </a:t>
            </a:r>
            <a:r>
              <a:rPr lang="ko-KR" altLang="en-US" sz="1200" dirty="0">
                <a:latin typeface="+mn-ea"/>
              </a:rPr>
              <a:t>  </a:t>
            </a:r>
            <a:r>
              <a:rPr lang="en-US" altLang="ko-KR" sz="1200" dirty="0">
                <a:latin typeface="+mn-ea"/>
              </a:rPr>
              <a:t>3</a:t>
            </a:r>
            <a:r>
              <a:rPr lang="en-US" altLang="ko-KR" sz="1200" dirty="0" smtClean="0">
                <a:latin typeface="+mn-ea"/>
              </a:rPr>
              <a:t>. Local PC</a:t>
            </a:r>
            <a:r>
              <a:rPr lang="ko-KR" altLang="en-US" sz="1200" dirty="0" smtClean="0">
                <a:latin typeface="+mn-ea"/>
              </a:rPr>
              <a:t>에서 최신버전을 설치한 후에도 </a:t>
            </a:r>
            <a:r>
              <a:rPr lang="ko-KR" altLang="en-US" sz="1200" dirty="0" smtClean="0">
                <a:solidFill>
                  <a:srgbClr val="FF0000"/>
                </a:solidFill>
                <a:latin typeface="+mn-ea"/>
              </a:rPr>
              <a:t>동일한 알림 창이 발생하는 경우는 </a:t>
            </a:r>
            <a:r>
              <a:rPr lang="ko-KR" altLang="en-US" sz="1200" dirty="0" err="1" smtClean="0">
                <a:latin typeface="+mn-ea"/>
              </a:rPr>
              <a:t>미라지웍스</a:t>
            </a:r>
            <a:r>
              <a:rPr lang="ko-KR" altLang="en-US" sz="1200" dirty="0" smtClean="0">
                <a:latin typeface="+mn-ea"/>
              </a:rPr>
              <a:t> 가상디스크 초기화가 필요함</a:t>
            </a:r>
            <a:r>
              <a:rPr lang="en-US" altLang="ko-KR" sz="1200" dirty="0" smtClean="0">
                <a:latin typeface="+mn-ea"/>
              </a:rPr>
              <a:t>.</a:t>
            </a:r>
          </a:p>
          <a:p>
            <a:r>
              <a:rPr lang="en-US" altLang="ko-KR" dirty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       =&gt; 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/>
              <a:t>( </a:t>
            </a:r>
            <a:r>
              <a:rPr lang="en-US" altLang="ko-KR" dirty="0">
                <a:solidFill>
                  <a:srgbClr val="0000CC"/>
                </a:solidFill>
              </a:rPr>
              <a:t>IT</a:t>
            </a:r>
            <a:r>
              <a:rPr lang="ko-KR" altLang="en-US" dirty="0">
                <a:solidFill>
                  <a:srgbClr val="0000CC"/>
                </a:solidFill>
              </a:rPr>
              <a:t>보안 운영</a:t>
            </a:r>
            <a:r>
              <a:rPr lang="ko-KR" altLang="en-US" dirty="0"/>
              <a:t>으로 지원 </a:t>
            </a:r>
            <a:r>
              <a:rPr lang="ko-KR" altLang="en-US" dirty="0" smtClean="0"/>
              <a:t>요청 </a:t>
            </a:r>
            <a:r>
              <a:rPr lang="en-US" altLang="ko-KR" dirty="0" smtClean="0"/>
              <a:t>) </a:t>
            </a:r>
            <a:r>
              <a:rPr lang="en-US" altLang="ko-KR" dirty="0"/>
              <a:t> </a:t>
            </a:r>
            <a:endParaRPr lang="ko-KR" altLang="en-US" dirty="0"/>
          </a:p>
          <a:p>
            <a:r>
              <a:rPr lang="ko-KR" altLang="en-US" b="0" dirty="0">
                <a:latin typeface="+mn-ea"/>
              </a:rPr>
              <a:t> </a:t>
            </a:r>
            <a:endParaRPr lang="en-US" altLang="ko-KR" b="0" dirty="0" smtClean="0">
              <a:latin typeface="+mn-ea"/>
            </a:endParaRPr>
          </a:p>
          <a:p>
            <a:r>
              <a:rPr lang="ko-KR" altLang="en-US" b="0" dirty="0">
                <a:latin typeface="+mn-ea"/>
              </a:rPr>
              <a:t>  </a:t>
            </a:r>
            <a:r>
              <a:rPr lang="ko-KR" altLang="en-US" sz="1200" b="0" dirty="0">
                <a:latin typeface="+mn-ea"/>
              </a:rPr>
              <a:t> </a:t>
            </a:r>
            <a:r>
              <a:rPr lang="ko-KR" altLang="en-US" sz="1200" b="0" dirty="0" smtClean="0">
                <a:latin typeface="+mn-ea"/>
              </a:rPr>
              <a:t>     </a:t>
            </a:r>
            <a:r>
              <a:rPr lang="en-US" altLang="ko-KR" sz="1200" b="0" dirty="0" smtClean="0">
                <a:latin typeface="+mn-ea"/>
              </a:rPr>
              <a:t>- </a:t>
            </a:r>
            <a:r>
              <a:rPr lang="ko-KR" altLang="en-US" sz="1200" b="0" dirty="0" smtClean="0">
                <a:latin typeface="+mn-ea"/>
              </a:rPr>
              <a:t>참고 </a:t>
            </a:r>
            <a:r>
              <a:rPr lang="en-US" altLang="ko-KR" sz="1200" b="0" dirty="0" smtClean="0">
                <a:latin typeface="+mn-ea"/>
              </a:rPr>
              <a:t>: </a:t>
            </a:r>
            <a:r>
              <a:rPr lang="ko-KR" altLang="en-US" sz="1200" dirty="0" smtClean="0">
                <a:solidFill>
                  <a:srgbClr val="FF0000"/>
                </a:solidFill>
                <a:latin typeface="+mn-ea"/>
              </a:rPr>
              <a:t>가상디스크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삭제 방법 </a:t>
            </a:r>
            <a:r>
              <a:rPr lang="en-US" altLang="ko-KR" sz="1200" b="0" dirty="0">
                <a:latin typeface="+mn-ea"/>
              </a:rPr>
              <a:t>:  </a:t>
            </a:r>
          </a:p>
          <a:p>
            <a:r>
              <a:rPr lang="en-US" altLang="ko-KR" sz="1200" b="0" dirty="0">
                <a:latin typeface="+mn-ea"/>
              </a:rPr>
              <a:t>            Local PC - C:\ProgramData\MirageWorks\MirageWorks2\MigraeWorksVDisk\  </a:t>
            </a:r>
            <a:r>
              <a:rPr lang="ko-KR" altLang="en-US" sz="1200" b="0" dirty="0">
                <a:latin typeface="+mn-ea"/>
              </a:rPr>
              <a:t>경로의  *</a:t>
            </a:r>
            <a:r>
              <a:rPr lang="en-US" altLang="ko-KR" sz="1200" b="0" dirty="0">
                <a:latin typeface="+mn-ea"/>
              </a:rPr>
              <a:t>.</a:t>
            </a:r>
            <a:r>
              <a:rPr lang="en-US" altLang="ko-KR" sz="1200" b="0" dirty="0" err="1">
                <a:latin typeface="+mn-ea"/>
              </a:rPr>
              <a:t>mwi</a:t>
            </a:r>
            <a:r>
              <a:rPr lang="en-US" altLang="ko-KR" sz="1200" b="0" dirty="0">
                <a:latin typeface="+mn-ea"/>
              </a:rPr>
              <a:t> </a:t>
            </a:r>
            <a:r>
              <a:rPr lang="ko-KR" altLang="en-US" sz="1200" b="0" dirty="0">
                <a:latin typeface="+mn-ea"/>
              </a:rPr>
              <a:t>파일을 </a:t>
            </a:r>
            <a:r>
              <a:rPr lang="ko-KR" altLang="en-US" sz="1200" b="0" dirty="0" smtClean="0">
                <a:latin typeface="+mn-ea"/>
              </a:rPr>
              <a:t>*</a:t>
            </a:r>
            <a:r>
              <a:rPr lang="en-US" altLang="ko-KR" sz="1200" b="0" dirty="0" smtClean="0">
                <a:latin typeface="+mn-ea"/>
              </a:rPr>
              <a:t>.</a:t>
            </a:r>
            <a:r>
              <a:rPr lang="en-US" altLang="ko-KR" sz="1200" b="0" dirty="0" err="1" smtClean="0">
                <a:latin typeface="+mn-ea"/>
              </a:rPr>
              <a:t>mwi.yymmdd</a:t>
            </a:r>
            <a:r>
              <a:rPr lang="en-US" altLang="ko-KR" sz="1200" b="0" dirty="0" smtClean="0">
                <a:latin typeface="+mn-ea"/>
              </a:rPr>
              <a:t> </a:t>
            </a:r>
            <a:r>
              <a:rPr lang="ko-KR" altLang="en-US" sz="1200" b="0" dirty="0">
                <a:latin typeface="+mn-ea"/>
              </a:rPr>
              <a:t>로 이름을 변경한다</a:t>
            </a:r>
            <a:r>
              <a:rPr lang="en-US" altLang="ko-KR" sz="1200" b="0" dirty="0">
                <a:latin typeface="+mn-ea"/>
              </a:rPr>
              <a:t>.</a:t>
            </a:r>
            <a:endParaRPr lang="ko-KR" altLang="en-US" sz="1200" b="0" dirty="0">
              <a:latin typeface="+mn-ea"/>
            </a:endParaRPr>
          </a:p>
          <a:p>
            <a:r>
              <a:rPr lang="ko-KR" altLang="en-US" sz="1200" b="0" dirty="0">
                <a:latin typeface="+mn-ea"/>
              </a:rPr>
              <a:t>                          </a:t>
            </a:r>
            <a:r>
              <a:rPr lang="en-US" altLang="ko-KR" sz="1200" b="0" dirty="0">
                <a:latin typeface="+mn-ea"/>
              </a:rPr>
              <a:t>※</a:t>
            </a:r>
            <a:r>
              <a:rPr lang="ko-KR" altLang="en-US" sz="1200" b="0" dirty="0">
                <a:latin typeface="+mn-ea"/>
              </a:rPr>
              <a:t> 참고 </a:t>
            </a:r>
            <a:r>
              <a:rPr lang="en-US" altLang="ko-KR" sz="1200" b="0" dirty="0">
                <a:latin typeface="+mn-ea"/>
              </a:rPr>
              <a:t>: </a:t>
            </a:r>
            <a:r>
              <a:rPr lang="ko-KR" altLang="en-US" sz="1200" b="0" dirty="0" err="1">
                <a:latin typeface="+mn-ea"/>
              </a:rPr>
              <a:t>미라지웍스가</a:t>
            </a:r>
            <a:r>
              <a:rPr lang="ko-KR" altLang="en-US" sz="1200" b="0" dirty="0">
                <a:latin typeface="+mn-ea"/>
              </a:rPr>
              <a:t> 기동하면서 신규로 *</a:t>
            </a:r>
            <a:r>
              <a:rPr lang="en-US" altLang="ko-KR" sz="1200" b="0" dirty="0">
                <a:latin typeface="+mn-ea"/>
              </a:rPr>
              <a:t>.</a:t>
            </a:r>
            <a:r>
              <a:rPr lang="en-US" altLang="ko-KR" sz="1200" b="0" dirty="0" err="1">
                <a:latin typeface="+mn-ea"/>
              </a:rPr>
              <a:t>mwi</a:t>
            </a:r>
            <a:r>
              <a:rPr lang="en-US" altLang="ko-KR" sz="1200" b="0" dirty="0">
                <a:latin typeface="+mn-ea"/>
              </a:rPr>
              <a:t> </a:t>
            </a:r>
            <a:r>
              <a:rPr lang="ko-KR" altLang="en-US" sz="1200" b="0" dirty="0">
                <a:latin typeface="+mn-ea"/>
              </a:rPr>
              <a:t>파일을 자동 생성함</a:t>
            </a:r>
            <a:r>
              <a:rPr lang="en-US" altLang="ko-KR" sz="1200" b="0" dirty="0">
                <a:latin typeface="+mn-ea"/>
              </a:rPr>
              <a:t>..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501551" y="850604"/>
            <a:ext cx="8880401" cy="1499191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dirty="0" smtClean="0">
                <a:latin typeface="+mn-ea"/>
              </a:rPr>
              <a:t>대상 </a:t>
            </a:r>
            <a:r>
              <a:rPr lang="en-US" altLang="ko-KR" dirty="0">
                <a:latin typeface="+mn-ea"/>
              </a:rPr>
              <a:t>:</a:t>
            </a:r>
            <a:r>
              <a:rPr lang="ko-KR" altLang="en-US" dirty="0">
                <a:latin typeface="+mn-ea"/>
              </a:rPr>
              <a:t>  </a:t>
            </a:r>
            <a:endParaRPr lang="en-US" altLang="ko-KR" sz="1200" dirty="0" smtClean="0">
              <a:latin typeface="+mn-ea"/>
            </a:endParaRPr>
          </a:p>
          <a:p>
            <a:r>
              <a:rPr lang="ko-KR" altLang="en-US" sz="1200" dirty="0">
                <a:latin typeface="+mn-ea"/>
              </a:rPr>
              <a:t>     </a:t>
            </a:r>
            <a:r>
              <a:rPr lang="en-US" altLang="ko-KR" sz="1200" dirty="0" smtClean="0">
                <a:latin typeface="+mn-ea"/>
              </a:rPr>
              <a:t>1</a:t>
            </a:r>
            <a:r>
              <a:rPr lang="ko-KR" altLang="en-US" sz="1200" dirty="0" smtClean="0">
                <a:latin typeface="+mn-ea"/>
              </a:rPr>
              <a:t>번이라도 </a:t>
            </a:r>
            <a:r>
              <a:rPr lang="ko-KR" altLang="en-US" sz="1200" dirty="0" err="1" smtClean="0">
                <a:latin typeface="+mn-ea"/>
              </a:rPr>
              <a:t>미라지웍스</a:t>
            </a:r>
            <a:r>
              <a:rPr lang="ko-KR" altLang="en-US" sz="1200" dirty="0" smtClean="0">
                <a:latin typeface="+mn-ea"/>
              </a:rPr>
              <a:t> 환경 내에서 </a:t>
            </a:r>
            <a:r>
              <a:rPr lang="en-US" altLang="ko-KR" sz="1200" dirty="0" smtClean="0">
                <a:latin typeface="+mn-ea"/>
              </a:rPr>
              <a:t>Swing </a:t>
            </a:r>
            <a:r>
              <a:rPr lang="ko-KR" altLang="en-US" sz="1200" dirty="0" smtClean="0">
                <a:latin typeface="+mn-ea"/>
              </a:rPr>
              <a:t>관련 프로그램을 설치한 </a:t>
            </a:r>
            <a:r>
              <a:rPr lang="ko-KR" altLang="en-US" sz="1200" dirty="0" err="1" smtClean="0">
                <a:latin typeface="+mn-ea"/>
              </a:rPr>
              <a:t>미라지웍스</a:t>
            </a:r>
            <a:r>
              <a:rPr lang="ko-KR" altLang="en-US" sz="1200" dirty="0" smtClean="0">
                <a:latin typeface="+mn-ea"/>
              </a:rPr>
              <a:t> 사용자</a:t>
            </a:r>
            <a:endParaRPr lang="en-US" altLang="ko-KR" sz="1200" dirty="0" smtClean="0">
              <a:latin typeface="+mn-ea"/>
            </a:endParaRPr>
          </a:p>
          <a:p>
            <a:endParaRPr lang="en-US" altLang="ko-KR" sz="1200" b="0" dirty="0" smtClean="0"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dirty="0" smtClean="0">
                <a:latin typeface="+mn-ea"/>
              </a:rPr>
              <a:t>오류현상 </a:t>
            </a:r>
            <a:r>
              <a:rPr lang="en-US" altLang="ko-KR" dirty="0">
                <a:latin typeface="+mn-ea"/>
              </a:rPr>
              <a:t>:</a:t>
            </a:r>
            <a:r>
              <a:rPr lang="ko-KR" altLang="en-US" dirty="0">
                <a:latin typeface="+mn-ea"/>
              </a:rPr>
              <a:t> </a:t>
            </a:r>
            <a:r>
              <a:rPr lang="ko-KR" altLang="en-US" sz="1200" dirty="0">
                <a:latin typeface="+mn-ea"/>
              </a:rPr>
              <a:t> </a:t>
            </a:r>
            <a:endParaRPr lang="en-US" altLang="ko-KR" sz="1200" dirty="0">
              <a:latin typeface="+mn-ea"/>
            </a:endParaRPr>
          </a:p>
          <a:p>
            <a:r>
              <a:rPr lang="ko-KR" altLang="en-US" sz="1200" b="0" dirty="0">
                <a:latin typeface="+mn-ea"/>
              </a:rPr>
              <a:t>     </a:t>
            </a:r>
            <a:r>
              <a:rPr lang="en-US" altLang="ko-KR" sz="1200" b="0" dirty="0" smtClean="0">
                <a:latin typeface="+mn-ea"/>
              </a:rPr>
              <a:t>Local PC</a:t>
            </a:r>
            <a:r>
              <a:rPr lang="ko-KR" altLang="en-US" sz="1200" b="0" dirty="0" smtClean="0">
                <a:latin typeface="+mn-ea"/>
              </a:rPr>
              <a:t>에서 최신 프로그램을 설치했다고 하는데도 불구하고</a:t>
            </a:r>
            <a:r>
              <a:rPr lang="en-US" altLang="ko-KR" sz="1200" b="0" dirty="0" smtClean="0">
                <a:latin typeface="+mn-ea"/>
              </a:rPr>
              <a:t>, </a:t>
            </a:r>
          </a:p>
          <a:p>
            <a:r>
              <a:rPr lang="en-US" altLang="ko-KR" sz="1200" b="0" dirty="0">
                <a:latin typeface="+mn-ea"/>
              </a:rPr>
              <a:t> </a:t>
            </a:r>
            <a:r>
              <a:rPr lang="en-US" altLang="ko-KR" sz="1200" b="0" dirty="0" smtClean="0">
                <a:latin typeface="+mn-ea"/>
              </a:rPr>
              <a:t>    </a:t>
            </a:r>
            <a:r>
              <a:rPr lang="ko-KR" altLang="en-US" sz="1200" b="0" dirty="0" err="1" smtClean="0">
                <a:latin typeface="+mn-ea"/>
              </a:rPr>
              <a:t>미라지웍스</a:t>
            </a:r>
            <a:r>
              <a:rPr lang="ko-KR" altLang="en-US" sz="1200" b="0" dirty="0" smtClean="0">
                <a:latin typeface="+mn-ea"/>
              </a:rPr>
              <a:t> 내에서 </a:t>
            </a:r>
            <a:r>
              <a:rPr lang="en-US" altLang="ko-KR" sz="1200" b="0" dirty="0" smtClean="0">
                <a:latin typeface="+mn-ea"/>
              </a:rPr>
              <a:t>Swing </a:t>
            </a:r>
            <a:r>
              <a:rPr lang="ko-KR" altLang="en-US" sz="1200" b="0" dirty="0" smtClean="0">
                <a:latin typeface="+mn-ea"/>
              </a:rPr>
              <a:t>접속 시 </a:t>
            </a:r>
            <a:r>
              <a:rPr lang="en-US" altLang="ko-KR" sz="1200" b="0" dirty="0" smtClean="0">
                <a:latin typeface="+mn-ea"/>
              </a:rPr>
              <a:t>“</a:t>
            </a:r>
            <a:r>
              <a:rPr lang="ko-KR" altLang="en-US" sz="1200" b="0" dirty="0" smtClean="0">
                <a:latin typeface="+mn-ea"/>
              </a:rPr>
              <a:t>설치할 프로그램이 있으니 </a:t>
            </a:r>
            <a:r>
              <a:rPr lang="en-US" altLang="ko-KR" sz="1200" b="0" dirty="0" smtClean="0">
                <a:latin typeface="+mn-ea"/>
              </a:rPr>
              <a:t>Local</a:t>
            </a:r>
            <a:r>
              <a:rPr lang="ko-KR" altLang="en-US" sz="1200" b="0" dirty="0" smtClean="0">
                <a:latin typeface="+mn-ea"/>
              </a:rPr>
              <a:t>에서 설치 후 재 접속하세요</a:t>
            </a:r>
            <a:r>
              <a:rPr lang="en-US" altLang="ko-KR" sz="1200" b="0" dirty="0" smtClean="0">
                <a:latin typeface="+mn-ea"/>
              </a:rPr>
              <a:t>” </a:t>
            </a:r>
            <a:r>
              <a:rPr lang="ko-KR" altLang="en-US" sz="1200" b="0" dirty="0" smtClean="0">
                <a:latin typeface="+mn-ea"/>
              </a:rPr>
              <a:t>알림 창이 발생하는 경우 </a:t>
            </a:r>
            <a:endParaRPr lang="ko-KR" altLang="en-US" sz="1200" b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63229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</a:t>
            </a:r>
            <a:r>
              <a:rPr lang="ko-KR" altLang="en-US" dirty="0" err="1" smtClean="0"/>
              <a:t>미라지웍스</a:t>
            </a:r>
            <a:r>
              <a:rPr lang="ko-KR" altLang="en-US" dirty="0" smtClean="0"/>
              <a:t> 사용자 오류 대응 건</a:t>
            </a:r>
            <a:endParaRPr lang="ko-KR" altLang="en-US" dirty="0"/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501551" y="850604"/>
            <a:ext cx="8880401" cy="491224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증상 </a:t>
            </a:r>
            <a:r>
              <a:rPr lang="en-US" altLang="ko-KR" dirty="0"/>
              <a:t>: </a:t>
            </a:r>
            <a:r>
              <a:rPr lang="ko-KR" altLang="en-US" dirty="0" err="1">
                <a:solidFill>
                  <a:srgbClr val="FF0000"/>
                </a:solidFill>
              </a:rPr>
              <a:t>미라지웍스</a:t>
            </a:r>
            <a:r>
              <a:rPr lang="ko-KR" altLang="en-US" dirty="0">
                <a:solidFill>
                  <a:srgbClr val="FF0000"/>
                </a:solidFill>
              </a:rPr>
              <a:t> 접속 후 </a:t>
            </a:r>
            <a:r>
              <a:rPr lang="en-US" altLang="ko-KR" dirty="0"/>
              <a:t>swing </a:t>
            </a:r>
            <a:r>
              <a:rPr lang="ko-KR" altLang="en-US" dirty="0"/>
              <a:t>접속할 때 화면은 뜨지 않고 </a:t>
            </a:r>
            <a:r>
              <a:rPr lang="en-US" altLang="ko-KR" dirty="0">
                <a:solidFill>
                  <a:srgbClr val="FF0000"/>
                </a:solidFill>
              </a:rPr>
              <a:t>"mkiller.exe </a:t>
            </a:r>
            <a:r>
              <a:rPr lang="ko-KR" altLang="en-US" dirty="0">
                <a:solidFill>
                  <a:srgbClr val="FF0000"/>
                </a:solidFill>
              </a:rPr>
              <a:t>에서 </a:t>
            </a:r>
            <a:r>
              <a:rPr lang="en-US" altLang="ko-KR" dirty="0">
                <a:solidFill>
                  <a:srgbClr val="FF0000"/>
                </a:solidFill>
              </a:rPr>
              <a:t>exception" </a:t>
            </a:r>
            <a:r>
              <a:rPr lang="ko-KR" altLang="en-US" dirty="0">
                <a:solidFill>
                  <a:srgbClr val="FF0000"/>
                </a:solidFill>
              </a:rPr>
              <a:t>창이 </a:t>
            </a:r>
            <a:r>
              <a:rPr lang="ko-KR" altLang="en-US" dirty="0" smtClean="0">
                <a:solidFill>
                  <a:srgbClr val="FF0000"/>
                </a:solidFill>
              </a:rPr>
              <a:t>나옴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ko-KR" altLang="en-US" dirty="0" smtClean="0"/>
              <a:t> </a:t>
            </a:r>
            <a:endParaRPr lang="ko-KR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원인 </a:t>
            </a:r>
            <a:r>
              <a:rPr lang="en-US" altLang="ko-KR" dirty="0"/>
              <a:t>: </a:t>
            </a:r>
            <a:r>
              <a:rPr lang="en-US" altLang="ko-KR" b="0" dirty="0"/>
              <a:t>Local PC</a:t>
            </a:r>
            <a:r>
              <a:rPr lang="ko-KR" altLang="en-US" b="0" dirty="0"/>
              <a:t>에 설치되어 있는</a:t>
            </a:r>
            <a:r>
              <a:rPr lang="ko-KR" altLang="en-US" dirty="0"/>
              <a:t> 보안프로그램 </a:t>
            </a:r>
            <a:r>
              <a:rPr lang="en-US" altLang="ko-KR" dirty="0"/>
              <a:t>(Keystroke </a:t>
            </a:r>
            <a:r>
              <a:rPr lang="ko-KR" altLang="en-US" dirty="0"/>
              <a:t>또는 </a:t>
            </a:r>
            <a:r>
              <a:rPr lang="en-US" altLang="ko-KR" dirty="0" err="1"/>
              <a:t>Nprotect</a:t>
            </a:r>
            <a:r>
              <a:rPr lang="en-US" altLang="ko-KR" dirty="0"/>
              <a:t> program) </a:t>
            </a:r>
            <a:r>
              <a:rPr lang="ko-KR" altLang="en-US" dirty="0"/>
              <a:t>과 충돌현상 </a:t>
            </a:r>
            <a:endParaRPr lang="en-US" altLang="ko-KR" dirty="0" smtClean="0"/>
          </a:p>
          <a:p>
            <a:endParaRPr lang="ko-KR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조치 </a:t>
            </a:r>
            <a:r>
              <a:rPr lang="en-US" altLang="ko-KR" dirty="0"/>
              <a:t>: </a:t>
            </a:r>
            <a:r>
              <a:rPr lang="ko-KR" altLang="en-US" dirty="0" err="1"/>
              <a:t>미라지웍스</a:t>
            </a:r>
            <a:r>
              <a:rPr lang="ko-KR" altLang="en-US" dirty="0"/>
              <a:t> 종료 후 </a:t>
            </a:r>
          </a:p>
          <a:p>
            <a:r>
              <a:rPr lang="ko-KR" altLang="en-US" b="0" dirty="0"/>
              <a:t>   </a:t>
            </a:r>
            <a:r>
              <a:rPr lang="ko-KR" altLang="en-US" b="0" dirty="0" smtClean="0"/>
              <a:t>          </a:t>
            </a:r>
            <a:r>
              <a:rPr lang="en-US" altLang="ko-KR" b="0" dirty="0"/>
              <a:t>1) </a:t>
            </a:r>
            <a:r>
              <a:rPr lang="ko-KR" altLang="en-US" b="0" dirty="0"/>
              <a:t>제어판</a:t>
            </a:r>
            <a:r>
              <a:rPr lang="en-US" altLang="ko-KR" b="0" dirty="0"/>
              <a:t>&gt; </a:t>
            </a:r>
            <a:r>
              <a:rPr lang="ko-KR" altLang="en-US" b="0" dirty="0"/>
              <a:t>프로그램 및 기능 </a:t>
            </a:r>
            <a:r>
              <a:rPr lang="en-US" altLang="ko-KR" b="0" dirty="0"/>
              <a:t>&gt; Keystroke </a:t>
            </a:r>
            <a:r>
              <a:rPr lang="ko-KR" altLang="en-US" b="0" dirty="0"/>
              <a:t>프로그램 삭제 </a:t>
            </a:r>
          </a:p>
          <a:p>
            <a:r>
              <a:rPr lang="ko-KR" altLang="en-US" b="0" dirty="0"/>
              <a:t> </a:t>
            </a:r>
            <a:r>
              <a:rPr lang="ko-KR" altLang="en-US" b="0" dirty="0" smtClean="0"/>
              <a:t>         </a:t>
            </a:r>
            <a:r>
              <a:rPr lang="ko-KR" altLang="en-US" b="0" dirty="0"/>
              <a:t>   </a:t>
            </a:r>
            <a:r>
              <a:rPr lang="en-US" altLang="ko-KR" b="0" dirty="0"/>
              <a:t>2) Local </a:t>
            </a:r>
            <a:r>
              <a:rPr lang="ko-KR" altLang="en-US" b="0" dirty="0"/>
              <a:t>에서 </a:t>
            </a:r>
            <a:r>
              <a:rPr lang="ko-KR" altLang="en-US" b="0" dirty="0" err="1"/>
              <a:t>미라지웍스</a:t>
            </a:r>
            <a:r>
              <a:rPr lang="ko-KR" altLang="en-US" b="0" dirty="0"/>
              <a:t> 사전 설치 프로그램 설치 </a:t>
            </a:r>
          </a:p>
          <a:p>
            <a:r>
              <a:rPr lang="ko-KR" altLang="en-US" b="0" dirty="0"/>
              <a:t>  </a:t>
            </a:r>
            <a:r>
              <a:rPr lang="ko-KR" altLang="en-US" b="0" dirty="0" smtClean="0"/>
              <a:t>         </a:t>
            </a:r>
            <a:r>
              <a:rPr lang="ko-KR" altLang="en-US" b="0" dirty="0"/>
              <a:t>  </a:t>
            </a:r>
            <a:r>
              <a:rPr lang="en-US" altLang="ko-KR" b="0" dirty="0"/>
              <a:t>3) Swing Process Stop</a:t>
            </a:r>
            <a:endParaRPr lang="ko-KR" altLang="en-US" b="0" dirty="0"/>
          </a:p>
          <a:p>
            <a:r>
              <a:rPr lang="ko-KR" altLang="en-US" b="0" dirty="0"/>
              <a:t>  </a:t>
            </a:r>
            <a:r>
              <a:rPr lang="ko-KR" altLang="en-US" b="0" dirty="0" smtClean="0"/>
              <a:t>         </a:t>
            </a:r>
            <a:r>
              <a:rPr lang="ko-KR" altLang="en-US" b="0" dirty="0"/>
              <a:t>  </a:t>
            </a:r>
            <a:r>
              <a:rPr lang="en-US" altLang="ko-KR" b="0" dirty="0"/>
              <a:t>4) </a:t>
            </a:r>
            <a:r>
              <a:rPr lang="ko-KR" altLang="en-US" b="0" dirty="0" err="1"/>
              <a:t>미라지웍스</a:t>
            </a:r>
            <a:r>
              <a:rPr lang="ko-KR" altLang="en-US" b="0" dirty="0"/>
              <a:t> 로그온 </a:t>
            </a:r>
          </a:p>
          <a:p>
            <a:r>
              <a:rPr lang="ko-KR" altLang="en-US" b="0" dirty="0"/>
              <a:t>   </a:t>
            </a:r>
            <a:r>
              <a:rPr lang="ko-KR" altLang="en-US" b="0" dirty="0" smtClean="0"/>
              <a:t>          </a:t>
            </a:r>
            <a:r>
              <a:rPr lang="en-US" altLang="ko-KR" b="0" dirty="0"/>
              <a:t>5) Swing Process Start </a:t>
            </a:r>
            <a:endParaRPr lang="ko-KR" altLang="en-US" b="0" dirty="0"/>
          </a:p>
          <a:p>
            <a:r>
              <a:rPr lang="ko-KR" altLang="en-US" b="0" dirty="0"/>
              <a:t>   </a:t>
            </a:r>
            <a:r>
              <a:rPr lang="ko-KR" altLang="en-US" b="0" dirty="0" smtClean="0"/>
              <a:t>          </a:t>
            </a:r>
            <a:r>
              <a:rPr lang="en-US" altLang="ko-KR" b="0" dirty="0"/>
              <a:t>6) Swing Portal </a:t>
            </a:r>
            <a:r>
              <a:rPr lang="ko-KR" altLang="en-US" b="0" dirty="0"/>
              <a:t>로그온 </a:t>
            </a:r>
          </a:p>
          <a:p>
            <a:r>
              <a:rPr lang="ko-KR" altLang="en-US" b="0" dirty="0"/>
              <a:t>  </a:t>
            </a:r>
            <a:r>
              <a:rPr lang="ko-KR" altLang="en-US" b="0" dirty="0" smtClean="0"/>
              <a:t>         </a:t>
            </a:r>
            <a:r>
              <a:rPr lang="ko-KR" altLang="en-US" b="0" dirty="0"/>
              <a:t>  </a:t>
            </a:r>
            <a:r>
              <a:rPr lang="en-US" altLang="ko-KR" b="0" dirty="0"/>
              <a:t>7) Swing </a:t>
            </a:r>
            <a:r>
              <a:rPr lang="ko-KR" altLang="en-US" b="0" dirty="0"/>
              <a:t>접속 </a:t>
            </a:r>
            <a:endParaRPr lang="en-US" altLang="ko-KR" b="0" dirty="0" smtClean="0"/>
          </a:p>
          <a:p>
            <a:endParaRPr lang="ko-KR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기타 </a:t>
            </a:r>
            <a:r>
              <a:rPr lang="en-US" altLang="ko-KR" dirty="0"/>
              <a:t>: </a:t>
            </a:r>
            <a:r>
              <a:rPr lang="ko-KR" altLang="en-US" dirty="0"/>
              <a:t>위의 프로그램 삭제 후에도 조치 </a:t>
            </a:r>
            <a:r>
              <a:rPr lang="ko-KR" altLang="en-US" dirty="0" smtClean="0"/>
              <a:t>안 되는 </a:t>
            </a:r>
            <a:r>
              <a:rPr lang="ko-KR" altLang="en-US" dirty="0"/>
              <a:t>경우 </a:t>
            </a:r>
            <a:r>
              <a:rPr lang="ko-KR" altLang="en-US" dirty="0" err="1"/>
              <a:t>미라지웍스</a:t>
            </a:r>
            <a:r>
              <a:rPr lang="ko-KR" altLang="en-US" dirty="0"/>
              <a:t> </a:t>
            </a:r>
            <a:r>
              <a:rPr lang="ko-KR" altLang="en-US" dirty="0" smtClean="0"/>
              <a:t>가상화 디스크 초기화 필요함</a:t>
            </a:r>
            <a:endParaRPr lang="en-US" altLang="ko-KR" dirty="0"/>
          </a:p>
          <a:p>
            <a:r>
              <a:rPr lang="en-US" altLang="ko-KR" dirty="0" smtClean="0"/>
              <a:t>             </a:t>
            </a:r>
            <a:r>
              <a:rPr lang="ko-KR" altLang="en-US" dirty="0" smtClean="0"/>
              <a:t> </a:t>
            </a:r>
            <a:r>
              <a:rPr lang="en-US" altLang="ko-KR" dirty="0" smtClean="0"/>
              <a:t>( </a:t>
            </a:r>
            <a:r>
              <a:rPr lang="en-US" altLang="ko-KR" dirty="0" smtClean="0">
                <a:solidFill>
                  <a:srgbClr val="0000CC"/>
                </a:solidFill>
              </a:rPr>
              <a:t>IT</a:t>
            </a:r>
            <a:r>
              <a:rPr lang="ko-KR" altLang="en-US" dirty="0">
                <a:solidFill>
                  <a:srgbClr val="0000CC"/>
                </a:solidFill>
              </a:rPr>
              <a:t>보안 운영</a:t>
            </a:r>
            <a:r>
              <a:rPr lang="ko-KR" altLang="en-US" dirty="0"/>
              <a:t>으로 지원 </a:t>
            </a:r>
            <a:r>
              <a:rPr lang="ko-KR" altLang="en-US" dirty="0" smtClean="0"/>
              <a:t>요청 </a:t>
            </a:r>
            <a:r>
              <a:rPr lang="en-US" altLang="ko-KR" dirty="0" smtClean="0"/>
              <a:t>) </a:t>
            </a:r>
            <a:r>
              <a:rPr lang="en-US" altLang="ko-KR" dirty="0"/>
              <a:t>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350559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Swing </a:t>
            </a:r>
            <a:r>
              <a:rPr lang="ko-KR" altLang="en-US" dirty="0" err="1" smtClean="0"/>
              <a:t>바로가기</a:t>
            </a:r>
            <a:r>
              <a:rPr lang="ko-KR" altLang="en-US" dirty="0" smtClean="0"/>
              <a:t> 아이콘 미 동작 오류 대응 건</a:t>
            </a:r>
            <a:endParaRPr lang="ko-KR" altLang="en-US" dirty="0"/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501551" y="850604"/>
            <a:ext cx="8880401" cy="491224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증상 </a:t>
            </a:r>
            <a:r>
              <a:rPr lang="en-US" altLang="ko-KR" dirty="0"/>
              <a:t>: </a:t>
            </a:r>
            <a:r>
              <a:rPr lang="ko-KR" altLang="en-US" dirty="0" smtClean="0"/>
              <a:t>바탕화면에 설치된 </a:t>
            </a:r>
            <a:r>
              <a:rPr lang="en-US" altLang="ko-KR" dirty="0" smtClean="0"/>
              <a:t>Swing </a:t>
            </a:r>
            <a:r>
              <a:rPr lang="ko-KR" altLang="en-US" dirty="0" smtClean="0"/>
              <a:t>관련 </a:t>
            </a:r>
            <a:r>
              <a:rPr lang="en-US" altLang="ko-KR" dirty="0" smtClean="0"/>
              <a:t>Icon</a:t>
            </a:r>
            <a:r>
              <a:rPr lang="ko-KR" altLang="en-US" dirty="0" smtClean="0"/>
              <a:t>을 눌렀을 때 웹사이트로 이동이 안됨</a:t>
            </a:r>
            <a:endParaRPr lang="en-US" altLang="ko-KR" dirty="0" smtClean="0"/>
          </a:p>
          <a:p>
            <a:r>
              <a:rPr lang="ko-KR" altLang="en-US" dirty="0" smtClean="0"/>
              <a:t> </a:t>
            </a:r>
            <a:endParaRPr lang="ko-KR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원인 </a:t>
            </a:r>
            <a:r>
              <a:rPr lang="en-US" altLang="ko-KR" dirty="0"/>
              <a:t>: </a:t>
            </a:r>
            <a:r>
              <a:rPr lang="ko-KR" altLang="en-US" dirty="0" smtClean="0"/>
              <a:t>기본 웹 브라우저가 설정되지 않아서 실행이 안됨</a:t>
            </a:r>
            <a:endParaRPr lang="en-US" altLang="ko-KR" dirty="0" smtClean="0"/>
          </a:p>
          <a:p>
            <a:endParaRPr lang="ko-KR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조치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기본 웹 브라우저를 </a:t>
            </a:r>
            <a:r>
              <a:rPr lang="ko-KR" altLang="en-US" dirty="0" err="1" smtClean="0"/>
              <a:t>셋팅한</a:t>
            </a:r>
            <a:r>
              <a:rPr lang="ko-KR" altLang="en-US" dirty="0" smtClean="0"/>
              <a:t> 후 바탕화면 </a:t>
            </a:r>
            <a:r>
              <a:rPr lang="en-US" altLang="ko-KR" dirty="0" smtClean="0"/>
              <a:t>Icon </a:t>
            </a:r>
            <a:r>
              <a:rPr lang="ko-KR" altLang="en-US" dirty="0" smtClean="0"/>
              <a:t>클릭 </a:t>
            </a:r>
            <a:endParaRPr lang="en-US" altLang="ko-KR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ko-KR" altLang="en-US" dirty="0"/>
          </a:p>
          <a:p>
            <a:r>
              <a:rPr lang="ko-KR" altLang="en-US" b="0" dirty="0"/>
              <a:t>   </a:t>
            </a:r>
            <a:r>
              <a:rPr lang="ko-KR" altLang="en-US" b="0" dirty="0" smtClean="0"/>
              <a:t>          </a:t>
            </a:r>
            <a:r>
              <a:rPr lang="en-US" altLang="ko-KR" b="0" dirty="0"/>
              <a:t>1) </a:t>
            </a:r>
            <a:r>
              <a:rPr lang="en-US" altLang="ko-KR" b="0" dirty="0" smtClean="0"/>
              <a:t>IE  : </a:t>
            </a:r>
            <a:r>
              <a:rPr lang="ko-KR" altLang="en-US" b="0" dirty="0" smtClean="0"/>
              <a:t>인터넷 옵션 </a:t>
            </a:r>
            <a:r>
              <a:rPr lang="en-US" altLang="ko-KR" b="0" dirty="0" smtClean="0"/>
              <a:t>&gt; </a:t>
            </a:r>
            <a:r>
              <a:rPr lang="ko-KR" altLang="en-US" b="0" dirty="0" smtClean="0"/>
              <a:t>프로그램 </a:t>
            </a:r>
            <a:r>
              <a:rPr lang="en-US" altLang="ko-KR" b="0" dirty="0" smtClean="0"/>
              <a:t>&gt; </a:t>
            </a:r>
            <a:r>
              <a:rPr lang="ko-KR" altLang="en-US" b="0" dirty="0" smtClean="0"/>
              <a:t>기본값으로 클릭</a:t>
            </a:r>
            <a:endParaRPr lang="en-US" altLang="ko-KR" b="0" dirty="0" smtClean="0"/>
          </a:p>
          <a:p>
            <a:endParaRPr lang="en-US" altLang="ko-KR" b="0" dirty="0"/>
          </a:p>
          <a:p>
            <a:r>
              <a:rPr lang="en-US" altLang="ko-KR" b="0" dirty="0" smtClean="0"/>
              <a:t>             2) Chrome : Settings &gt; Default Browser &gt; Make Google Chrome the default browser </a:t>
            </a:r>
            <a:r>
              <a:rPr lang="ko-KR" altLang="en-US" b="0" dirty="0" smtClean="0"/>
              <a:t>클릭</a:t>
            </a:r>
            <a:endParaRPr lang="ko-KR" altLang="en-US" b="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1203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 </a:t>
            </a:r>
            <a:r>
              <a:rPr lang="en-US" altLang="ko-KR" dirty="0"/>
              <a:t>Swing </a:t>
            </a:r>
            <a:r>
              <a:rPr lang="en-US" altLang="ko-KR" dirty="0" smtClean="0"/>
              <a:t>Client(PC) </a:t>
            </a:r>
            <a:r>
              <a:rPr lang="ko-KR" altLang="en-US" dirty="0" smtClean="0"/>
              <a:t>설치 프로그램 목록 </a:t>
            </a:r>
            <a:r>
              <a:rPr lang="en-US" altLang="ko-KR" dirty="0" smtClean="0"/>
              <a:t>– </a:t>
            </a:r>
            <a:r>
              <a:rPr lang="en-US" altLang="ko-KR" dirty="0" err="1" smtClean="0"/>
              <a:t>Veraport</a:t>
            </a:r>
            <a:r>
              <a:rPr lang="ko-KR" altLang="en-US" dirty="0" smtClean="0"/>
              <a:t>를 이용한 자동설치 프로그램 목록 </a:t>
            </a:r>
            <a:r>
              <a:rPr lang="en-US" altLang="ko-KR" dirty="0" smtClean="0"/>
              <a:t>(1/3) 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735467" y="659217"/>
            <a:ext cx="8240233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dirty="0" smtClean="0">
                <a:latin typeface="+mn-ea"/>
                <a:ea typeface="+mn-ea"/>
              </a:rPr>
              <a:t>0. </a:t>
            </a:r>
            <a:r>
              <a:rPr lang="ko-KR" altLang="en-US" dirty="0" smtClean="0">
                <a:latin typeface="+mn-ea"/>
                <a:ea typeface="+mn-ea"/>
              </a:rPr>
              <a:t>솔루션 명 </a:t>
            </a:r>
            <a:r>
              <a:rPr lang="en-US" altLang="ko-KR" dirty="0" smtClean="0">
                <a:latin typeface="+mn-ea"/>
                <a:ea typeface="+mn-ea"/>
              </a:rPr>
              <a:t>: </a:t>
            </a:r>
            <a:r>
              <a:rPr lang="en-US" altLang="ko-KR" dirty="0" err="1" smtClean="0">
                <a:latin typeface="+mn-ea"/>
                <a:ea typeface="+mn-ea"/>
              </a:rPr>
              <a:t>Veraport</a:t>
            </a:r>
            <a:r>
              <a:rPr lang="en-US" altLang="ko-KR" dirty="0" smtClean="0">
                <a:latin typeface="+mn-ea"/>
                <a:ea typeface="+mn-ea"/>
              </a:rPr>
              <a:t> ,  </a:t>
            </a:r>
            <a:r>
              <a:rPr lang="ko-KR" altLang="en-US" dirty="0" smtClean="0">
                <a:latin typeface="+mn-ea"/>
                <a:ea typeface="+mn-ea"/>
              </a:rPr>
              <a:t>설명</a:t>
            </a:r>
            <a:r>
              <a:rPr lang="en-US" altLang="ko-KR" dirty="0" smtClean="0">
                <a:latin typeface="+mn-ea"/>
                <a:ea typeface="+mn-ea"/>
              </a:rPr>
              <a:t> : PC</a:t>
            </a:r>
            <a:r>
              <a:rPr lang="ko-KR" altLang="en-US" dirty="0" smtClean="0">
                <a:latin typeface="+mn-ea"/>
                <a:ea typeface="+mn-ea"/>
              </a:rPr>
              <a:t>에서 자동으로 프로그램의 설치여부 점검 및 다운로드</a:t>
            </a:r>
            <a:r>
              <a:rPr lang="en-US" altLang="ko-KR" dirty="0" smtClean="0">
                <a:latin typeface="+mn-ea"/>
                <a:ea typeface="+mn-ea"/>
              </a:rPr>
              <a:t>/</a:t>
            </a:r>
            <a:r>
              <a:rPr lang="ko-KR" altLang="en-US" dirty="0" smtClean="0">
                <a:latin typeface="+mn-ea"/>
                <a:ea typeface="+mn-ea"/>
              </a:rPr>
              <a:t>설치해 주는 통합설치지원 솔루션</a:t>
            </a:r>
            <a:endParaRPr lang="en-US" altLang="ko-KR" dirty="0" smtClean="0">
              <a:latin typeface="+mn-ea"/>
              <a:ea typeface="+mn-ea"/>
            </a:endParaRPr>
          </a:p>
          <a:p>
            <a:pPr algn="l"/>
            <a:r>
              <a:rPr lang="en-US" altLang="ko-KR" dirty="0" smtClean="0">
                <a:latin typeface="+mn-ea"/>
                <a:ea typeface="+mn-ea"/>
              </a:rPr>
              <a:t>   </a:t>
            </a:r>
            <a:r>
              <a:rPr lang="ko-KR" altLang="en-US" dirty="0" smtClean="0">
                <a:latin typeface="+mn-ea"/>
                <a:ea typeface="+mn-ea"/>
              </a:rPr>
              <a:t>점검방법 </a:t>
            </a:r>
            <a:r>
              <a:rPr lang="en-US" altLang="ko-KR" dirty="0" smtClean="0">
                <a:latin typeface="+mn-ea"/>
                <a:ea typeface="+mn-ea"/>
              </a:rPr>
              <a:t>: </a:t>
            </a:r>
            <a:r>
              <a:rPr lang="ko-KR" altLang="en-US" dirty="0" smtClean="0">
                <a:latin typeface="+mn-ea"/>
                <a:ea typeface="+mn-ea"/>
              </a:rPr>
              <a:t>제어판 </a:t>
            </a:r>
            <a:r>
              <a:rPr lang="en-US" altLang="ko-KR" dirty="0" smtClean="0">
                <a:latin typeface="+mn-ea"/>
                <a:ea typeface="+mn-ea"/>
              </a:rPr>
              <a:t>– </a:t>
            </a:r>
            <a:r>
              <a:rPr lang="ko-KR" altLang="en-US" dirty="0" smtClean="0">
                <a:latin typeface="+mn-ea"/>
                <a:ea typeface="+mn-ea"/>
              </a:rPr>
              <a:t>프로그램 제거</a:t>
            </a:r>
            <a:r>
              <a:rPr lang="en-US" altLang="ko-KR" dirty="0" smtClean="0">
                <a:latin typeface="+mn-ea"/>
                <a:ea typeface="+mn-ea"/>
              </a:rPr>
              <a:t>/</a:t>
            </a:r>
            <a:r>
              <a:rPr lang="ko-KR" altLang="en-US" dirty="0" smtClean="0">
                <a:latin typeface="+mn-ea"/>
                <a:ea typeface="+mn-ea"/>
              </a:rPr>
              <a:t>변경 </a:t>
            </a:r>
            <a:r>
              <a:rPr lang="en-US" altLang="ko-KR" dirty="0" smtClean="0">
                <a:latin typeface="+mn-ea"/>
                <a:ea typeface="+mn-ea"/>
              </a:rPr>
              <a:t>: </a:t>
            </a:r>
            <a:r>
              <a:rPr lang="en-US" altLang="ko-KR" dirty="0" err="1" smtClean="0">
                <a:latin typeface="+mn-ea"/>
                <a:ea typeface="+mn-ea"/>
              </a:rPr>
              <a:t>veraport</a:t>
            </a:r>
            <a:r>
              <a:rPr lang="en-US" altLang="ko-KR" dirty="0" smtClean="0">
                <a:latin typeface="+mn-ea"/>
                <a:ea typeface="+mn-ea"/>
              </a:rPr>
              <a:t>(</a:t>
            </a:r>
            <a:r>
              <a:rPr lang="ko-KR" altLang="en-US" dirty="0" smtClean="0">
                <a:latin typeface="+mn-ea"/>
                <a:ea typeface="+mn-ea"/>
              </a:rPr>
              <a:t>보안모듈관리프로그램</a:t>
            </a:r>
            <a:r>
              <a:rPr lang="en-US" altLang="ko-KR" dirty="0" smtClean="0">
                <a:latin typeface="+mn-ea"/>
                <a:ea typeface="+mn-ea"/>
              </a:rPr>
              <a:t>)</a:t>
            </a:r>
          </a:p>
          <a:p>
            <a:pPr algn="l"/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</a:t>
            </a:r>
            <a:r>
              <a:rPr lang="ko-KR" altLang="en-US" dirty="0" smtClean="0">
                <a:latin typeface="+mn-ea"/>
                <a:ea typeface="+mn-ea"/>
              </a:rPr>
              <a:t>설치경로 </a:t>
            </a:r>
            <a:r>
              <a:rPr lang="en-US" altLang="ko-KR" dirty="0" smtClean="0">
                <a:latin typeface="+mn-ea"/>
                <a:ea typeface="+mn-ea"/>
              </a:rPr>
              <a:t>: </a:t>
            </a:r>
            <a:r>
              <a:rPr lang="en-US" altLang="ko-KR" dirty="0">
                <a:latin typeface="+mn-ea"/>
              </a:rPr>
              <a:t>%</a:t>
            </a:r>
            <a:r>
              <a:rPr lang="en-US" altLang="ko-KR" dirty="0" err="1">
                <a:latin typeface="+mn-ea"/>
              </a:rPr>
              <a:t>SystemDrive</a:t>
            </a:r>
            <a:r>
              <a:rPr lang="en-US" altLang="ko-KR" dirty="0" smtClean="0">
                <a:latin typeface="+mn-ea"/>
              </a:rPr>
              <a:t>%\Program Files\</a:t>
            </a:r>
            <a:r>
              <a:rPr lang="en-US" altLang="ko-KR" dirty="0" err="1" smtClean="0">
                <a:latin typeface="+mn-ea"/>
              </a:rPr>
              <a:t>Wizvera</a:t>
            </a:r>
            <a:r>
              <a:rPr lang="en-US" altLang="ko-KR" dirty="0" smtClean="0">
                <a:latin typeface="+mn-ea"/>
              </a:rPr>
              <a:t>  (32bit),   </a:t>
            </a:r>
            <a:r>
              <a:rPr lang="en-US" altLang="ko-KR" dirty="0">
                <a:latin typeface="+mn-ea"/>
              </a:rPr>
              <a:t>%</a:t>
            </a:r>
            <a:r>
              <a:rPr lang="en-US" altLang="ko-KR" dirty="0" err="1">
                <a:latin typeface="+mn-ea"/>
              </a:rPr>
              <a:t>SystemDrive</a:t>
            </a:r>
            <a:r>
              <a:rPr lang="en-US" altLang="ko-KR" dirty="0">
                <a:latin typeface="+mn-ea"/>
              </a:rPr>
              <a:t>%\Program </a:t>
            </a:r>
            <a:r>
              <a:rPr lang="en-US" altLang="ko-KR" dirty="0" smtClean="0">
                <a:latin typeface="+mn-ea"/>
              </a:rPr>
              <a:t>Files (x86)\</a:t>
            </a:r>
            <a:r>
              <a:rPr lang="en-US" altLang="ko-KR" dirty="0" err="1" smtClean="0">
                <a:latin typeface="+mn-ea"/>
              </a:rPr>
              <a:t>Wizvera</a:t>
            </a:r>
            <a:r>
              <a:rPr lang="en-US" altLang="ko-KR" dirty="0" smtClean="0">
                <a:latin typeface="+mn-ea"/>
              </a:rPr>
              <a:t>  (64bit</a:t>
            </a:r>
            <a:r>
              <a:rPr lang="en-US" altLang="ko-KR" dirty="0">
                <a:latin typeface="+mn-ea"/>
              </a:rPr>
              <a:t>),  </a:t>
            </a:r>
            <a:endParaRPr lang="en-US" altLang="ko-KR" dirty="0">
              <a:latin typeface="+mn-ea"/>
              <a:ea typeface="+mn-ea"/>
            </a:endParaRPr>
          </a:p>
          <a:p>
            <a:pPr marL="228600" indent="-228600" algn="l">
              <a:buAutoNum type="arabicPeriod"/>
            </a:pPr>
            <a:endParaRPr lang="en-US" altLang="ko-KR" dirty="0" smtClean="0">
              <a:latin typeface="+mn-ea"/>
              <a:ea typeface="+mn-ea"/>
            </a:endParaRPr>
          </a:p>
          <a:p>
            <a:pPr marL="85725" indent="-85725" algn="l">
              <a:buAutoNum type="arabicPeriod"/>
            </a:pPr>
            <a:r>
              <a:rPr lang="ko-KR" altLang="en-US" dirty="0" smtClean="0">
                <a:latin typeface="+mn-ea"/>
                <a:ea typeface="+mn-ea"/>
              </a:rPr>
              <a:t> 제품등록 </a:t>
            </a:r>
            <a:r>
              <a:rPr lang="ko-KR" altLang="en-US" dirty="0">
                <a:latin typeface="+mn-ea"/>
                <a:ea typeface="+mn-ea"/>
              </a:rPr>
              <a:t>명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err="1">
                <a:latin typeface="+mn-ea"/>
                <a:ea typeface="+mn-ea"/>
              </a:rPr>
              <a:t>MSNetframework</a:t>
            </a:r>
            <a:r>
              <a:rPr lang="en-US" altLang="ko-KR" dirty="0">
                <a:latin typeface="+mn-ea"/>
                <a:ea typeface="+mn-ea"/>
              </a:rPr>
              <a:t/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설명        </a:t>
            </a:r>
            <a:r>
              <a:rPr lang="en-US" altLang="ko-KR" dirty="0">
                <a:latin typeface="+mn-ea"/>
                <a:ea typeface="+mn-ea"/>
              </a:rPr>
              <a:t>: W-Gear </a:t>
            </a:r>
            <a:r>
              <a:rPr lang="ko-KR" altLang="en-US" dirty="0">
                <a:latin typeface="+mn-ea"/>
                <a:ea typeface="+mn-ea"/>
              </a:rPr>
              <a:t>사용 </a:t>
            </a:r>
            <a:r>
              <a:rPr lang="en-US" altLang="ko-KR" dirty="0" err="1">
                <a:latin typeface="+mn-ea"/>
                <a:ea typeface="+mn-ea"/>
              </a:rPr>
              <a:t>.Net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프로그램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점검방법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제어판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>
                <a:latin typeface="+mn-ea"/>
                <a:ea typeface="+mn-ea"/>
              </a:rPr>
              <a:t>프로그램 제거</a:t>
            </a:r>
            <a:r>
              <a:rPr lang="en-US" altLang="ko-KR" dirty="0">
                <a:latin typeface="+mn-ea"/>
                <a:ea typeface="+mn-ea"/>
              </a:rPr>
              <a:t>/</a:t>
            </a:r>
            <a:r>
              <a:rPr lang="ko-KR" altLang="en-US" dirty="0">
                <a:latin typeface="+mn-ea"/>
                <a:ea typeface="+mn-ea"/>
              </a:rPr>
              <a:t>변경 </a:t>
            </a:r>
            <a:r>
              <a:rPr lang="en-US" altLang="ko-KR" dirty="0">
                <a:latin typeface="+mn-ea"/>
                <a:ea typeface="+mn-ea"/>
              </a:rPr>
              <a:t>: Microsoft .NET Framework 4.5.2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설치버전    </a:t>
            </a:r>
            <a:r>
              <a:rPr lang="en-US" altLang="ko-KR" dirty="0">
                <a:latin typeface="+mn-ea"/>
                <a:ea typeface="+mn-ea"/>
              </a:rPr>
              <a:t>: 4.5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설치파일명  </a:t>
            </a:r>
            <a:r>
              <a:rPr lang="en-US" altLang="ko-KR" dirty="0">
                <a:latin typeface="+mn-ea"/>
                <a:ea typeface="+mn-ea"/>
              </a:rPr>
              <a:t>: dotnetfx45_full_x86_x64.exe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  </a:t>
            </a:r>
            <a:r>
              <a:rPr lang="en-US" altLang="ko-KR" dirty="0" err="1">
                <a:latin typeface="+mn-ea"/>
                <a:ea typeface="+mn-ea"/>
              </a:rPr>
              <a:t>Veraport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설치여부 체크 기준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제품 체크 기능 </a:t>
            </a:r>
            <a:r>
              <a:rPr lang="ko-KR" altLang="en-US" dirty="0" smtClean="0">
                <a:latin typeface="+mn-ea"/>
                <a:ea typeface="+mn-ea"/>
              </a:rPr>
              <a:t>사용</a:t>
            </a:r>
            <a:endParaRPr lang="en-US" altLang="ko-KR" dirty="0" smtClean="0">
              <a:latin typeface="+mn-ea"/>
              <a:ea typeface="+mn-ea"/>
            </a:endParaRPr>
          </a:p>
          <a:p>
            <a:pPr marL="228600" indent="-228600" algn="l">
              <a:buAutoNum type="arabicPeriod"/>
            </a:pPr>
            <a:endParaRPr lang="ko-KR" altLang="en-US" dirty="0">
              <a:latin typeface="+mn-ea"/>
              <a:ea typeface="+mn-ea"/>
            </a:endParaRPr>
          </a:p>
          <a:p>
            <a:pPr algn="l"/>
            <a:r>
              <a:rPr lang="en-US" altLang="ko-KR" dirty="0">
                <a:latin typeface="+mn-ea"/>
                <a:ea typeface="+mn-ea"/>
              </a:rPr>
              <a:t>2. </a:t>
            </a:r>
            <a:r>
              <a:rPr lang="ko-KR" altLang="en-US" dirty="0">
                <a:latin typeface="+mn-ea"/>
                <a:ea typeface="+mn-ea"/>
              </a:rPr>
              <a:t>제품등록 명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err="1">
                <a:latin typeface="+mn-ea"/>
                <a:ea typeface="+mn-ea"/>
              </a:rPr>
              <a:t>MSUpdate</a:t>
            </a:r>
            <a:r>
              <a:rPr lang="en-US" altLang="ko-KR" dirty="0">
                <a:latin typeface="+mn-ea"/>
                <a:ea typeface="+mn-ea"/>
              </a:rPr>
              <a:t/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설명    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err="1">
                <a:latin typeface="+mn-ea"/>
                <a:ea typeface="+mn-ea"/>
              </a:rPr>
              <a:t>.Net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프로그램을 위해 </a:t>
            </a:r>
            <a:r>
              <a:rPr lang="en-US" altLang="ko-KR" dirty="0">
                <a:latin typeface="+mn-ea"/>
                <a:ea typeface="+mn-ea"/>
              </a:rPr>
              <a:t>VC++ </a:t>
            </a:r>
            <a:r>
              <a:rPr lang="ko-KR" altLang="en-US" dirty="0" err="1">
                <a:latin typeface="+mn-ea"/>
                <a:ea typeface="+mn-ea"/>
              </a:rPr>
              <a:t>제배포</a:t>
            </a:r>
            <a:r>
              <a:rPr lang="ko-KR" altLang="en-US" dirty="0">
                <a:latin typeface="+mn-ea"/>
                <a:ea typeface="+mn-ea"/>
              </a:rPr>
              <a:t> 프로그램 설치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점검방법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제어판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>
                <a:latin typeface="+mn-ea"/>
                <a:ea typeface="+mn-ea"/>
              </a:rPr>
              <a:t>프로그램 제거</a:t>
            </a:r>
            <a:r>
              <a:rPr lang="en-US" altLang="ko-KR" dirty="0">
                <a:latin typeface="+mn-ea"/>
                <a:ea typeface="+mn-ea"/>
              </a:rPr>
              <a:t>/</a:t>
            </a:r>
            <a:r>
              <a:rPr lang="ko-KR" altLang="en-US" dirty="0">
                <a:latin typeface="+mn-ea"/>
                <a:ea typeface="+mn-ea"/>
              </a:rPr>
              <a:t>변경 </a:t>
            </a:r>
            <a:r>
              <a:rPr lang="en-US" altLang="ko-KR" dirty="0">
                <a:latin typeface="+mn-ea"/>
                <a:ea typeface="+mn-ea"/>
              </a:rPr>
              <a:t>: Microsoft Visual C++ 2013 Redistributable - 12.xxx </a:t>
            </a:r>
            <a:r>
              <a:rPr lang="ko-KR" altLang="en-US" dirty="0">
                <a:latin typeface="+mn-ea"/>
                <a:ea typeface="+mn-ea"/>
              </a:rPr>
              <a:t>버전 이상 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                         </a:t>
            </a:r>
            <a:r>
              <a:rPr lang="en-US" altLang="ko-KR" dirty="0">
                <a:latin typeface="+mn-ea"/>
                <a:ea typeface="+mn-ea"/>
              </a:rPr>
              <a:t>- window </a:t>
            </a:r>
            <a:r>
              <a:rPr lang="ko-KR" altLang="en-US" dirty="0">
                <a:latin typeface="+mn-ea"/>
                <a:ea typeface="+mn-ea"/>
              </a:rPr>
              <a:t>업데이트  </a:t>
            </a:r>
            <a:r>
              <a:rPr lang="en-US" altLang="ko-KR" dirty="0">
                <a:latin typeface="+mn-ea"/>
                <a:ea typeface="+mn-ea"/>
              </a:rPr>
              <a:t>: Microsoft Windows(win7 : KB3118401)</a:t>
            </a:r>
            <a:r>
              <a:rPr lang="ko-KR" altLang="en-US" dirty="0">
                <a:latin typeface="+mn-ea"/>
                <a:ea typeface="+mn-ea"/>
              </a:rPr>
              <a:t>에 대한 보안 업데이트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                                      </a:t>
            </a:r>
            <a:r>
              <a:rPr lang="en-US" altLang="ko-KR" dirty="0">
                <a:latin typeface="+mn-ea"/>
                <a:ea typeface="+mn-ea"/>
              </a:rPr>
              <a:t>win 7 </a:t>
            </a:r>
            <a:r>
              <a:rPr lang="ko-KR" altLang="en-US" dirty="0">
                <a:latin typeface="+mn-ea"/>
                <a:ea typeface="+mn-ea"/>
              </a:rPr>
              <a:t>이외에는 </a:t>
            </a:r>
            <a:r>
              <a:rPr lang="en-US" altLang="ko-KR" dirty="0">
                <a:latin typeface="+mn-ea"/>
                <a:ea typeface="+mn-ea"/>
              </a:rPr>
              <a:t>(KB2999226)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설치버전      </a:t>
            </a:r>
            <a:r>
              <a:rPr lang="en-US" altLang="ko-KR" dirty="0">
                <a:latin typeface="+mn-ea"/>
                <a:ea typeface="+mn-ea"/>
              </a:rPr>
              <a:t>: 1,0,0,1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설치파일명    </a:t>
            </a:r>
            <a:r>
              <a:rPr lang="en-US" altLang="ko-KR" dirty="0">
                <a:latin typeface="+mn-ea"/>
                <a:ea typeface="+mn-ea"/>
              </a:rPr>
              <a:t>: MSUpdate_Installer.exe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개별파일명    </a:t>
            </a:r>
            <a:r>
              <a:rPr lang="en-US" altLang="ko-KR" dirty="0">
                <a:latin typeface="+mn-ea"/>
                <a:ea typeface="+mn-ea"/>
              </a:rPr>
              <a:t>: vc_redist.x86.exe, WindowsUCRT_170110.zip 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  </a:t>
            </a:r>
            <a:r>
              <a:rPr lang="en-US" altLang="ko-KR" dirty="0" err="1">
                <a:latin typeface="+mn-ea"/>
                <a:ea typeface="+mn-ea"/>
              </a:rPr>
              <a:t>Veraport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설치여부 체크 기준 </a:t>
            </a:r>
            <a:r>
              <a:rPr lang="en-US" altLang="ko-KR" dirty="0">
                <a:latin typeface="+mn-ea"/>
                <a:ea typeface="+mn-ea"/>
              </a:rPr>
              <a:t>: %</a:t>
            </a:r>
            <a:r>
              <a:rPr lang="en-US" altLang="ko-KR" dirty="0" err="1">
                <a:latin typeface="+mn-ea"/>
                <a:ea typeface="+mn-ea"/>
              </a:rPr>
              <a:t>SystemDrive</a:t>
            </a:r>
            <a:r>
              <a:rPr lang="en-US" altLang="ko-KR" dirty="0">
                <a:latin typeface="+mn-ea"/>
                <a:ea typeface="+mn-ea"/>
              </a:rPr>
              <a:t>%\</a:t>
            </a:r>
            <a:r>
              <a:rPr lang="en-US" altLang="ko-KR" dirty="0" err="1">
                <a:latin typeface="+mn-ea"/>
                <a:ea typeface="+mn-ea"/>
              </a:rPr>
              <a:t>inswave</a:t>
            </a:r>
            <a:r>
              <a:rPr lang="en-US" altLang="ko-KR" dirty="0">
                <a:latin typeface="+mn-ea"/>
                <a:ea typeface="+mn-ea"/>
              </a:rPr>
              <a:t>\W-Gear\Swing\</a:t>
            </a:r>
            <a:r>
              <a:rPr lang="en-US" altLang="ko-KR" dirty="0" err="1">
                <a:latin typeface="+mn-ea"/>
                <a:ea typeface="+mn-ea"/>
              </a:rPr>
              <a:t>MSUpdate</a:t>
            </a:r>
            <a:r>
              <a:rPr lang="en-US" altLang="ko-KR" dirty="0">
                <a:latin typeface="+mn-ea"/>
                <a:ea typeface="+mn-ea"/>
              </a:rPr>
              <a:t>\MSUpdate_Info.dll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3. </a:t>
            </a:r>
            <a:r>
              <a:rPr lang="ko-KR" altLang="en-US" dirty="0">
                <a:latin typeface="+mn-ea"/>
                <a:ea typeface="+mn-ea"/>
              </a:rPr>
              <a:t>제품등록 명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err="1">
                <a:latin typeface="+mn-ea"/>
                <a:ea typeface="+mn-ea"/>
              </a:rPr>
              <a:t>SwingJRE</a:t>
            </a:r>
            <a:r>
              <a:rPr lang="en-US" altLang="ko-KR" dirty="0">
                <a:latin typeface="+mn-ea"/>
                <a:ea typeface="+mn-ea"/>
              </a:rPr>
              <a:t/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설명        </a:t>
            </a:r>
            <a:r>
              <a:rPr lang="en-US" altLang="ko-KR" dirty="0">
                <a:latin typeface="+mn-ea"/>
                <a:ea typeface="+mn-ea"/>
              </a:rPr>
              <a:t>: CTI </a:t>
            </a:r>
            <a:r>
              <a:rPr lang="en-US" altLang="ko-KR" dirty="0" err="1">
                <a:latin typeface="+mn-ea"/>
                <a:ea typeface="+mn-ea"/>
              </a:rPr>
              <a:t>Genesys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및 </a:t>
            </a:r>
            <a:r>
              <a:rPr lang="en-US" altLang="ko-KR" dirty="0" err="1">
                <a:latin typeface="+mn-ea"/>
                <a:ea typeface="+mn-ea"/>
              </a:rPr>
              <a:t>U.Scan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사용하기 위한 </a:t>
            </a:r>
            <a:r>
              <a:rPr lang="en-US" altLang="ko-KR" dirty="0">
                <a:latin typeface="+mn-ea"/>
                <a:ea typeface="+mn-ea"/>
              </a:rPr>
              <a:t>tomcat </a:t>
            </a:r>
            <a:r>
              <a:rPr lang="ko-KR" altLang="en-US" dirty="0">
                <a:latin typeface="+mn-ea"/>
                <a:ea typeface="+mn-ea"/>
              </a:rPr>
              <a:t>프로그램 설치파일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점검방법    </a:t>
            </a:r>
            <a:r>
              <a:rPr lang="en-US" altLang="ko-KR" dirty="0">
                <a:latin typeface="+mn-ea"/>
                <a:ea typeface="+mn-ea"/>
              </a:rPr>
              <a:t>: C:\SKT-UScan\jre </a:t>
            </a:r>
            <a:r>
              <a:rPr lang="ko-KR" altLang="en-US" dirty="0">
                <a:latin typeface="+mn-ea"/>
                <a:ea typeface="+mn-ea"/>
              </a:rPr>
              <a:t>폴더 및 파일 생성 여부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설치버전    </a:t>
            </a:r>
            <a:r>
              <a:rPr lang="en-US" altLang="ko-KR" dirty="0">
                <a:latin typeface="+mn-ea"/>
                <a:ea typeface="+mn-ea"/>
              </a:rPr>
              <a:t>: 1,0,0,0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설치파일명  </a:t>
            </a:r>
            <a:r>
              <a:rPr lang="en-US" altLang="ko-KR" dirty="0">
                <a:latin typeface="+mn-ea"/>
                <a:ea typeface="+mn-ea"/>
              </a:rPr>
              <a:t>: SwingJRE_1_7.exe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4. </a:t>
            </a:r>
            <a:r>
              <a:rPr lang="ko-KR" altLang="en-US" dirty="0">
                <a:latin typeface="+mn-ea"/>
                <a:ea typeface="+mn-ea"/>
              </a:rPr>
              <a:t>제품등록 명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err="1">
                <a:latin typeface="+mn-ea"/>
                <a:ea typeface="+mn-ea"/>
              </a:rPr>
              <a:t>UScan</a:t>
            </a:r>
            <a:r>
              <a:rPr lang="en-US" altLang="ko-KR" dirty="0">
                <a:latin typeface="+mn-ea"/>
                <a:ea typeface="+mn-ea"/>
              </a:rPr>
              <a:t/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설명    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대리점 신청서 관련 프로그램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점검방법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제어판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>
                <a:latin typeface="+mn-ea"/>
                <a:ea typeface="+mn-ea"/>
              </a:rPr>
              <a:t>프로그램 제거</a:t>
            </a:r>
            <a:r>
              <a:rPr lang="en-US" altLang="ko-KR" dirty="0">
                <a:latin typeface="+mn-ea"/>
                <a:ea typeface="+mn-ea"/>
              </a:rPr>
              <a:t>/</a:t>
            </a:r>
            <a:r>
              <a:rPr lang="ko-KR" altLang="en-US" dirty="0">
                <a:latin typeface="+mn-ea"/>
                <a:ea typeface="+mn-ea"/>
              </a:rPr>
              <a:t>변경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err="1">
                <a:latin typeface="+mn-ea"/>
                <a:ea typeface="+mn-ea"/>
              </a:rPr>
              <a:t>U.Scan</a:t>
            </a:r>
            <a:r>
              <a:rPr lang="en-US" altLang="ko-KR" dirty="0">
                <a:latin typeface="+mn-ea"/>
                <a:ea typeface="+mn-ea"/>
              </a:rPr>
              <a:t> Agent 1.0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설치버전    </a:t>
            </a:r>
            <a:r>
              <a:rPr lang="en-US" altLang="ko-KR" dirty="0">
                <a:latin typeface="+mn-ea"/>
                <a:ea typeface="+mn-ea"/>
              </a:rPr>
              <a:t>: 1,0,8,0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설치파일명  </a:t>
            </a:r>
            <a:r>
              <a:rPr lang="en-US" altLang="ko-KR" dirty="0">
                <a:latin typeface="+mn-ea"/>
                <a:ea typeface="+mn-ea"/>
              </a:rPr>
              <a:t>: SKT-UScan-Installer.exe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  </a:t>
            </a:r>
            <a:r>
              <a:rPr lang="en-US" altLang="ko-KR" dirty="0" err="1">
                <a:latin typeface="+mn-ea"/>
                <a:ea typeface="+mn-ea"/>
              </a:rPr>
              <a:t>Veraport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설치여부 체크 기준 </a:t>
            </a:r>
            <a:r>
              <a:rPr lang="en-US" altLang="ko-KR" dirty="0">
                <a:latin typeface="+mn-ea"/>
                <a:ea typeface="+mn-ea"/>
              </a:rPr>
              <a:t>: C:\SKT-UScan\installinfo\uscan.info.br.dll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5. </a:t>
            </a:r>
            <a:r>
              <a:rPr lang="ko-KR" altLang="en-US" dirty="0">
                <a:latin typeface="+mn-ea"/>
                <a:ea typeface="+mn-ea"/>
              </a:rPr>
              <a:t>제품등록 명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err="1">
                <a:latin typeface="+mn-ea"/>
                <a:ea typeface="+mn-ea"/>
              </a:rPr>
              <a:t>SwingBiz</a:t>
            </a:r>
            <a:r>
              <a:rPr lang="en-US" altLang="ko-KR" dirty="0">
                <a:latin typeface="+mn-ea"/>
                <a:ea typeface="+mn-ea"/>
              </a:rPr>
              <a:t/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설명        </a:t>
            </a:r>
            <a:r>
              <a:rPr lang="en-US" altLang="ko-KR" dirty="0">
                <a:latin typeface="+mn-ea"/>
                <a:ea typeface="+mn-ea"/>
              </a:rPr>
              <a:t>: Swing </a:t>
            </a:r>
            <a:r>
              <a:rPr lang="ko-KR" altLang="en-US" dirty="0">
                <a:latin typeface="+mn-ea"/>
                <a:ea typeface="+mn-ea"/>
              </a:rPr>
              <a:t>업무용 제품 프로그램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점검방법    </a:t>
            </a:r>
            <a:r>
              <a:rPr lang="en-US" altLang="ko-KR" dirty="0">
                <a:latin typeface="+mn-ea"/>
                <a:ea typeface="+mn-ea"/>
              </a:rPr>
              <a:t>: C:\inswave\W-Gear\Swing\BridgeClientX.ocx </a:t>
            </a:r>
            <a:r>
              <a:rPr lang="ko-KR" altLang="en-US" dirty="0">
                <a:latin typeface="+mn-ea"/>
                <a:ea typeface="+mn-ea"/>
              </a:rPr>
              <a:t>존재 여부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설치버전    </a:t>
            </a:r>
            <a:r>
              <a:rPr lang="en-US" altLang="ko-KR" dirty="0">
                <a:latin typeface="+mn-ea"/>
                <a:ea typeface="+mn-ea"/>
              </a:rPr>
              <a:t>: 1,0,0,1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설치파일명  </a:t>
            </a:r>
            <a:r>
              <a:rPr lang="en-US" altLang="ko-KR" dirty="0">
                <a:latin typeface="+mn-ea"/>
                <a:ea typeface="+mn-ea"/>
              </a:rPr>
              <a:t>: SwingBiz_Installer.exe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  </a:t>
            </a:r>
            <a:r>
              <a:rPr lang="en-US" altLang="ko-KR" dirty="0" err="1">
                <a:latin typeface="+mn-ea"/>
                <a:ea typeface="+mn-ea"/>
              </a:rPr>
              <a:t>Veraport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설치여부 체크 기준 </a:t>
            </a:r>
            <a:r>
              <a:rPr lang="en-US" altLang="ko-KR" dirty="0">
                <a:latin typeface="+mn-ea"/>
                <a:ea typeface="+mn-ea"/>
              </a:rPr>
              <a:t>: C:\</a:t>
            </a:r>
            <a:r>
              <a:rPr lang="en-US" altLang="ko-KR" dirty="0" smtClean="0">
                <a:latin typeface="+mn-ea"/>
                <a:ea typeface="+mn-ea"/>
              </a:rPr>
              <a:t>inswave\W-Gear\Swing\SwingBiz\SwingBiz_Info.dll</a:t>
            </a:r>
            <a:r>
              <a:rPr lang="en-US" altLang="ko-KR" dirty="0">
                <a:latin typeface="+mn-ea"/>
                <a:ea typeface="+mn-ea"/>
              </a:rPr>
              <a:t>  </a:t>
            </a:r>
            <a:endParaRPr lang="ko-KR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60741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Swing Client(PC) </a:t>
            </a:r>
            <a:r>
              <a:rPr lang="ko-KR" altLang="en-US" dirty="0"/>
              <a:t>설치 프로그램 목록 </a:t>
            </a:r>
            <a:r>
              <a:rPr lang="en-US" altLang="ko-KR" dirty="0"/>
              <a:t>– </a:t>
            </a:r>
            <a:r>
              <a:rPr lang="en-US" altLang="ko-KR" dirty="0" err="1"/>
              <a:t>Veraport</a:t>
            </a:r>
            <a:r>
              <a:rPr lang="ko-KR" altLang="en-US" dirty="0"/>
              <a:t>를 이용한 자동설치 프로그램 </a:t>
            </a:r>
            <a:r>
              <a:rPr lang="ko-KR" altLang="en-US" dirty="0" smtClean="0"/>
              <a:t>목록</a:t>
            </a:r>
            <a:r>
              <a:rPr lang="ko-KR" altLang="en-US" dirty="0"/>
              <a:t> </a:t>
            </a:r>
            <a:r>
              <a:rPr lang="en-US" altLang="ko-KR" dirty="0" smtClean="0"/>
              <a:t>(2/3</a:t>
            </a:r>
            <a:r>
              <a:rPr lang="en-US" altLang="ko-KR" dirty="0"/>
              <a:t>)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808074" y="745129"/>
            <a:ext cx="824023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dirty="0" smtClean="0">
                <a:latin typeface="+mn-ea"/>
                <a:ea typeface="+mn-ea"/>
              </a:rPr>
              <a:t>6</a:t>
            </a:r>
            <a:r>
              <a:rPr lang="en-US" altLang="ko-KR" dirty="0">
                <a:latin typeface="+mn-ea"/>
                <a:ea typeface="+mn-ea"/>
              </a:rPr>
              <a:t>. </a:t>
            </a:r>
            <a:r>
              <a:rPr lang="ko-KR" altLang="en-US" dirty="0">
                <a:latin typeface="+mn-ea"/>
                <a:ea typeface="+mn-ea"/>
              </a:rPr>
              <a:t>제품등록 명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err="1">
                <a:latin typeface="+mn-ea"/>
                <a:ea typeface="+mn-ea"/>
              </a:rPr>
              <a:t>CTIGenesis</a:t>
            </a:r>
            <a:r>
              <a:rPr lang="en-US" altLang="ko-KR" dirty="0">
                <a:latin typeface="+mn-ea"/>
                <a:ea typeface="+mn-ea"/>
              </a:rPr>
              <a:t/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설명    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 err="1">
                <a:latin typeface="+mn-ea"/>
                <a:ea typeface="+mn-ea"/>
              </a:rPr>
              <a:t>콜센터</a:t>
            </a:r>
            <a:r>
              <a:rPr lang="ko-KR" altLang="en-US" dirty="0">
                <a:latin typeface="+mn-ea"/>
                <a:ea typeface="+mn-ea"/>
              </a:rPr>
              <a:t> 전화기 연동 프로그램 </a:t>
            </a:r>
            <a:r>
              <a:rPr lang="en-US" altLang="ko-KR" dirty="0">
                <a:latin typeface="+mn-ea"/>
                <a:ea typeface="+mn-ea"/>
              </a:rPr>
              <a:t>( SKT </a:t>
            </a:r>
            <a:r>
              <a:rPr lang="ko-KR" altLang="en-US" dirty="0">
                <a:latin typeface="+mn-ea"/>
                <a:ea typeface="+mn-ea"/>
              </a:rPr>
              <a:t>전체 </a:t>
            </a:r>
            <a:r>
              <a:rPr lang="en-US" altLang="ko-KR" dirty="0">
                <a:latin typeface="+mn-ea"/>
                <a:ea typeface="+mn-ea"/>
              </a:rPr>
              <a:t>, SKB </a:t>
            </a:r>
            <a:r>
              <a:rPr lang="ko-KR" altLang="en-US" dirty="0">
                <a:latin typeface="+mn-ea"/>
                <a:ea typeface="+mn-ea"/>
              </a:rPr>
              <a:t>대부분 </a:t>
            </a:r>
            <a:r>
              <a:rPr lang="en-US" altLang="ko-KR" dirty="0">
                <a:latin typeface="+mn-ea"/>
                <a:ea typeface="+mn-ea"/>
              </a:rPr>
              <a:t>)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점검방법    </a:t>
            </a:r>
            <a:r>
              <a:rPr lang="en-US" altLang="ko-KR" dirty="0">
                <a:latin typeface="+mn-ea"/>
                <a:ea typeface="+mn-ea"/>
              </a:rPr>
              <a:t>: C:\inswave\W-Gear\Swing\ailxtk.dll </a:t>
            </a:r>
            <a:r>
              <a:rPr lang="ko-KR" altLang="en-US" dirty="0">
                <a:latin typeface="+mn-ea"/>
                <a:ea typeface="+mn-ea"/>
              </a:rPr>
              <a:t>존재 여부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설치버전    </a:t>
            </a:r>
            <a:r>
              <a:rPr lang="en-US" altLang="ko-KR" dirty="0">
                <a:latin typeface="+mn-ea"/>
                <a:ea typeface="+mn-ea"/>
              </a:rPr>
              <a:t>: 2,1,101,11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설치파일명  </a:t>
            </a:r>
            <a:r>
              <a:rPr lang="en-US" altLang="ko-KR" dirty="0">
                <a:latin typeface="+mn-ea"/>
                <a:ea typeface="+mn-ea"/>
              </a:rPr>
              <a:t>: SwingCTIToolbar_DLLJAR_setup.exe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  </a:t>
            </a:r>
            <a:r>
              <a:rPr lang="en-US" altLang="ko-KR" dirty="0" err="1">
                <a:latin typeface="+mn-ea"/>
                <a:ea typeface="+mn-ea"/>
              </a:rPr>
              <a:t>Veraport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설치여부 체크 기준 </a:t>
            </a:r>
            <a:r>
              <a:rPr lang="en-US" altLang="ko-KR" dirty="0">
                <a:latin typeface="+mn-ea"/>
                <a:ea typeface="+mn-ea"/>
              </a:rPr>
              <a:t>: C:\inswave\W-Gear\Swing\ailxtk.dll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7. </a:t>
            </a:r>
            <a:r>
              <a:rPr lang="ko-KR" altLang="en-US" dirty="0">
                <a:latin typeface="+mn-ea"/>
                <a:ea typeface="+mn-ea"/>
              </a:rPr>
              <a:t>제품등록 명 </a:t>
            </a:r>
            <a:r>
              <a:rPr lang="en-US" altLang="ko-KR" dirty="0">
                <a:latin typeface="+mn-ea"/>
                <a:ea typeface="+mn-ea"/>
              </a:rPr>
              <a:t>: CTICVCT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설명    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 err="1">
                <a:latin typeface="+mn-ea"/>
                <a:ea typeface="+mn-ea"/>
              </a:rPr>
              <a:t>콜센터</a:t>
            </a:r>
            <a:r>
              <a:rPr lang="ko-KR" altLang="en-US" dirty="0">
                <a:latin typeface="+mn-ea"/>
                <a:ea typeface="+mn-ea"/>
              </a:rPr>
              <a:t> 전화기 연동 프로그램 </a:t>
            </a:r>
            <a:r>
              <a:rPr lang="en-US" altLang="ko-KR" dirty="0">
                <a:latin typeface="+mn-ea"/>
                <a:ea typeface="+mn-ea"/>
              </a:rPr>
              <a:t>( SKB </a:t>
            </a:r>
            <a:r>
              <a:rPr lang="ko-KR" altLang="en-US" dirty="0">
                <a:latin typeface="+mn-ea"/>
                <a:ea typeface="+mn-ea"/>
              </a:rPr>
              <a:t>일부 </a:t>
            </a:r>
            <a:r>
              <a:rPr lang="en-US" altLang="ko-KR" dirty="0">
                <a:latin typeface="+mn-ea"/>
                <a:ea typeface="+mn-ea"/>
              </a:rPr>
              <a:t>)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점검방법    </a:t>
            </a:r>
            <a:r>
              <a:rPr lang="en-US" altLang="ko-KR" dirty="0">
                <a:latin typeface="+mn-ea"/>
                <a:ea typeface="+mn-ea"/>
              </a:rPr>
              <a:t>: C:\inswave\W-Gear\Swing\ailxtk.dll </a:t>
            </a:r>
            <a:r>
              <a:rPr lang="ko-KR" altLang="en-US" dirty="0">
                <a:latin typeface="+mn-ea"/>
                <a:ea typeface="+mn-ea"/>
              </a:rPr>
              <a:t>존재 여부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설치버전    </a:t>
            </a:r>
            <a:r>
              <a:rPr lang="en-US" altLang="ko-KR" dirty="0">
                <a:latin typeface="+mn-ea"/>
                <a:ea typeface="+mn-ea"/>
              </a:rPr>
              <a:t>: 2,0,0,2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설치파일명  </a:t>
            </a:r>
            <a:r>
              <a:rPr lang="en-US" altLang="ko-KR" dirty="0">
                <a:latin typeface="+mn-ea"/>
                <a:ea typeface="+mn-ea"/>
              </a:rPr>
              <a:t>: BridgeClientX.exe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  </a:t>
            </a:r>
            <a:r>
              <a:rPr lang="en-US" altLang="ko-KR" dirty="0" err="1">
                <a:latin typeface="+mn-ea"/>
                <a:ea typeface="+mn-ea"/>
              </a:rPr>
              <a:t>Veraport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설치여부 체크 기준 </a:t>
            </a:r>
            <a:r>
              <a:rPr lang="en-US" altLang="ko-KR" dirty="0">
                <a:latin typeface="+mn-ea"/>
                <a:ea typeface="+mn-ea"/>
              </a:rPr>
              <a:t>: C:\inswave\W-Gear\Swing\BridgeClientX.ocx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8. </a:t>
            </a:r>
            <a:r>
              <a:rPr lang="ko-KR" altLang="en-US" dirty="0">
                <a:latin typeface="+mn-ea"/>
                <a:ea typeface="+mn-ea"/>
              </a:rPr>
              <a:t>제품등록 명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err="1">
                <a:latin typeface="+mn-ea"/>
                <a:ea typeface="+mn-ea"/>
              </a:rPr>
              <a:t>TSwingBiz</a:t>
            </a:r>
            <a:r>
              <a:rPr lang="en-US" altLang="ko-KR" dirty="0">
                <a:latin typeface="+mn-ea"/>
                <a:ea typeface="+mn-ea"/>
              </a:rPr>
              <a:t/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설명    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err="1">
                <a:latin typeface="+mn-ea"/>
                <a:ea typeface="+mn-ea"/>
              </a:rPr>
              <a:t>TSwing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 err="1">
                <a:latin typeface="+mn-ea"/>
                <a:ea typeface="+mn-ea"/>
              </a:rPr>
              <a:t>바로가기</a:t>
            </a:r>
            <a:r>
              <a:rPr lang="ko-KR" altLang="en-US" dirty="0">
                <a:latin typeface="+mn-ea"/>
                <a:ea typeface="+mn-ea"/>
              </a:rPr>
              <a:t> </a:t>
            </a:r>
            <a:r>
              <a:rPr lang="en-US" altLang="ko-KR" dirty="0">
                <a:latin typeface="+mn-ea"/>
                <a:ea typeface="+mn-ea"/>
              </a:rPr>
              <a:t>+ </a:t>
            </a:r>
            <a:r>
              <a:rPr lang="en-US" altLang="ko-KR" dirty="0" err="1">
                <a:latin typeface="+mn-ea"/>
                <a:ea typeface="+mn-ea"/>
              </a:rPr>
              <a:t>SwingBiz</a:t>
            </a:r>
            <a:r>
              <a:rPr lang="en-US" altLang="ko-KR" dirty="0">
                <a:latin typeface="+mn-ea"/>
                <a:ea typeface="+mn-ea"/>
              </a:rPr>
              <a:t/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점검방법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바탕화면에 </a:t>
            </a:r>
            <a:r>
              <a:rPr lang="en-US" altLang="ko-KR" dirty="0">
                <a:latin typeface="+mn-ea"/>
                <a:ea typeface="+mn-ea"/>
              </a:rPr>
              <a:t>T-Swing, T-Swing </a:t>
            </a:r>
            <a:r>
              <a:rPr lang="ko-KR" altLang="en-US" dirty="0">
                <a:latin typeface="+mn-ea"/>
                <a:ea typeface="+mn-ea"/>
              </a:rPr>
              <a:t>교육 아이콘 생성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설치버전    </a:t>
            </a:r>
            <a:r>
              <a:rPr lang="en-US" altLang="ko-KR" dirty="0">
                <a:latin typeface="+mn-ea"/>
                <a:ea typeface="+mn-ea"/>
              </a:rPr>
              <a:t>: 1,0,0,1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설치파일명  </a:t>
            </a:r>
            <a:r>
              <a:rPr lang="en-US" altLang="ko-KR" dirty="0">
                <a:latin typeface="+mn-ea"/>
                <a:ea typeface="+mn-ea"/>
              </a:rPr>
              <a:t>: TSwingBiz_Installer.exe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  </a:t>
            </a:r>
            <a:r>
              <a:rPr lang="en-US" altLang="ko-KR" dirty="0" err="1">
                <a:latin typeface="+mn-ea"/>
                <a:ea typeface="+mn-ea"/>
              </a:rPr>
              <a:t>Veraport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설치여부 체크 기준 </a:t>
            </a:r>
            <a:r>
              <a:rPr lang="en-US" altLang="ko-KR" dirty="0">
                <a:latin typeface="+mn-ea"/>
                <a:ea typeface="+mn-ea"/>
              </a:rPr>
              <a:t>: C:\inswave\W-Gear\Swing\TSwingBiz\TSwingBiz_Info.dll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9. </a:t>
            </a:r>
            <a:r>
              <a:rPr lang="ko-KR" altLang="en-US" dirty="0">
                <a:latin typeface="+mn-ea"/>
                <a:ea typeface="+mn-ea"/>
              </a:rPr>
              <a:t>제품등록 명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err="1">
                <a:latin typeface="+mn-ea"/>
                <a:ea typeface="+mn-ea"/>
              </a:rPr>
              <a:t>BSwingBiz</a:t>
            </a:r>
            <a:r>
              <a:rPr lang="en-US" altLang="ko-KR" dirty="0">
                <a:latin typeface="+mn-ea"/>
                <a:ea typeface="+mn-ea"/>
              </a:rPr>
              <a:t/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설명    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err="1">
                <a:latin typeface="+mn-ea"/>
                <a:ea typeface="+mn-ea"/>
              </a:rPr>
              <a:t>BSwing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 err="1">
                <a:latin typeface="+mn-ea"/>
                <a:ea typeface="+mn-ea"/>
              </a:rPr>
              <a:t>바로가기</a:t>
            </a:r>
            <a:r>
              <a:rPr lang="ko-KR" altLang="en-US" dirty="0">
                <a:latin typeface="+mn-ea"/>
                <a:ea typeface="+mn-ea"/>
              </a:rPr>
              <a:t> </a:t>
            </a:r>
            <a:r>
              <a:rPr lang="en-US" altLang="ko-KR" dirty="0">
                <a:latin typeface="+mn-ea"/>
                <a:ea typeface="+mn-ea"/>
              </a:rPr>
              <a:t>+ </a:t>
            </a:r>
            <a:r>
              <a:rPr lang="en-US" altLang="ko-KR" dirty="0" err="1">
                <a:latin typeface="+mn-ea"/>
                <a:ea typeface="+mn-ea"/>
              </a:rPr>
              <a:t>SwingBiz</a:t>
            </a:r>
            <a:r>
              <a:rPr lang="en-US" altLang="ko-KR" dirty="0">
                <a:latin typeface="+mn-ea"/>
                <a:ea typeface="+mn-ea"/>
              </a:rPr>
              <a:t/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점검방법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바탕화면에 </a:t>
            </a:r>
            <a:r>
              <a:rPr lang="en-US" altLang="ko-KR" dirty="0">
                <a:latin typeface="+mn-ea"/>
                <a:ea typeface="+mn-ea"/>
              </a:rPr>
              <a:t>B-Swing, B-Swing </a:t>
            </a:r>
            <a:r>
              <a:rPr lang="ko-KR" altLang="en-US" dirty="0">
                <a:latin typeface="+mn-ea"/>
                <a:ea typeface="+mn-ea"/>
              </a:rPr>
              <a:t>교육 아이콘 생성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설치버전    </a:t>
            </a:r>
            <a:r>
              <a:rPr lang="en-US" altLang="ko-KR" dirty="0">
                <a:latin typeface="+mn-ea"/>
                <a:ea typeface="+mn-ea"/>
              </a:rPr>
              <a:t>: 1,0,0,1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설치파일명  </a:t>
            </a:r>
            <a:r>
              <a:rPr lang="en-US" altLang="ko-KR" dirty="0">
                <a:latin typeface="+mn-ea"/>
                <a:ea typeface="+mn-ea"/>
              </a:rPr>
              <a:t>: BSwingBiz_Installer.exe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  </a:t>
            </a:r>
            <a:r>
              <a:rPr lang="en-US" altLang="ko-KR" dirty="0" err="1">
                <a:latin typeface="+mn-ea"/>
                <a:ea typeface="+mn-ea"/>
              </a:rPr>
              <a:t>Veraport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설치여부 체크 기준 </a:t>
            </a:r>
            <a:r>
              <a:rPr lang="en-US" altLang="ko-KR" dirty="0">
                <a:latin typeface="+mn-ea"/>
                <a:ea typeface="+mn-ea"/>
              </a:rPr>
              <a:t>: C:\inswave\W-Gear\Swing\BSwingBiz\BSwingBiz_Info.dll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10. </a:t>
            </a:r>
            <a:r>
              <a:rPr lang="ko-KR" altLang="en-US" dirty="0">
                <a:latin typeface="+mn-ea"/>
                <a:ea typeface="+mn-ea"/>
              </a:rPr>
              <a:t>제품등록 명 </a:t>
            </a:r>
            <a:r>
              <a:rPr lang="en-US" altLang="ko-KR" dirty="0">
                <a:latin typeface="+mn-ea"/>
                <a:ea typeface="+mn-ea"/>
              </a:rPr>
              <a:t>: W-Gear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설명        </a:t>
            </a:r>
            <a:r>
              <a:rPr lang="en-US" altLang="ko-KR" dirty="0">
                <a:latin typeface="+mn-ea"/>
                <a:ea typeface="+mn-ea"/>
              </a:rPr>
              <a:t>: Swing </a:t>
            </a:r>
            <a:r>
              <a:rPr lang="ko-KR" altLang="en-US" dirty="0">
                <a:latin typeface="+mn-ea"/>
                <a:ea typeface="+mn-ea"/>
              </a:rPr>
              <a:t>업무 </a:t>
            </a:r>
            <a:r>
              <a:rPr lang="en-US" altLang="ko-KR" dirty="0">
                <a:latin typeface="+mn-ea"/>
                <a:ea typeface="+mn-ea"/>
              </a:rPr>
              <a:t>Plugin </a:t>
            </a:r>
            <a:r>
              <a:rPr lang="ko-KR" altLang="en-US" dirty="0">
                <a:latin typeface="+mn-ea"/>
                <a:ea typeface="+mn-ea"/>
              </a:rPr>
              <a:t>프로그램들 </a:t>
            </a:r>
            <a:r>
              <a:rPr lang="en-US" altLang="ko-KR" dirty="0">
                <a:latin typeface="+mn-ea"/>
                <a:ea typeface="+mn-ea"/>
              </a:rPr>
              <a:t>API </a:t>
            </a:r>
            <a:r>
              <a:rPr lang="ko-KR" altLang="en-US" dirty="0">
                <a:latin typeface="+mn-ea"/>
                <a:ea typeface="+mn-ea"/>
              </a:rPr>
              <a:t>호출 관리 프로그램 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점검방법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제어판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>
                <a:latin typeface="+mn-ea"/>
                <a:ea typeface="+mn-ea"/>
              </a:rPr>
              <a:t>프로그램 제거</a:t>
            </a:r>
            <a:r>
              <a:rPr lang="en-US" altLang="ko-KR" dirty="0">
                <a:latin typeface="+mn-ea"/>
                <a:ea typeface="+mn-ea"/>
              </a:rPr>
              <a:t>/</a:t>
            </a:r>
            <a:r>
              <a:rPr lang="ko-KR" altLang="en-US" dirty="0">
                <a:latin typeface="+mn-ea"/>
                <a:ea typeface="+mn-ea"/>
              </a:rPr>
              <a:t>변경 </a:t>
            </a:r>
            <a:r>
              <a:rPr lang="en-US" altLang="ko-KR" dirty="0">
                <a:latin typeface="+mn-ea"/>
                <a:ea typeface="+mn-ea"/>
              </a:rPr>
              <a:t>: W-Gear(Swing)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설치버전    </a:t>
            </a:r>
            <a:r>
              <a:rPr lang="en-US" altLang="ko-KR" dirty="0">
                <a:latin typeface="+mn-ea"/>
                <a:ea typeface="+mn-ea"/>
              </a:rPr>
              <a:t>: 1,0,20,0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설치파일명  </a:t>
            </a:r>
            <a:r>
              <a:rPr lang="en-US" altLang="ko-KR" dirty="0">
                <a:latin typeface="+mn-ea"/>
                <a:ea typeface="+mn-ea"/>
              </a:rPr>
              <a:t>: W-Gear(Swing)_setup.exe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  </a:t>
            </a:r>
            <a:r>
              <a:rPr lang="en-US" altLang="ko-KR" dirty="0" err="1">
                <a:latin typeface="+mn-ea"/>
                <a:ea typeface="+mn-ea"/>
              </a:rPr>
              <a:t>Veraport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설치여부 체크 기준 </a:t>
            </a:r>
            <a:r>
              <a:rPr lang="en-US" altLang="ko-KR" dirty="0">
                <a:latin typeface="+mn-ea"/>
                <a:ea typeface="+mn-ea"/>
              </a:rPr>
              <a:t>: C:\inswave\W-Gear\Swing\W-Gear(Swing).</a:t>
            </a:r>
            <a:r>
              <a:rPr lang="en-US" altLang="ko-KR" dirty="0" smtClean="0">
                <a:latin typeface="+mn-ea"/>
                <a:ea typeface="+mn-ea"/>
              </a:rPr>
              <a:t>exe</a:t>
            </a:r>
          </a:p>
        </p:txBody>
      </p:sp>
    </p:spTree>
    <p:extLst>
      <p:ext uri="{BB962C8B-B14F-4D97-AF65-F5344CB8AC3E}">
        <p14:creationId xmlns:p14="http://schemas.microsoft.com/office/powerpoint/2010/main" xmlns="" val="3800232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Swing Client(PC) </a:t>
            </a:r>
            <a:r>
              <a:rPr lang="ko-KR" altLang="en-US" dirty="0"/>
              <a:t>설치 프로그램 목록 </a:t>
            </a:r>
            <a:r>
              <a:rPr lang="en-US" altLang="ko-KR" dirty="0"/>
              <a:t>– </a:t>
            </a:r>
            <a:r>
              <a:rPr lang="en-US" altLang="ko-KR" dirty="0" err="1"/>
              <a:t>Veraport</a:t>
            </a:r>
            <a:r>
              <a:rPr lang="ko-KR" altLang="en-US" dirty="0"/>
              <a:t>를 이용한 자동설치 프로그램 </a:t>
            </a:r>
            <a:r>
              <a:rPr lang="ko-KR" altLang="en-US" dirty="0" smtClean="0"/>
              <a:t>목록</a:t>
            </a:r>
            <a:r>
              <a:rPr lang="ko-KR" altLang="en-US" dirty="0"/>
              <a:t> </a:t>
            </a:r>
            <a:r>
              <a:rPr lang="en-US" altLang="ko-KR" dirty="0" smtClean="0"/>
              <a:t>(3/3</a:t>
            </a:r>
            <a:r>
              <a:rPr lang="en-US" altLang="ko-KR" dirty="0"/>
              <a:t>)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893134" y="766395"/>
            <a:ext cx="824023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dirty="0" smtClean="0">
                <a:latin typeface="+mn-ea"/>
                <a:ea typeface="+mn-ea"/>
              </a:rPr>
              <a:t>11</a:t>
            </a:r>
            <a:r>
              <a:rPr lang="en-US" altLang="ko-KR" dirty="0">
                <a:latin typeface="+mn-ea"/>
                <a:ea typeface="+mn-ea"/>
              </a:rPr>
              <a:t>. </a:t>
            </a:r>
            <a:r>
              <a:rPr lang="ko-KR" altLang="en-US" dirty="0">
                <a:latin typeface="+mn-ea"/>
                <a:ea typeface="+mn-ea"/>
              </a:rPr>
              <a:t>제품등록 명 </a:t>
            </a:r>
            <a:r>
              <a:rPr lang="en-US" altLang="ko-KR" dirty="0">
                <a:latin typeface="+mn-ea"/>
                <a:ea typeface="+mn-ea"/>
              </a:rPr>
              <a:t>: W-Browser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설명        </a:t>
            </a:r>
            <a:r>
              <a:rPr lang="en-US" altLang="ko-KR" dirty="0">
                <a:latin typeface="+mn-ea"/>
                <a:ea typeface="+mn-ea"/>
              </a:rPr>
              <a:t>: Swing UI </a:t>
            </a:r>
            <a:r>
              <a:rPr lang="ko-KR" altLang="en-US" dirty="0">
                <a:latin typeface="+mn-ea"/>
                <a:ea typeface="+mn-ea"/>
              </a:rPr>
              <a:t>프로그램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점검방법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제어판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>
                <a:latin typeface="+mn-ea"/>
                <a:ea typeface="+mn-ea"/>
              </a:rPr>
              <a:t>프로그램 제거</a:t>
            </a:r>
            <a:r>
              <a:rPr lang="en-US" altLang="ko-KR" dirty="0">
                <a:latin typeface="+mn-ea"/>
                <a:ea typeface="+mn-ea"/>
              </a:rPr>
              <a:t>/</a:t>
            </a:r>
            <a:r>
              <a:rPr lang="ko-KR" altLang="en-US" dirty="0">
                <a:latin typeface="+mn-ea"/>
                <a:ea typeface="+mn-ea"/>
              </a:rPr>
              <a:t>변경 </a:t>
            </a:r>
            <a:r>
              <a:rPr lang="en-US" altLang="ko-KR" dirty="0">
                <a:latin typeface="+mn-ea"/>
                <a:ea typeface="+mn-ea"/>
              </a:rPr>
              <a:t>: W-Browser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설치버전    </a:t>
            </a:r>
            <a:r>
              <a:rPr lang="en-US" altLang="ko-KR" dirty="0">
                <a:latin typeface="+mn-ea"/>
                <a:ea typeface="+mn-ea"/>
              </a:rPr>
              <a:t>: 1,0,2,8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설치파일명  </a:t>
            </a:r>
            <a:r>
              <a:rPr lang="en-US" altLang="ko-KR" dirty="0">
                <a:latin typeface="+mn-ea"/>
                <a:ea typeface="+mn-ea"/>
              </a:rPr>
              <a:t>: w-browser-setup.exe 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en-US" altLang="ko-KR" dirty="0" err="1">
                <a:latin typeface="+mn-ea"/>
                <a:ea typeface="+mn-ea"/>
              </a:rPr>
              <a:t>Veraport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설치여부 체크 기준 </a:t>
            </a:r>
            <a:r>
              <a:rPr lang="en-US" altLang="ko-KR" dirty="0">
                <a:latin typeface="+mn-ea"/>
                <a:ea typeface="+mn-ea"/>
              </a:rPr>
              <a:t>: C:\</a:t>
            </a:r>
            <a:r>
              <a:rPr lang="en-US" altLang="ko-KR" dirty="0" smtClean="0">
                <a:latin typeface="+mn-ea"/>
                <a:ea typeface="+mn-ea"/>
              </a:rPr>
              <a:t>inswave\W-Browser\W-BrowserInfo.dll</a:t>
            </a:r>
          </a:p>
          <a:p>
            <a:pPr algn="l"/>
            <a:endParaRPr lang="en-US" altLang="ko-KR" dirty="0">
              <a:latin typeface="+mn-ea"/>
              <a:ea typeface="+mn-ea"/>
            </a:endParaRPr>
          </a:p>
          <a:p>
            <a:pPr algn="l"/>
            <a:r>
              <a:rPr lang="en-US" altLang="ko-KR" dirty="0">
                <a:latin typeface="+mn-ea"/>
                <a:ea typeface="+mn-ea"/>
              </a:rPr>
              <a:t>12. </a:t>
            </a:r>
            <a:r>
              <a:rPr lang="ko-KR" altLang="en-US" dirty="0">
                <a:latin typeface="+mn-ea"/>
                <a:ea typeface="+mn-ea"/>
              </a:rPr>
              <a:t>제품등록 명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err="1">
                <a:latin typeface="+mn-ea"/>
                <a:ea typeface="+mn-ea"/>
              </a:rPr>
              <a:t>SecuCapture</a:t>
            </a:r>
            <a:r>
              <a:rPr lang="en-US" altLang="ko-KR" dirty="0">
                <a:latin typeface="+mn-ea"/>
                <a:ea typeface="+mn-ea"/>
              </a:rPr>
              <a:t/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설명    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화면 </a:t>
            </a:r>
            <a:r>
              <a:rPr lang="ko-KR" altLang="en-US" dirty="0" err="1">
                <a:latin typeface="+mn-ea"/>
                <a:ea typeface="+mn-ea"/>
              </a:rPr>
              <a:t>캡쳐방지</a:t>
            </a:r>
            <a:r>
              <a:rPr lang="ko-KR" altLang="en-US" dirty="0">
                <a:latin typeface="+mn-ea"/>
                <a:ea typeface="+mn-ea"/>
              </a:rPr>
              <a:t> 보안 솔루션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점검방법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제어판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>
                <a:latin typeface="+mn-ea"/>
                <a:ea typeface="+mn-ea"/>
              </a:rPr>
              <a:t>프로그램 제거</a:t>
            </a:r>
            <a:r>
              <a:rPr lang="en-US" altLang="ko-KR" dirty="0">
                <a:latin typeface="+mn-ea"/>
                <a:ea typeface="+mn-ea"/>
              </a:rPr>
              <a:t>/</a:t>
            </a:r>
            <a:r>
              <a:rPr lang="ko-KR" altLang="en-US" dirty="0">
                <a:latin typeface="+mn-ea"/>
                <a:ea typeface="+mn-ea"/>
              </a:rPr>
              <a:t>변경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err="1">
                <a:latin typeface="+mn-ea"/>
                <a:ea typeface="+mn-ea"/>
              </a:rPr>
              <a:t>SoftCamp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err="1">
                <a:latin typeface="+mn-ea"/>
                <a:ea typeface="+mn-ea"/>
              </a:rPr>
              <a:t>SecureWeb</a:t>
            </a:r>
            <a:r>
              <a:rPr lang="en-US" altLang="ko-KR" dirty="0">
                <a:latin typeface="+mn-ea"/>
                <a:ea typeface="+mn-ea"/>
              </a:rPr>
              <a:t> Multi Browser Package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설치버전    </a:t>
            </a:r>
            <a:r>
              <a:rPr lang="en-US" altLang="ko-KR" dirty="0">
                <a:latin typeface="+mn-ea"/>
                <a:ea typeface="+mn-ea"/>
              </a:rPr>
              <a:t>: 1,0,1,11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설치파일명  </a:t>
            </a:r>
            <a:r>
              <a:rPr lang="en-US" altLang="ko-KR" dirty="0">
                <a:latin typeface="+mn-ea"/>
                <a:ea typeface="+mn-ea"/>
              </a:rPr>
              <a:t>: SCWSConSetup.exe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en-US" altLang="ko-KR" dirty="0" err="1">
                <a:latin typeface="+mn-ea"/>
                <a:ea typeface="+mn-ea"/>
              </a:rPr>
              <a:t>Veraport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설치여부 체크 기준 </a:t>
            </a:r>
            <a:r>
              <a:rPr lang="en-US" altLang="ko-KR" dirty="0">
                <a:latin typeface="+mn-ea"/>
                <a:ea typeface="+mn-ea"/>
              </a:rPr>
              <a:t>: %</a:t>
            </a:r>
            <a:r>
              <a:rPr lang="en-US" altLang="ko-KR" dirty="0" err="1">
                <a:latin typeface="+mn-ea"/>
                <a:ea typeface="+mn-ea"/>
              </a:rPr>
              <a:t>SystemDrive</a:t>
            </a:r>
            <a:r>
              <a:rPr lang="en-US" altLang="ko-KR" dirty="0">
                <a:latin typeface="+mn-ea"/>
                <a:ea typeface="+mn-ea"/>
              </a:rPr>
              <a:t>%\</a:t>
            </a:r>
            <a:r>
              <a:rPr lang="en-US" altLang="ko-KR" dirty="0" smtClean="0">
                <a:latin typeface="+mn-ea"/>
                <a:ea typeface="+mn-ea"/>
              </a:rPr>
              <a:t>Windows\</a:t>
            </a:r>
            <a:r>
              <a:rPr lang="en-US" altLang="ko-KR" dirty="0" err="1" smtClean="0">
                <a:latin typeface="+mn-ea"/>
                <a:ea typeface="+mn-ea"/>
              </a:rPr>
              <a:t>softcamp</a:t>
            </a:r>
            <a:r>
              <a:rPr lang="en-US" altLang="ko-KR" dirty="0" smtClean="0">
                <a:latin typeface="+mn-ea"/>
                <a:ea typeface="+mn-ea"/>
              </a:rPr>
              <a:t>\</a:t>
            </a:r>
            <a:r>
              <a:rPr lang="en-US" altLang="ko-KR" dirty="0" err="1" smtClean="0">
                <a:latin typeface="+mn-ea"/>
                <a:ea typeface="+mn-ea"/>
              </a:rPr>
              <a:t>WebSecurity</a:t>
            </a:r>
            <a:r>
              <a:rPr lang="en-US" altLang="ko-KR" dirty="0" smtClean="0">
                <a:latin typeface="+mn-ea"/>
                <a:ea typeface="+mn-ea"/>
              </a:rPr>
              <a:t>\SCWBConAgent.exe</a:t>
            </a:r>
          </a:p>
          <a:p>
            <a:pPr algn="l"/>
            <a:endParaRPr lang="en-US" altLang="ko-KR" dirty="0">
              <a:latin typeface="+mn-ea"/>
              <a:ea typeface="+mn-ea"/>
            </a:endParaRPr>
          </a:p>
          <a:p>
            <a:pPr algn="l"/>
            <a:r>
              <a:rPr lang="en-US" altLang="ko-KR" dirty="0">
                <a:latin typeface="+mn-ea"/>
                <a:ea typeface="+mn-ea"/>
              </a:rPr>
              <a:t>13. </a:t>
            </a:r>
            <a:r>
              <a:rPr lang="ko-KR" altLang="en-US" dirty="0">
                <a:latin typeface="+mn-ea"/>
                <a:ea typeface="+mn-ea"/>
              </a:rPr>
              <a:t>제품등록 명 </a:t>
            </a:r>
            <a:r>
              <a:rPr lang="en-US" altLang="ko-KR" dirty="0">
                <a:latin typeface="+mn-ea"/>
                <a:ea typeface="+mn-ea"/>
              </a:rPr>
              <a:t>: W-Policy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설명        </a:t>
            </a:r>
            <a:r>
              <a:rPr lang="en-US" altLang="ko-KR" dirty="0">
                <a:latin typeface="+mn-ea"/>
                <a:ea typeface="+mn-ea"/>
              </a:rPr>
              <a:t>: W-Browser Group </a:t>
            </a:r>
            <a:r>
              <a:rPr lang="ko-KR" altLang="en-US" dirty="0">
                <a:latin typeface="+mn-ea"/>
                <a:ea typeface="+mn-ea"/>
              </a:rPr>
              <a:t>정책 관리 프로그램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점검방법    </a:t>
            </a:r>
            <a:r>
              <a:rPr lang="en-US" altLang="ko-KR" dirty="0">
                <a:latin typeface="+mn-ea"/>
                <a:ea typeface="+mn-ea"/>
              </a:rPr>
              <a:t>: C:\Inswave\w-browser-policy\w-browser-policy-History.dll, w-browser-policy-Manager.exe </a:t>
            </a:r>
            <a:r>
              <a:rPr lang="ko-KR" altLang="en-US" dirty="0">
                <a:latin typeface="+mn-ea"/>
                <a:ea typeface="+mn-ea"/>
              </a:rPr>
              <a:t>존재 여부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설치버전    </a:t>
            </a:r>
            <a:r>
              <a:rPr lang="en-US" altLang="ko-KR" dirty="0">
                <a:latin typeface="+mn-ea"/>
                <a:ea typeface="+mn-ea"/>
              </a:rPr>
              <a:t>: 1,0,2,8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설치파일명  </a:t>
            </a:r>
            <a:r>
              <a:rPr lang="en-US" altLang="ko-KR" dirty="0">
                <a:latin typeface="+mn-ea"/>
                <a:ea typeface="+mn-ea"/>
              </a:rPr>
              <a:t>: w-browser-policy-setup.exe 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en-US" altLang="ko-KR" dirty="0" err="1">
                <a:latin typeface="+mn-ea"/>
                <a:ea typeface="+mn-ea"/>
              </a:rPr>
              <a:t>Veraport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설치여부 체크 기준 </a:t>
            </a:r>
            <a:r>
              <a:rPr lang="en-US" altLang="ko-KR" dirty="0">
                <a:latin typeface="+mn-ea"/>
                <a:ea typeface="+mn-ea"/>
              </a:rPr>
              <a:t>: C:\</a:t>
            </a:r>
            <a:r>
              <a:rPr lang="en-US" altLang="ko-KR" dirty="0" smtClean="0">
                <a:latin typeface="+mn-ea"/>
                <a:ea typeface="+mn-ea"/>
              </a:rPr>
              <a:t>Inswave\w-browser-policy\w-browser-policy-History.dll</a:t>
            </a:r>
          </a:p>
          <a:p>
            <a:pPr algn="l"/>
            <a:endParaRPr lang="en-US" altLang="ko-KR" dirty="0">
              <a:latin typeface="+mn-ea"/>
              <a:ea typeface="+mn-ea"/>
            </a:endParaRPr>
          </a:p>
          <a:p>
            <a:pPr algn="l"/>
            <a:r>
              <a:rPr lang="en-US" altLang="ko-KR" dirty="0">
                <a:latin typeface="+mn-ea"/>
                <a:ea typeface="+mn-ea"/>
              </a:rPr>
              <a:t>14. </a:t>
            </a:r>
            <a:r>
              <a:rPr lang="ko-KR" altLang="en-US" dirty="0">
                <a:latin typeface="+mn-ea"/>
                <a:ea typeface="+mn-ea"/>
              </a:rPr>
              <a:t>제품등록 명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err="1">
                <a:latin typeface="+mn-ea"/>
                <a:ea typeface="+mn-ea"/>
              </a:rPr>
              <a:t>TSwingEmShortCut</a:t>
            </a:r>
            <a:r>
              <a:rPr lang="en-US" altLang="ko-KR" dirty="0">
                <a:latin typeface="+mn-ea"/>
                <a:ea typeface="+mn-ea"/>
              </a:rPr>
              <a:t/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설명        </a:t>
            </a:r>
            <a:r>
              <a:rPr lang="en-US" altLang="ko-KR" dirty="0">
                <a:latin typeface="+mn-ea"/>
                <a:ea typeface="+mn-ea"/>
              </a:rPr>
              <a:t>: SKT </a:t>
            </a:r>
            <a:r>
              <a:rPr lang="ko-KR" altLang="en-US" dirty="0">
                <a:latin typeface="+mn-ea"/>
                <a:ea typeface="+mn-ea"/>
              </a:rPr>
              <a:t>비상시스템 </a:t>
            </a:r>
            <a:r>
              <a:rPr lang="ko-KR" altLang="en-US" dirty="0" err="1">
                <a:latin typeface="+mn-ea"/>
                <a:ea typeface="+mn-ea"/>
              </a:rPr>
              <a:t>바로가기</a:t>
            </a:r>
            <a:r>
              <a:rPr lang="ko-KR" altLang="en-US" dirty="0">
                <a:latin typeface="+mn-ea"/>
                <a:ea typeface="+mn-ea"/>
              </a:rPr>
              <a:t> 아이콘 설치 프로그램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점검방법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바탕화면에 </a:t>
            </a:r>
            <a:r>
              <a:rPr lang="en-US" altLang="ko-KR" dirty="0">
                <a:latin typeface="+mn-ea"/>
                <a:ea typeface="+mn-ea"/>
              </a:rPr>
              <a:t>T-Swing</a:t>
            </a:r>
            <a:r>
              <a:rPr lang="ko-KR" altLang="en-US" dirty="0">
                <a:latin typeface="+mn-ea"/>
                <a:ea typeface="+mn-ea"/>
              </a:rPr>
              <a:t>비상상담백업 </a:t>
            </a:r>
            <a:r>
              <a:rPr lang="ko-KR" altLang="en-US" dirty="0" err="1">
                <a:latin typeface="+mn-ea"/>
                <a:ea typeface="+mn-ea"/>
              </a:rPr>
              <a:t>바로가기</a:t>
            </a:r>
            <a:r>
              <a:rPr lang="ko-KR" altLang="en-US" dirty="0">
                <a:latin typeface="+mn-ea"/>
                <a:ea typeface="+mn-ea"/>
              </a:rPr>
              <a:t> 아이콘 생성여부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설치버전    </a:t>
            </a:r>
            <a:r>
              <a:rPr lang="en-US" altLang="ko-KR" dirty="0">
                <a:latin typeface="+mn-ea"/>
                <a:ea typeface="+mn-ea"/>
              </a:rPr>
              <a:t>: 1,0,0,1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설치파일명  </a:t>
            </a:r>
            <a:r>
              <a:rPr lang="en-US" altLang="ko-KR" dirty="0">
                <a:latin typeface="+mn-ea"/>
                <a:ea typeface="+mn-ea"/>
              </a:rPr>
              <a:t>: TSwingEmShortCut_Installer.exe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en-US" altLang="ko-KR" dirty="0" err="1">
                <a:latin typeface="+mn-ea"/>
                <a:ea typeface="+mn-ea"/>
              </a:rPr>
              <a:t>Veraport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설치여부 체크 기준 </a:t>
            </a:r>
            <a:r>
              <a:rPr lang="en-US" altLang="ko-KR" dirty="0">
                <a:latin typeface="+mn-ea"/>
                <a:ea typeface="+mn-ea"/>
              </a:rPr>
              <a:t>: C:\</a:t>
            </a:r>
            <a:r>
              <a:rPr lang="en-US" altLang="ko-KR" dirty="0" smtClean="0">
                <a:latin typeface="+mn-ea"/>
                <a:ea typeface="+mn-ea"/>
              </a:rPr>
              <a:t>Inswave\W-Gear\Swing\TSwingEmShortCut\TSwingEmShortCut_Info.dll</a:t>
            </a:r>
          </a:p>
          <a:p>
            <a:pPr algn="l"/>
            <a:endParaRPr lang="en-US" altLang="ko-KR" dirty="0">
              <a:latin typeface="+mn-ea"/>
              <a:ea typeface="+mn-ea"/>
            </a:endParaRPr>
          </a:p>
          <a:p>
            <a:pPr algn="l"/>
            <a:r>
              <a:rPr lang="en-US" altLang="ko-KR" dirty="0">
                <a:latin typeface="+mn-ea"/>
                <a:ea typeface="+mn-ea"/>
              </a:rPr>
              <a:t>15. </a:t>
            </a:r>
            <a:r>
              <a:rPr lang="ko-KR" altLang="en-US" dirty="0">
                <a:latin typeface="+mn-ea"/>
                <a:ea typeface="+mn-ea"/>
              </a:rPr>
              <a:t>제품등록 명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err="1">
                <a:latin typeface="+mn-ea"/>
                <a:ea typeface="+mn-ea"/>
              </a:rPr>
              <a:t>BSwingEmShortCut</a:t>
            </a:r>
            <a:r>
              <a:rPr lang="en-US" altLang="ko-KR" dirty="0">
                <a:latin typeface="+mn-ea"/>
                <a:ea typeface="+mn-ea"/>
              </a:rPr>
              <a:t/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설명        </a:t>
            </a:r>
            <a:r>
              <a:rPr lang="en-US" altLang="ko-KR" dirty="0">
                <a:latin typeface="+mn-ea"/>
                <a:ea typeface="+mn-ea"/>
              </a:rPr>
              <a:t>: SKB </a:t>
            </a:r>
            <a:r>
              <a:rPr lang="ko-KR" altLang="en-US" dirty="0">
                <a:latin typeface="+mn-ea"/>
                <a:ea typeface="+mn-ea"/>
              </a:rPr>
              <a:t>비상시스템 </a:t>
            </a:r>
            <a:r>
              <a:rPr lang="ko-KR" altLang="en-US" dirty="0" err="1">
                <a:latin typeface="+mn-ea"/>
                <a:ea typeface="+mn-ea"/>
              </a:rPr>
              <a:t>바로가기</a:t>
            </a:r>
            <a:r>
              <a:rPr lang="ko-KR" altLang="en-US" dirty="0">
                <a:latin typeface="+mn-ea"/>
                <a:ea typeface="+mn-ea"/>
              </a:rPr>
              <a:t> 아이콘 설치 프로그램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점검방법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바탕화면에 </a:t>
            </a:r>
            <a:r>
              <a:rPr lang="en-US" altLang="ko-KR" dirty="0">
                <a:latin typeface="+mn-ea"/>
                <a:ea typeface="+mn-ea"/>
              </a:rPr>
              <a:t>B-Swing</a:t>
            </a:r>
            <a:r>
              <a:rPr lang="ko-KR" altLang="en-US" dirty="0">
                <a:latin typeface="+mn-ea"/>
                <a:ea typeface="+mn-ea"/>
              </a:rPr>
              <a:t>비상상담백업 </a:t>
            </a:r>
            <a:r>
              <a:rPr lang="ko-KR" altLang="en-US" dirty="0" err="1">
                <a:latin typeface="+mn-ea"/>
                <a:ea typeface="+mn-ea"/>
              </a:rPr>
              <a:t>바로가기</a:t>
            </a:r>
            <a:r>
              <a:rPr lang="ko-KR" altLang="en-US" dirty="0">
                <a:latin typeface="+mn-ea"/>
                <a:ea typeface="+mn-ea"/>
              </a:rPr>
              <a:t> 아이콘 생성여부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설치버전    </a:t>
            </a:r>
            <a:r>
              <a:rPr lang="en-US" altLang="ko-KR" dirty="0">
                <a:latin typeface="+mn-ea"/>
                <a:ea typeface="+mn-ea"/>
              </a:rPr>
              <a:t>: 1,0,0,1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설치파일명  </a:t>
            </a:r>
            <a:r>
              <a:rPr lang="en-US" altLang="ko-KR" dirty="0">
                <a:latin typeface="+mn-ea"/>
                <a:ea typeface="+mn-ea"/>
              </a:rPr>
              <a:t>: BSwingEmShortCut_Installer.exe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  </a:t>
            </a:r>
            <a:r>
              <a:rPr lang="en-US" altLang="ko-KR" dirty="0" err="1">
                <a:latin typeface="+mn-ea"/>
                <a:ea typeface="+mn-ea"/>
              </a:rPr>
              <a:t>Veraport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설치여부 체크 기준 </a:t>
            </a:r>
            <a:r>
              <a:rPr lang="en-US" altLang="ko-KR" dirty="0">
                <a:latin typeface="+mn-ea"/>
                <a:ea typeface="+mn-ea"/>
              </a:rPr>
              <a:t>: C:\</a:t>
            </a:r>
            <a:r>
              <a:rPr lang="en-US" altLang="ko-KR" dirty="0" smtClean="0">
                <a:latin typeface="+mn-ea"/>
                <a:ea typeface="+mn-ea"/>
              </a:rPr>
              <a:t>Inswave\W-Gear\Swing\BSwingEmShortCut\BSwingEmShortCut_Info.dll</a:t>
            </a:r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00232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Swing Client(PC) </a:t>
            </a:r>
            <a:r>
              <a:rPr lang="ko-KR" altLang="en-US" dirty="0"/>
              <a:t>설치 프로그램 목록 </a:t>
            </a:r>
            <a:r>
              <a:rPr lang="en-US" altLang="ko-KR" dirty="0"/>
              <a:t>– </a:t>
            </a:r>
            <a:r>
              <a:rPr lang="en-US" altLang="ko-KR" dirty="0" smtClean="0"/>
              <a:t>install_add.html </a:t>
            </a:r>
            <a:r>
              <a:rPr lang="ko-KR" altLang="en-US" dirty="0" smtClean="0"/>
              <a:t>이용한 수동 설치 </a:t>
            </a:r>
            <a:r>
              <a:rPr lang="ko-KR" altLang="en-US" dirty="0"/>
              <a:t>프로그램 </a:t>
            </a:r>
            <a:r>
              <a:rPr lang="ko-KR" altLang="en-US" dirty="0" smtClean="0"/>
              <a:t>목록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893134" y="766395"/>
            <a:ext cx="8240233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dirty="0" smtClean="0">
                <a:latin typeface="+mn-ea"/>
                <a:ea typeface="+mn-ea"/>
              </a:rPr>
              <a:t>16</a:t>
            </a:r>
            <a:r>
              <a:rPr lang="en-US" altLang="ko-KR" dirty="0">
                <a:latin typeface="+mn-ea"/>
                <a:ea typeface="+mn-ea"/>
              </a:rPr>
              <a:t>. </a:t>
            </a:r>
            <a:r>
              <a:rPr lang="ko-KR" altLang="en-US" dirty="0">
                <a:latin typeface="+mn-ea"/>
                <a:ea typeface="+mn-ea"/>
              </a:rPr>
              <a:t>제품등록 명 </a:t>
            </a:r>
            <a:r>
              <a:rPr lang="en-US" altLang="ko-KR" dirty="0">
                <a:latin typeface="+mn-ea"/>
                <a:ea typeface="+mn-ea"/>
              </a:rPr>
              <a:t>: T-CIA </a:t>
            </a:r>
            <a:r>
              <a:rPr lang="ko-KR" altLang="en-US" dirty="0" err="1">
                <a:latin typeface="+mn-ea"/>
                <a:ea typeface="+mn-ea"/>
              </a:rPr>
              <a:t>바로가기</a:t>
            </a:r>
            <a:r>
              <a:rPr lang="ko-KR" altLang="en-US" dirty="0">
                <a:latin typeface="+mn-ea"/>
                <a:ea typeface="+mn-ea"/>
              </a:rPr>
              <a:t/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설명        </a:t>
            </a:r>
            <a:r>
              <a:rPr lang="en-US" altLang="ko-KR" dirty="0">
                <a:latin typeface="+mn-ea"/>
                <a:ea typeface="+mn-ea"/>
              </a:rPr>
              <a:t>: SKT CIA </a:t>
            </a:r>
            <a:r>
              <a:rPr lang="ko-KR" altLang="en-US" dirty="0" err="1">
                <a:latin typeface="+mn-ea"/>
                <a:ea typeface="+mn-ea"/>
              </a:rPr>
              <a:t>바로가기</a:t>
            </a:r>
            <a:r>
              <a:rPr lang="ko-KR" altLang="en-US" dirty="0">
                <a:latin typeface="+mn-ea"/>
                <a:ea typeface="+mn-ea"/>
              </a:rPr>
              <a:t> 아이콘 설치 프로그램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점검방법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바탕화면에 </a:t>
            </a:r>
            <a:r>
              <a:rPr lang="en-US" altLang="ko-KR" dirty="0">
                <a:latin typeface="+mn-ea"/>
                <a:ea typeface="+mn-ea"/>
              </a:rPr>
              <a:t>TCIA </a:t>
            </a:r>
            <a:r>
              <a:rPr lang="ko-KR" altLang="en-US" dirty="0" err="1">
                <a:latin typeface="+mn-ea"/>
                <a:ea typeface="+mn-ea"/>
              </a:rPr>
              <a:t>바로가기</a:t>
            </a:r>
            <a:r>
              <a:rPr lang="ko-KR" altLang="en-US" dirty="0">
                <a:latin typeface="+mn-ea"/>
                <a:ea typeface="+mn-ea"/>
              </a:rPr>
              <a:t> 아이콘 생성여부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설치버전    </a:t>
            </a:r>
            <a:r>
              <a:rPr lang="en-US" altLang="ko-KR" dirty="0">
                <a:latin typeface="+mn-ea"/>
                <a:ea typeface="+mn-ea"/>
              </a:rPr>
              <a:t>: 1,0,0,1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설치파일명  </a:t>
            </a:r>
            <a:r>
              <a:rPr lang="en-US" altLang="ko-KR" dirty="0">
                <a:latin typeface="+mn-ea"/>
                <a:ea typeface="+mn-ea"/>
              </a:rPr>
              <a:t>: TCIAShortCut_Installer.exe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설치여부    </a:t>
            </a:r>
            <a:r>
              <a:rPr lang="en-US" altLang="ko-KR" dirty="0">
                <a:latin typeface="+mn-ea"/>
                <a:ea typeface="+mn-ea"/>
              </a:rPr>
              <a:t>: C:\Inswave\W-Gear\Swing\TCIAShortCut\TCIAShortCut_Info.dll </a:t>
            </a:r>
            <a:r>
              <a:rPr lang="ko-KR" altLang="en-US" dirty="0" smtClean="0">
                <a:latin typeface="+mn-ea"/>
                <a:ea typeface="+mn-ea"/>
              </a:rPr>
              <a:t>존재여부</a:t>
            </a:r>
            <a:endParaRPr lang="en-US" altLang="ko-KR" dirty="0" smtClean="0">
              <a:latin typeface="+mn-ea"/>
              <a:ea typeface="+mn-ea"/>
            </a:endParaRPr>
          </a:p>
          <a:p>
            <a:pPr algn="l"/>
            <a:endParaRPr lang="ko-KR" altLang="en-US" dirty="0">
              <a:latin typeface="+mn-ea"/>
              <a:ea typeface="+mn-ea"/>
            </a:endParaRPr>
          </a:p>
          <a:p>
            <a:pPr algn="l"/>
            <a:r>
              <a:rPr lang="en-US" altLang="ko-KR" dirty="0">
                <a:latin typeface="+mn-ea"/>
                <a:ea typeface="+mn-ea"/>
              </a:rPr>
              <a:t>17. </a:t>
            </a:r>
            <a:r>
              <a:rPr lang="ko-KR" altLang="en-US" dirty="0">
                <a:latin typeface="+mn-ea"/>
                <a:ea typeface="+mn-ea"/>
              </a:rPr>
              <a:t>제품등록 명 </a:t>
            </a:r>
            <a:r>
              <a:rPr lang="en-US" altLang="ko-KR" dirty="0">
                <a:latin typeface="+mn-ea"/>
                <a:ea typeface="+mn-ea"/>
              </a:rPr>
              <a:t>: B-CIA </a:t>
            </a:r>
            <a:r>
              <a:rPr lang="ko-KR" altLang="en-US" dirty="0" err="1">
                <a:latin typeface="+mn-ea"/>
                <a:ea typeface="+mn-ea"/>
              </a:rPr>
              <a:t>바로가기</a:t>
            </a:r>
            <a:r>
              <a:rPr lang="ko-KR" altLang="en-US" dirty="0">
                <a:latin typeface="+mn-ea"/>
                <a:ea typeface="+mn-ea"/>
              </a:rPr>
              <a:t/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설명        </a:t>
            </a:r>
            <a:r>
              <a:rPr lang="en-US" altLang="ko-KR" dirty="0">
                <a:latin typeface="+mn-ea"/>
                <a:ea typeface="+mn-ea"/>
              </a:rPr>
              <a:t>: SKB CIA </a:t>
            </a:r>
            <a:r>
              <a:rPr lang="ko-KR" altLang="en-US" dirty="0" err="1">
                <a:latin typeface="+mn-ea"/>
                <a:ea typeface="+mn-ea"/>
              </a:rPr>
              <a:t>바로가기</a:t>
            </a:r>
            <a:r>
              <a:rPr lang="ko-KR" altLang="en-US" dirty="0">
                <a:latin typeface="+mn-ea"/>
                <a:ea typeface="+mn-ea"/>
              </a:rPr>
              <a:t> 아이콘 설치 프로그램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점검방법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바탕화면에 </a:t>
            </a:r>
            <a:r>
              <a:rPr lang="en-US" altLang="ko-KR" dirty="0">
                <a:latin typeface="+mn-ea"/>
                <a:ea typeface="+mn-ea"/>
              </a:rPr>
              <a:t>BCIA </a:t>
            </a:r>
            <a:r>
              <a:rPr lang="ko-KR" altLang="en-US" dirty="0" err="1">
                <a:latin typeface="+mn-ea"/>
                <a:ea typeface="+mn-ea"/>
              </a:rPr>
              <a:t>바로가기</a:t>
            </a:r>
            <a:r>
              <a:rPr lang="ko-KR" altLang="en-US" dirty="0">
                <a:latin typeface="+mn-ea"/>
                <a:ea typeface="+mn-ea"/>
              </a:rPr>
              <a:t> 아이콘 생성여부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설치버전    </a:t>
            </a:r>
            <a:r>
              <a:rPr lang="en-US" altLang="ko-KR" dirty="0">
                <a:latin typeface="+mn-ea"/>
                <a:ea typeface="+mn-ea"/>
              </a:rPr>
              <a:t>: 1,0,0,1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설치파일명  </a:t>
            </a:r>
            <a:r>
              <a:rPr lang="en-US" altLang="ko-KR" dirty="0">
                <a:latin typeface="+mn-ea"/>
                <a:ea typeface="+mn-ea"/>
              </a:rPr>
              <a:t>: BCIAShortCut_Installer.exe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설치여부    </a:t>
            </a:r>
            <a:r>
              <a:rPr lang="en-US" altLang="ko-KR" dirty="0">
                <a:latin typeface="+mn-ea"/>
                <a:ea typeface="+mn-ea"/>
              </a:rPr>
              <a:t>: C:\Inswave\W-Gear\Swing\BCIAShortCut\BCIAShortCut_Info.dll </a:t>
            </a:r>
            <a:r>
              <a:rPr lang="ko-KR" altLang="en-US" dirty="0" smtClean="0">
                <a:latin typeface="+mn-ea"/>
                <a:ea typeface="+mn-ea"/>
              </a:rPr>
              <a:t>존재여부</a:t>
            </a:r>
            <a:endParaRPr lang="en-US" altLang="ko-KR" dirty="0" smtClean="0">
              <a:latin typeface="+mn-ea"/>
              <a:ea typeface="+mn-ea"/>
            </a:endParaRPr>
          </a:p>
          <a:p>
            <a:pPr algn="l"/>
            <a:endParaRPr lang="ko-KR" altLang="en-US" dirty="0">
              <a:latin typeface="+mn-ea"/>
              <a:ea typeface="+mn-ea"/>
            </a:endParaRPr>
          </a:p>
          <a:p>
            <a:pPr algn="l"/>
            <a:r>
              <a:rPr lang="en-US" altLang="ko-KR" dirty="0">
                <a:latin typeface="+mn-ea"/>
                <a:ea typeface="+mn-ea"/>
              </a:rPr>
              <a:t>18. </a:t>
            </a:r>
            <a:r>
              <a:rPr lang="ko-KR" altLang="en-US" dirty="0">
                <a:latin typeface="+mn-ea"/>
                <a:ea typeface="+mn-ea"/>
              </a:rPr>
              <a:t>제품등록 명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 err="1">
                <a:latin typeface="+mn-ea"/>
                <a:ea typeface="+mn-ea"/>
              </a:rPr>
              <a:t>미라지웍스용</a:t>
            </a:r>
            <a:r>
              <a:rPr lang="ko-KR" altLang="en-US" dirty="0">
                <a:latin typeface="+mn-ea"/>
                <a:ea typeface="+mn-ea"/>
              </a:rPr>
              <a:t> </a:t>
            </a:r>
            <a:r>
              <a:rPr lang="en-US" altLang="ko-KR" dirty="0">
                <a:latin typeface="+mn-ea"/>
                <a:ea typeface="+mn-ea"/>
              </a:rPr>
              <a:t>Swing </a:t>
            </a:r>
            <a:r>
              <a:rPr lang="ko-KR" altLang="en-US" dirty="0">
                <a:latin typeface="+mn-ea"/>
                <a:ea typeface="+mn-ea"/>
              </a:rPr>
              <a:t>프로세스 관리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설명    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 err="1">
                <a:latin typeface="+mn-ea"/>
                <a:ea typeface="+mn-ea"/>
              </a:rPr>
              <a:t>미라지웍스</a:t>
            </a:r>
            <a:r>
              <a:rPr lang="ko-KR" altLang="en-US" dirty="0">
                <a:latin typeface="+mn-ea"/>
                <a:ea typeface="+mn-ea"/>
              </a:rPr>
              <a:t> 사용자를 위한 </a:t>
            </a:r>
            <a:r>
              <a:rPr lang="en-US" altLang="ko-KR" dirty="0">
                <a:latin typeface="+mn-ea"/>
                <a:ea typeface="+mn-ea"/>
              </a:rPr>
              <a:t>Swing </a:t>
            </a:r>
            <a:r>
              <a:rPr lang="ko-KR" altLang="en-US" dirty="0">
                <a:latin typeface="+mn-ea"/>
                <a:ea typeface="+mn-ea"/>
              </a:rPr>
              <a:t>프로세스 </a:t>
            </a:r>
            <a:r>
              <a:rPr lang="en-US" altLang="ko-KR" dirty="0">
                <a:latin typeface="+mn-ea"/>
                <a:ea typeface="+mn-ea"/>
              </a:rPr>
              <a:t>Start/Stop </a:t>
            </a:r>
            <a:r>
              <a:rPr lang="ko-KR" altLang="en-US" dirty="0" err="1">
                <a:latin typeface="+mn-ea"/>
                <a:ea typeface="+mn-ea"/>
              </a:rPr>
              <a:t>바로가기</a:t>
            </a:r>
            <a:r>
              <a:rPr lang="ko-KR" altLang="en-US" dirty="0">
                <a:latin typeface="+mn-ea"/>
                <a:ea typeface="+mn-ea"/>
              </a:rPr>
              <a:t> 아이콘 설치 프로그램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점검방법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바탕화면에 </a:t>
            </a:r>
            <a:r>
              <a:rPr lang="en-US" altLang="ko-KR" dirty="0">
                <a:latin typeface="+mn-ea"/>
                <a:ea typeface="+mn-ea"/>
              </a:rPr>
              <a:t>Swing Process Start, Swing Process Stop </a:t>
            </a:r>
            <a:r>
              <a:rPr lang="ko-KR" altLang="en-US" dirty="0" err="1">
                <a:latin typeface="+mn-ea"/>
                <a:ea typeface="+mn-ea"/>
              </a:rPr>
              <a:t>바로가기</a:t>
            </a:r>
            <a:r>
              <a:rPr lang="ko-KR" altLang="en-US" dirty="0">
                <a:latin typeface="+mn-ea"/>
                <a:ea typeface="+mn-ea"/>
              </a:rPr>
              <a:t> 아이콘 생성여부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설치버전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smtClean="0">
                <a:latin typeface="+mn-ea"/>
                <a:ea typeface="+mn-ea"/>
              </a:rPr>
              <a:t>1,0,0,3</a:t>
            </a:r>
            <a:r>
              <a:rPr lang="en-US" altLang="ko-KR" dirty="0">
                <a:latin typeface="+mn-ea"/>
                <a:ea typeface="+mn-ea"/>
              </a:rPr>
              <a:t/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설치파일명  </a:t>
            </a:r>
            <a:r>
              <a:rPr lang="en-US" altLang="ko-KR" dirty="0">
                <a:latin typeface="+mn-ea"/>
                <a:ea typeface="+mn-ea"/>
              </a:rPr>
              <a:t>: SwingProcessCtl_Installer.exe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설치여부    </a:t>
            </a:r>
            <a:r>
              <a:rPr lang="en-US" altLang="ko-KR" dirty="0">
                <a:latin typeface="+mn-ea"/>
                <a:ea typeface="+mn-ea"/>
              </a:rPr>
              <a:t>: C:\Inswave\W-Gear\Swing\SwingProcess\SwingProcessCtl_Info.dll </a:t>
            </a:r>
            <a:r>
              <a:rPr lang="ko-KR" altLang="en-US" dirty="0" smtClean="0">
                <a:latin typeface="+mn-ea"/>
                <a:ea typeface="+mn-ea"/>
              </a:rPr>
              <a:t>존재여부</a:t>
            </a:r>
            <a:endParaRPr lang="en-US" altLang="ko-KR" dirty="0" smtClean="0">
              <a:latin typeface="+mn-ea"/>
              <a:ea typeface="+mn-ea"/>
            </a:endParaRPr>
          </a:p>
          <a:p>
            <a:pPr algn="l"/>
            <a:endParaRPr lang="ko-KR" altLang="en-US" dirty="0">
              <a:latin typeface="+mn-ea"/>
              <a:ea typeface="+mn-ea"/>
            </a:endParaRPr>
          </a:p>
          <a:p>
            <a:pPr algn="l"/>
            <a:r>
              <a:rPr lang="en-US" altLang="ko-KR" dirty="0">
                <a:latin typeface="+mn-ea"/>
                <a:ea typeface="+mn-ea"/>
              </a:rPr>
              <a:t>19. </a:t>
            </a:r>
            <a:r>
              <a:rPr lang="ko-KR" altLang="en-US" dirty="0">
                <a:latin typeface="+mn-ea"/>
                <a:ea typeface="+mn-ea"/>
              </a:rPr>
              <a:t>제품등록 명 </a:t>
            </a:r>
            <a:r>
              <a:rPr lang="en-US" altLang="ko-KR" dirty="0">
                <a:latin typeface="+mn-ea"/>
                <a:ea typeface="+mn-ea"/>
              </a:rPr>
              <a:t>: Print Agent 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설명    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대리점에서 </a:t>
            </a:r>
            <a:r>
              <a:rPr lang="en-US" altLang="ko-KR" dirty="0">
                <a:latin typeface="+mn-ea"/>
                <a:ea typeface="+mn-ea"/>
              </a:rPr>
              <a:t>Smart Planner </a:t>
            </a:r>
            <a:r>
              <a:rPr lang="ko-KR" altLang="en-US" dirty="0">
                <a:latin typeface="+mn-ea"/>
                <a:ea typeface="+mn-ea"/>
              </a:rPr>
              <a:t>등 </a:t>
            </a:r>
            <a:r>
              <a:rPr lang="ko-KR" altLang="en-US" dirty="0" err="1">
                <a:latin typeface="+mn-ea"/>
                <a:ea typeface="+mn-ea"/>
              </a:rPr>
              <a:t>모바일의</a:t>
            </a:r>
            <a:r>
              <a:rPr lang="ko-KR" altLang="en-US" dirty="0">
                <a:latin typeface="+mn-ea"/>
                <a:ea typeface="+mn-ea"/>
              </a:rPr>
              <a:t> 신청서를 프린트하는 프로그램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 점검방법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제어판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>
                <a:latin typeface="+mn-ea"/>
                <a:ea typeface="+mn-ea"/>
              </a:rPr>
              <a:t>프로그램 제거</a:t>
            </a:r>
            <a:r>
              <a:rPr lang="en-US" altLang="ko-KR" dirty="0">
                <a:latin typeface="+mn-ea"/>
                <a:ea typeface="+mn-ea"/>
              </a:rPr>
              <a:t>/</a:t>
            </a:r>
            <a:r>
              <a:rPr lang="ko-KR" altLang="en-US" dirty="0">
                <a:latin typeface="+mn-ea"/>
                <a:ea typeface="+mn-ea"/>
              </a:rPr>
              <a:t>변경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err="1">
                <a:latin typeface="+mn-ea"/>
                <a:ea typeface="+mn-ea"/>
              </a:rPr>
              <a:t>OZPrintAgent_SKT</a:t>
            </a:r>
            <a:r>
              <a:rPr lang="en-US" altLang="ko-KR" dirty="0">
                <a:latin typeface="+mn-ea"/>
                <a:ea typeface="+mn-ea"/>
              </a:rPr>
              <a:t/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설치버전   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smtClean="0">
                <a:latin typeface="+mn-ea"/>
                <a:ea typeface="+mn-ea"/>
              </a:rPr>
              <a:t>1,0,0,3</a:t>
            </a:r>
            <a:r>
              <a:rPr lang="en-US" altLang="ko-KR" dirty="0">
                <a:latin typeface="+mn-ea"/>
                <a:ea typeface="+mn-ea"/>
              </a:rPr>
              <a:t/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설치파일명  </a:t>
            </a:r>
            <a:r>
              <a:rPr lang="en-US" altLang="ko-KR" dirty="0">
                <a:latin typeface="+mn-ea"/>
                <a:ea typeface="+mn-ea"/>
              </a:rPr>
              <a:t>: Setup_OZPrintAgent_SKT.exe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   </a:t>
            </a:r>
            <a:r>
              <a:rPr lang="ko-KR" altLang="en-US" dirty="0">
                <a:latin typeface="+mn-ea"/>
                <a:ea typeface="+mn-ea"/>
              </a:rPr>
              <a:t>설치여부    </a:t>
            </a:r>
            <a:r>
              <a:rPr lang="en-US" altLang="ko-KR" dirty="0">
                <a:latin typeface="+mn-ea"/>
                <a:ea typeface="+mn-ea"/>
              </a:rPr>
              <a:t>: C:\Program Files\FORCS\</a:t>
            </a:r>
            <a:r>
              <a:rPr lang="en-US" altLang="ko-KR" dirty="0" err="1">
                <a:latin typeface="+mn-ea"/>
                <a:ea typeface="+mn-ea"/>
              </a:rPr>
              <a:t>OZPrintAgent</a:t>
            </a:r>
            <a:r>
              <a:rPr lang="en-US" altLang="ko-KR" dirty="0">
                <a:latin typeface="+mn-ea"/>
                <a:ea typeface="+mn-ea"/>
              </a:rPr>
              <a:t>\OZPrintAgent.exe </a:t>
            </a:r>
            <a:r>
              <a:rPr lang="ko-KR" altLang="en-US" dirty="0">
                <a:latin typeface="+mn-ea"/>
                <a:ea typeface="+mn-ea"/>
              </a:rPr>
              <a:t>존재여부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          </a:t>
            </a:r>
          </a:p>
        </p:txBody>
      </p:sp>
    </p:spTree>
    <p:extLst>
      <p:ext uri="{BB962C8B-B14F-4D97-AF65-F5344CB8AC3E}">
        <p14:creationId xmlns:p14="http://schemas.microsoft.com/office/powerpoint/2010/main" xmlns="" val="4252027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 txBox="1">
            <a:spLocks/>
          </p:cNvSpPr>
          <p:nvPr/>
        </p:nvSpPr>
        <p:spPr bwMode="auto">
          <a:xfrm>
            <a:off x="501551" y="726354"/>
            <a:ext cx="8880401" cy="2559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356" tIns="43178" rIns="86356" bIns="43178" numCol="1" anchor="t" anchorCtr="0" compatLnSpc="1">
            <a:prstTxWarp prst="textNoShape">
              <a:avLst/>
            </a:prstTxWarp>
          </a:bodyPr>
          <a:lstStyle>
            <a:lvl1pPr marL="0" indent="0" algn="l" defTabSz="899541" rtl="0" eaLnBrk="0" fontAlgn="base" latinLnBrk="1" hangingPunct="0">
              <a:spcBef>
                <a:spcPct val="20000"/>
              </a:spcBef>
              <a:spcAft>
                <a:spcPct val="0"/>
              </a:spcAft>
              <a:buSzPct val="70000"/>
              <a:buFont typeface="Wingdings" pitchFamily="2" charset="2"/>
              <a:buNone/>
              <a:defRPr kumimoji="1" sz="1400" b="1">
                <a:solidFill>
                  <a:schemeClr val="tx1"/>
                </a:solidFill>
                <a:latin typeface="맑은 고딕" pitchFamily="50" charset="-127"/>
                <a:ea typeface="+mn-ea"/>
                <a:cs typeface="+mn-cs"/>
              </a:defRPr>
            </a:lvl1pPr>
            <a:lvl2pPr marL="436278" indent="-83957" algn="l" defTabSz="899541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맑은 고딕" pitchFamily="50" charset="-127"/>
                <a:ea typeface="+mn-ea"/>
              </a:defRPr>
            </a:lvl2pPr>
            <a:lvl3pPr marL="797593" indent="-92953" algn="l" defTabSz="899541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100">
                <a:solidFill>
                  <a:schemeClr val="tx1"/>
                </a:solidFill>
                <a:latin typeface="맑은 고딕" pitchFamily="50" charset="-127"/>
                <a:ea typeface="+mn-ea"/>
              </a:defRPr>
            </a:lvl3pPr>
            <a:lvl4pPr marL="1233871" indent="-176910" algn="l" defTabSz="899541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Optima" pitchFamily="2" charset="2"/>
              <a:buChar char=""/>
              <a:defRPr kumimoji="1" sz="1100">
                <a:solidFill>
                  <a:schemeClr val="tx1"/>
                </a:solidFill>
                <a:latin typeface="맑은 고딕" pitchFamily="50" charset="-127"/>
                <a:ea typeface="+mn-ea"/>
              </a:defRPr>
            </a:lvl4pPr>
            <a:lvl5pPr marL="2023967" indent="-224885" algn="l" defTabSz="899541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</a:defRPr>
            </a:lvl5pPr>
            <a:lvl6pPr marL="2374788" indent="-21589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</a:defRPr>
            </a:lvl6pPr>
            <a:lvl7pPr marL="2806568" indent="-21589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</a:defRPr>
            </a:lvl7pPr>
            <a:lvl8pPr marL="3238348" indent="-21589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</a:defRPr>
            </a:lvl8pPr>
            <a:lvl9pPr marL="3670127" indent="-21589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5750" lvl="0" indent="-285750">
              <a:buFont typeface="Wingdings" pitchFamily="2" charset="2"/>
              <a:buChar char="Ø"/>
            </a:pPr>
            <a:r>
              <a:rPr lang="ko-KR" altLang="en-US" kern="0" dirty="0">
                <a:solidFill>
                  <a:prstClr val="black"/>
                </a:solidFill>
              </a:rPr>
              <a:t>증상 </a:t>
            </a:r>
            <a:r>
              <a:rPr lang="en-US" altLang="ko-KR" kern="0" dirty="0">
                <a:solidFill>
                  <a:prstClr val="black"/>
                </a:solidFill>
              </a:rPr>
              <a:t>: </a:t>
            </a:r>
            <a:r>
              <a:rPr lang="ko-KR" altLang="en-US" dirty="0" err="1">
                <a:latin typeface="+mn-ea"/>
              </a:rPr>
              <a:t>베라포트</a:t>
            </a:r>
            <a:r>
              <a:rPr lang="ko-KR" altLang="en-US" dirty="0">
                <a:latin typeface="+mn-ea"/>
              </a:rPr>
              <a:t> 클라이언트가 설치가 됨에도 불구하고  </a:t>
            </a:r>
            <a:r>
              <a:rPr lang="en-US" altLang="ko-KR" dirty="0">
                <a:latin typeface="+mn-ea"/>
              </a:rPr>
              <a:t>IE </a:t>
            </a:r>
            <a:r>
              <a:rPr lang="ko-KR" altLang="en-US" dirty="0">
                <a:latin typeface="+mn-ea"/>
              </a:rPr>
              <a:t>에서 설치 </a:t>
            </a:r>
            <a:r>
              <a:rPr lang="ko-KR" altLang="en-US" dirty="0" smtClean="0">
                <a:latin typeface="+mn-ea"/>
              </a:rPr>
              <a:t>체크가 비정상 처리하는 경우</a:t>
            </a:r>
            <a:endParaRPr lang="en-US" altLang="ko-KR" dirty="0" smtClean="0">
              <a:latin typeface="+mn-ea"/>
            </a:endParaRPr>
          </a:p>
          <a:p>
            <a:pPr marL="285750" lvl="0" indent="-285750">
              <a:buFont typeface="Wingdings" pitchFamily="2" charset="2"/>
              <a:buChar char="Ø"/>
            </a:pPr>
            <a:endParaRPr lang="en-US" altLang="ko-KR" kern="0" dirty="0" smtClean="0">
              <a:solidFill>
                <a:prstClr val="black"/>
              </a:solidFill>
            </a:endParaRPr>
          </a:p>
          <a:p>
            <a:pPr marL="285750" lvl="0" indent="-285750">
              <a:buFont typeface="Wingdings" pitchFamily="2" charset="2"/>
              <a:buChar char="Ø"/>
            </a:pPr>
            <a:r>
              <a:rPr lang="ko-KR" altLang="en-US" kern="0" dirty="0" smtClean="0">
                <a:solidFill>
                  <a:prstClr val="black"/>
                </a:solidFill>
              </a:rPr>
              <a:t>점검 </a:t>
            </a:r>
            <a:r>
              <a:rPr lang="en-US" altLang="ko-KR" kern="0" dirty="0" smtClean="0">
                <a:solidFill>
                  <a:prstClr val="black"/>
                </a:solidFill>
              </a:rPr>
              <a:t>: </a:t>
            </a:r>
            <a:r>
              <a:rPr lang="en-US" altLang="ko-KR" kern="0" dirty="0" err="1" smtClean="0">
                <a:solidFill>
                  <a:prstClr val="black"/>
                </a:solidFill>
              </a:rPr>
              <a:t>veraport</a:t>
            </a:r>
            <a:r>
              <a:rPr lang="ko-KR" altLang="en-US" kern="0" dirty="0" smtClean="0">
                <a:solidFill>
                  <a:prstClr val="black"/>
                </a:solidFill>
              </a:rPr>
              <a:t>는 </a:t>
            </a:r>
            <a:r>
              <a:rPr lang="en-US" altLang="ko-KR" kern="0" dirty="0" smtClean="0">
                <a:solidFill>
                  <a:prstClr val="black"/>
                </a:solidFill>
              </a:rPr>
              <a:t>IE</a:t>
            </a:r>
            <a:r>
              <a:rPr lang="ko-KR" altLang="en-US" kern="0" dirty="0" smtClean="0">
                <a:solidFill>
                  <a:prstClr val="black"/>
                </a:solidFill>
              </a:rPr>
              <a:t>의 브라우저 설치환경을 따라가기 때문에</a:t>
            </a:r>
            <a:r>
              <a:rPr lang="en-US" altLang="ko-KR" kern="0" dirty="0">
                <a:solidFill>
                  <a:prstClr val="black"/>
                </a:solidFill>
              </a:rPr>
              <a:t> </a:t>
            </a:r>
            <a:r>
              <a:rPr lang="en-US" altLang="ko-KR" kern="0" dirty="0" smtClean="0">
                <a:solidFill>
                  <a:prstClr val="black"/>
                </a:solidFill>
              </a:rPr>
              <a:t>IE 32 bit </a:t>
            </a:r>
            <a:r>
              <a:rPr lang="ko-KR" altLang="en-US" kern="0" dirty="0" smtClean="0">
                <a:solidFill>
                  <a:prstClr val="black"/>
                </a:solidFill>
              </a:rPr>
              <a:t>설치된 경우 </a:t>
            </a:r>
            <a:r>
              <a:rPr lang="en-US" altLang="ko-KR" kern="0" dirty="0" err="1" smtClean="0">
                <a:solidFill>
                  <a:prstClr val="black"/>
                </a:solidFill>
              </a:rPr>
              <a:t>veraport</a:t>
            </a:r>
            <a:r>
              <a:rPr lang="ko-KR" altLang="en-US" kern="0" dirty="0" smtClean="0">
                <a:solidFill>
                  <a:prstClr val="black"/>
                </a:solidFill>
              </a:rPr>
              <a:t>가 </a:t>
            </a:r>
            <a:r>
              <a:rPr lang="en-US" altLang="ko-KR" kern="0" dirty="0" smtClean="0">
                <a:solidFill>
                  <a:prstClr val="black"/>
                </a:solidFill>
              </a:rPr>
              <a:t>32bit, IT 64bit </a:t>
            </a:r>
            <a:r>
              <a:rPr lang="ko-KR" altLang="en-US" kern="0" dirty="0" smtClean="0">
                <a:solidFill>
                  <a:prstClr val="black"/>
                </a:solidFill>
              </a:rPr>
              <a:t>설치된 경우는 </a:t>
            </a:r>
            <a:r>
              <a:rPr lang="en-US" altLang="ko-KR" kern="0" dirty="0" err="1" smtClean="0">
                <a:solidFill>
                  <a:prstClr val="black"/>
                </a:solidFill>
              </a:rPr>
              <a:t>veraport</a:t>
            </a:r>
            <a:r>
              <a:rPr lang="ko-KR" altLang="en-US" kern="0" dirty="0" smtClean="0">
                <a:solidFill>
                  <a:prstClr val="black"/>
                </a:solidFill>
              </a:rPr>
              <a:t>가 </a:t>
            </a:r>
            <a:r>
              <a:rPr lang="en-US" altLang="ko-KR" kern="0" dirty="0" smtClean="0">
                <a:solidFill>
                  <a:prstClr val="black"/>
                </a:solidFill>
              </a:rPr>
              <a:t>64bit</a:t>
            </a:r>
            <a:r>
              <a:rPr lang="ko-KR" altLang="en-US" kern="0" dirty="0" smtClean="0">
                <a:solidFill>
                  <a:prstClr val="black"/>
                </a:solidFill>
              </a:rPr>
              <a:t>가 설치되어 </a:t>
            </a:r>
            <a:r>
              <a:rPr lang="ko-KR" altLang="en-US" kern="0" dirty="0" err="1" smtClean="0">
                <a:solidFill>
                  <a:prstClr val="black"/>
                </a:solidFill>
              </a:rPr>
              <a:t>있어아</a:t>
            </a:r>
            <a:r>
              <a:rPr lang="ko-KR" altLang="en-US" kern="0" dirty="0" smtClean="0">
                <a:solidFill>
                  <a:prstClr val="black"/>
                </a:solidFill>
              </a:rPr>
              <a:t> </a:t>
            </a:r>
            <a:r>
              <a:rPr lang="ko-KR" altLang="en-US" kern="0" dirty="0" err="1" smtClean="0">
                <a:solidFill>
                  <a:prstClr val="black"/>
                </a:solidFill>
              </a:rPr>
              <a:t>햠</a:t>
            </a:r>
            <a:endParaRPr lang="en-US" altLang="ko-KR" kern="0" dirty="0" smtClean="0">
              <a:solidFill>
                <a:prstClr val="black"/>
              </a:solidFill>
            </a:endParaRPr>
          </a:p>
          <a:p>
            <a:pPr marL="285750" lvl="0" indent="-285750">
              <a:buFont typeface="Wingdings" pitchFamily="2" charset="2"/>
              <a:buChar char="Ø"/>
            </a:pPr>
            <a:endParaRPr lang="en-US" altLang="ko-KR" kern="0" dirty="0">
              <a:solidFill>
                <a:prstClr val="black"/>
              </a:solidFill>
            </a:endParaRPr>
          </a:p>
          <a:p>
            <a:pPr marL="285750" lvl="0" indent="-285750">
              <a:buFont typeface="Wingdings" pitchFamily="2" charset="2"/>
              <a:buChar char="Ø"/>
            </a:pPr>
            <a:r>
              <a:rPr lang="ko-KR" altLang="en-US" kern="0" dirty="0" smtClean="0">
                <a:solidFill>
                  <a:prstClr val="black"/>
                </a:solidFill>
              </a:rPr>
              <a:t>원인 </a:t>
            </a:r>
            <a:r>
              <a:rPr lang="en-US" altLang="ko-KR" kern="0" dirty="0">
                <a:solidFill>
                  <a:prstClr val="black"/>
                </a:solidFill>
              </a:rPr>
              <a:t>: </a:t>
            </a:r>
            <a:r>
              <a:rPr lang="ko-KR" altLang="en-US" kern="0" dirty="0" smtClean="0">
                <a:solidFill>
                  <a:prstClr val="black"/>
                </a:solidFill>
              </a:rPr>
              <a:t>상기와 같이 잘 설치된 경우에 </a:t>
            </a:r>
            <a:r>
              <a:rPr lang="en-US" altLang="ko-KR" kern="0" dirty="0" smtClean="0">
                <a:solidFill>
                  <a:prstClr val="black"/>
                </a:solidFill>
              </a:rPr>
              <a:t>Chrome</a:t>
            </a:r>
            <a:r>
              <a:rPr lang="ko-KR" altLang="en-US" kern="0" dirty="0" smtClean="0">
                <a:solidFill>
                  <a:prstClr val="black"/>
                </a:solidFill>
              </a:rPr>
              <a:t>으로 </a:t>
            </a:r>
            <a:r>
              <a:rPr lang="en-US" altLang="ko-KR" kern="0" dirty="0" smtClean="0">
                <a:solidFill>
                  <a:prstClr val="black"/>
                </a:solidFill>
              </a:rPr>
              <a:t>Portal </a:t>
            </a:r>
            <a:r>
              <a:rPr lang="ko-KR" altLang="en-US" kern="0" dirty="0" smtClean="0">
                <a:solidFill>
                  <a:prstClr val="black"/>
                </a:solidFill>
              </a:rPr>
              <a:t>로그인하여 잘 설치 체크가 되는 경우는 </a:t>
            </a:r>
            <a:r>
              <a:rPr lang="en-US" altLang="ko-KR" kern="0" dirty="0" smtClean="0">
                <a:solidFill>
                  <a:prstClr val="black"/>
                </a:solidFill>
              </a:rPr>
              <a:t>IE</a:t>
            </a:r>
            <a:r>
              <a:rPr lang="ko-KR" altLang="en-US" kern="0" dirty="0" smtClean="0">
                <a:solidFill>
                  <a:prstClr val="black"/>
                </a:solidFill>
              </a:rPr>
              <a:t>의 설정 값을 사용자의 조정에 의해 문제가 발생한 경우로 판단됨</a:t>
            </a:r>
            <a:endParaRPr lang="en-US" altLang="ko-KR" kern="0" dirty="0">
              <a:solidFill>
                <a:prstClr val="black"/>
              </a:solidFill>
            </a:endParaRPr>
          </a:p>
          <a:p>
            <a:pPr lvl="0"/>
            <a:endParaRPr lang="ko-KR" altLang="en-US" kern="0" dirty="0">
              <a:solidFill>
                <a:prstClr val="black"/>
              </a:solidFill>
            </a:endParaRPr>
          </a:p>
          <a:p>
            <a:pPr marL="285750" lvl="0" indent="-285750">
              <a:buFont typeface="Wingdings" pitchFamily="2" charset="2"/>
              <a:buChar char="Ø"/>
            </a:pPr>
            <a:r>
              <a:rPr lang="ko-KR" altLang="en-US" kern="0" dirty="0">
                <a:solidFill>
                  <a:prstClr val="black"/>
                </a:solidFill>
              </a:rPr>
              <a:t>조치 </a:t>
            </a:r>
            <a:r>
              <a:rPr lang="en-US" altLang="ko-KR" kern="0" dirty="0">
                <a:solidFill>
                  <a:prstClr val="black"/>
                </a:solidFill>
              </a:rPr>
              <a:t>: </a:t>
            </a:r>
            <a:r>
              <a:rPr lang="ko-KR" altLang="en-US" kern="0" dirty="0" smtClean="0">
                <a:solidFill>
                  <a:prstClr val="black"/>
                </a:solidFill>
              </a:rPr>
              <a:t>그림처럼 </a:t>
            </a:r>
            <a:r>
              <a:rPr lang="en-US" altLang="ko-KR" kern="0" dirty="0" smtClean="0">
                <a:solidFill>
                  <a:prstClr val="black"/>
                </a:solidFill>
              </a:rPr>
              <a:t>IE</a:t>
            </a:r>
            <a:r>
              <a:rPr lang="ko-KR" altLang="en-US" kern="0" dirty="0" smtClean="0">
                <a:solidFill>
                  <a:prstClr val="black"/>
                </a:solidFill>
              </a:rPr>
              <a:t>의 고급 설정 </a:t>
            </a:r>
            <a:r>
              <a:rPr lang="en-US" altLang="ko-KR" kern="0" dirty="0" smtClean="0">
                <a:solidFill>
                  <a:prstClr val="black"/>
                </a:solidFill>
              </a:rPr>
              <a:t>Tab</a:t>
            </a:r>
            <a:r>
              <a:rPr lang="ko-KR" altLang="en-US" kern="0" dirty="0" smtClean="0">
                <a:solidFill>
                  <a:prstClr val="black"/>
                </a:solidFill>
              </a:rPr>
              <a:t>의</a:t>
            </a:r>
            <a:r>
              <a:rPr lang="en-US" altLang="ko-KR" kern="0" dirty="0" smtClean="0">
                <a:solidFill>
                  <a:prstClr val="black"/>
                </a:solidFill>
              </a:rPr>
              <a:t> </a:t>
            </a:r>
            <a:r>
              <a:rPr lang="ko-KR" altLang="en-US" kern="0" dirty="0" smtClean="0">
                <a:solidFill>
                  <a:prstClr val="black"/>
                </a:solidFill>
              </a:rPr>
              <a:t>기본설정확인의 </a:t>
            </a:r>
            <a:r>
              <a:rPr lang="en-US" altLang="ko-KR" kern="0" dirty="0" smtClean="0">
                <a:solidFill>
                  <a:prstClr val="black"/>
                </a:solidFill>
              </a:rPr>
              <a:t>[</a:t>
            </a:r>
            <a:r>
              <a:rPr lang="ko-KR" altLang="en-US" kern="0" dirty="0" smtClean="0">
                <a:solidFill>
                  <a:prstClr val="black"/>
                </a:solidFill>
              </a:rPr>
              <a:t>원래대로</a:t>
            </a:r>
            <a:r>
              <a:rPr lang="en-US" altLang="ko-KR" kern="0" dirty="0" smtClean="0">
                <a:solidFill>
                  <a:prstClr val="black"/>
                </a:solidFill>
              </a:rPr>
              <a:t>]</a:t>
            </a:r>
            <a:r>
              <a:rPr lang="ko-KR" altLang="en-US" kern="0" dirty="0" smtClean="0">
                <a:solidFill>
                  <a:prstClr val="black"/>
                </a:solidFill>
              </a:rPr>
              <a:t>버튼을 클릭하여 설정 초기화 한 후 </a:t>
            </a:r>
            <a:endParaRPr lang="en-US" altLang="ko-KR" kern="0" dirty="0" smtClean="0">
              <a:solidFill>
                <a:prstClr val="black"/>
              </a:solidFill>
            </a:endParaRPr>
          </a:p>
          <a:p>
            <a:pPr lvl="0"/>
            <a:r>
              <a:rPr lang="en-US" altLang="ko-KR" kern="0" dirty="0">
                <a:solidFill>
                  <a:prstClr val="black"/>
                </a:solidFill>
              </a:rPr>
              <a:t> </a:t>
            </a:r>
            <a:r>
              <a:rPr lang="en-US" altLang="ko-KR" kern="0" dirty="0" smtClean="0">
                <a:solidFill>
                  <a:prstClr val="black"/>
                </a:solidFill>
              </a:rPr>
              <a:t>             IE </a:t>
            </a:r>
            <a:r>
              <a:rPr lang="ko-KR" altLang="en-US" kern="0" dirty="0" smtClean="0">
                <a:solidFill>
                  <a:prstClr val="black"/>
                </a:solidFill>
              </a:rPr>
              <a:t>재 실행한다</a:t>
            </a:r>
            <a:r>
              <a:rPr lang="en-US" altLang="ko-KR" kern="0" dirty="0" smtClean="0">
                <a:solidFill>
                  <a:prstClr val="black"/>
                </a:solidFill>
              </a:rPr>
              <a:t>.</a:t>
            </a:r>
            <a:endParaRPr lang="en-US" altLang="ko-KR" kern="0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latin typeface="+mn-ea"/>
              </a:rPr>
              <a:t> </a:t>
            </a:r>
          </a:p>
          <a:p>
            <a:endParaRPr lang="ko-KR" altLang="en-US" dirty="0">
              <a:latin typeface="+mn-ea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922254" y="3455581"/>
            <a:ext cx="4133517" cy="2628903"/>
            <a:chOff x="2629920" y="2371060"/>
            <a:chExt cx="4133517" cy="3957970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9920" y="2371060"/>
              <a:ext cx="4133517" cy="39579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모서리가 둥근 직사각형 6"/>
            <p:cNvSpPr/>
            <p:nvPr/>
          </p:nvSpPr>
          <p:spPr bwMode="auto">
            <a:xfrm>
              <a:off x="5401337" y="4917561"/>
              <a:ext cx="1105786" cy="164805"/>
            </a:xfrm>
            <a:prstGeom prst="roundRect">
              <a:avLst/>
            </a:prstGeom>
            <a:noFill/>
            <a:ln w="9525" cap="flat" cmpd="sng" algn="ctr">
              <a:solidFill>
                <a:srgbClr val="DE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501551" y="229395"/>
            <a:ext cx="8877294" cy="338134"/>
          </a:xfrm>
        </p:spPr>
        <p:txBody>
          <a:bodyPr/>
          <a:lstStyle/>
          <a:p>
            <a:r>
              <a:rPr lang="en-US" altLang="ko-KR" dirty="0" smtClean="0"/>
              <a:t>8. Chrome</a:t>
            </a:r>
            <a:r>
              <a:rPr lang="ko-KR" altLang="en-US" dirty="0" smtClean="0"/>
              <a:t>은 설치 체크가 정상인데</a:t>
            </a:r>
            <a:r>
              <a:rPr lang="en-US" altLang="ko-KR" dirty="0" smtClean="0"/>
              <a:t>, IE</a:t>
            </a:r>
            <a:r>
              <a:rPr lang="ko-KR" altLang="en-US" dirty="0" smtClean="0"/>
              <a:t>에서는 설치 체크가 비정상 처리하는 경우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239811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 txBox="1">
            <a:spLocks/>
          </p:cNvSpPr>
          <p:nvPr/>
        </p:nvSpPr>
        <p:spPr bwMode="auto">
          <a:xfrm>
            <a:off x="501551" y="726353"/>
            <a:ext cx="8880401" cy="4356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356" tIns="43178" rIns="86356" bIns="43178" numCol="1" anchor="t" anchorCtr="0" compatLnSpc="1">
            <a:prstTxWarp prst="textNoShape">
              <a:avLst/>
            </a:prstTxWarp>
          </a:bodyPr>
          <a:lstStyle>
            <a:lvl1pPr marL="0" indent="0" algn="l" defTabSz="899541" rtl="0" eaLnBrk="0" fontAlgn="base" latinLnBrk="1" hangingPunct="0">
              <a:spcBef>
                <a:spcPct val="20000"/>
              </a:spcBef>
              <a:spcAft>
                <a:spcPct val="0"/>
              </a:spcAft>
              <a:buSzPct val="70000"/>
              <a:buFont typeface="Wingdings" pitchFamily="2" charset="2"/>
              <a:buNone/>
              <a:defRPr kumimoji="1" sz="1400" b="1">
                <a:solidFill>
                  <a:schemeClr val="tx1"/>
                </a:solidFill>
                <a:latin typeface="맑은 고딕" pitchFamily="50" charset="-127"/>
                <a:ea typeface="+mn-ea"/>
                <a:cs typeface="+mn-cs"/>
              </a:defRPr>
            </a:lvl1pPr>
            <a:lvl2pPr marL="436278" indent="-83957" algn="l" defTabSz="899541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맑은 고딕" pitchFamily="50" charset="-127"/>
                <a:ea typeface="+mn-ea"/>
              </a:defRPr>
            </a:lvl2pPr>
            <a:lvl3pPr marL="797593" indent="-92953" algn="l" defTabSz="899541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100">
                <a:solidFill>
                  <a:schemeClr val="tx1"/>
                </a:solidFill>
                <a:latin typeface="맑은 고딕" pitchFamily="50" charset="-127"/>
                <a:ea typeface="+mn-ea"/>
              </a:defRPr>
            </a:lvl3pPr>
            <a:lvl4pPr marL="1233871" indent="-176910" algn="l" defTabSz="899541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Optima" pitchFamily="2" charset="2"/>
              <a:buChar char=""/>
              <a:defRPr kumimoji="1" sz="1100">
                <a:solidFill>
                  <a:schemeClr val="tx1"/>
                </a:solidFill>
                <a:latin typeface="맑은 고딕" pitchFamily="50" charset="-127"/>
                <a:ea typeface="+mn-ea"/>
              </a:defRPr>
            </a:lvl4pPr>
            <a:lvl5pPr marL="2023967" indent="-224885" algn="l" defTabSz="899541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</a:defRPr>
            </a:lvl5pPr>
            <a:lvl6pPr marL="2374788" indent="-21589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</a:defRPr>
            </a:lvl6pPr>
            <a:lvl7pPr marL="2806568" indent="-21589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</a:defRPr>
            </a:lvl7pPr>
            <a:lvl8pPr marL="3238348" indent="-21589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</a:defRPr>
            </a:lvl8pPr>
            <a:lvl9pPr marL="3670127" indent="-21589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5750" lvl="0" indent="-285750">
              <a:buFont typeface="Wingdings" pitchFamily="2" charset="2"/>
              <a:buChar char="Ø"/>
            </a:pPr>
            <a:r>
              <a:rPr lang="ko-KR" altLang="en-US" kern="0" dirty="0">
                <a:solidFill>
                  <a:prstClr val="black"/>
                </a:solidFill>
              </a:rPr>
              <a:t>증상 </a:t>
            </a:r>
            <a:r>
              <a:rPr lang="en-US" altLang="ko-KR" kern="0" dirty="0">
                <a:solidFill>
                  <a:prstClr val="black"/>
                </a:solidFill>
              </a:rPr>
              <a:t>: </a:t>
            </a:r>
            <a:r>
              <a:rPr lang="ko-KR" altLang="en-US" dirty="0" err="1">
                <a:latin typeface="+mn-ea"/>
              </a:rPr>
              <a:t>베라포트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클라이언트를 설치했음에도 불구하고 미 설치로 판단해서 </a:t>
            </a:r>
            <a:r>
              <a:rPr lang="en-US" altLang="ko-KR" dirty="0" smtClean="0">
                <a:latin typeface="+mn-ea"/>
              </a:rPr>
              <a:t>[</a:t>
            </a:r>
            <a:r>
              <a:rPr lang="ko-KR" altLang="en-US" dirty="0" smtClean="0">
                <a:latin typeface="+mn-ea"/>
              </a:rPr>
              <a:t>통합설치프로그램다운로드</a:t>
            </a:r>
            <a:r>
              <a:rPr lang="en-US" altLang="ko-KR" dirty="0" smtClean="0">
                <a:latin typeface="+mn-ea"/>
              </a:rPr>
              <a:t>]</a:t>
            </a:r>
          </a:p>
          <a:p>
            <a:pPr lvl="0"/>
            <a:r>
              <a:rPr lang="en-US" altLang="ko-KR" dirty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            </a:t>
            </a:r>
            <a:r>
              <a:rPr lang="ko-KR" altLang="en-US" dirty="0" smtClean="0">
                <a:latin typeface="+mn-ea"/>
              </a:rPr>
              <a:t>버튼이 계속 활성화 되어 있는 경우</a:t>
            </a:r>
            <a:endParaRPr lang="en-US" altLang="ko-KR" dirty="0" smtClean="0">
              <a:latin typeface="+mn-ea"/>
            </a:endParaRPr>
          </a:p>
          <a:p>
            <a:pPr marL="285750" lvl="0" indent="-285750">
              <a:buFont typeface="Wingdings" pitchFamily="2" charset="2"/>
              <a:buChar char="Ø"/>
            </a:pPr>
            <a:endParaRPr lang="en-US" altLang="ko-KR" kern="0" dirty="0" smtClean="0">
              <a:solidFill>
                <a:prstClr val="black"/>
              </a:solidFill>
            </a:endParaRPr>
          </a:p>
          <a:p>
            <a:pPr marL="285750" lvl="0" indent="-285750">
              <a:buFont typeface="Wingdings" pitchFamily="2" charset="2"/>
              <a:buChar char="Ø"/>
            </a:pPr>
            <a:r>
              <a:rPr lang="ko-KR" altLang="en-US" kern="0" dirty="0" smtClean="0">
                <a:solidFill>
                  <a:prstClr val="black"/>
                </a:solidFill>
              </a:rPr>
              <a:t>점검 </a:t>
            </a:r>
            <a:r>
              <a:rPr lang="en-US" altLang="ko-KR" kern="0" dirty="0" smtClean="0">
                <a:solidFill>
                  <a:prstClr val="black"/>
                </a:solidFill>
              </a:rPr>
              <a:t>: </a:t>
            </a:r>
            <a:r>
              <a:rPr lang="ko-KR" altLang="en-US" kern="0" dirty="0" err="1" smtClean="0">
                <a:solidFill>
                  <a:prstClr val="black"/>
                </a:solidFill>
              </a:rPr>
              <a:t>베라포트를</a:t>
            </a:r>
            <a:r>
              <a:rPr lang="ko-KR" altLang="en-US" kern="0" dirty="0" smtClean="0">
                <a:solidFill>
                  <a:prstClr val="black"/>
                </a:solidFill>
              </a:rPr>
              <a:t> 설치 후 작업관리자를 열고</a:t>
            </a:r>
            <a:r>
              <a:rPr lang="en-US" altLang="ko-KR" kern="0" dirty="0" smtClean="0">
                <a:solidFill>
                  <a:prstClr val="black"/>
                </a:solidFill>
              </a:rPr>
              <a:t>( Ctrl + Shift + Esc) veraport.exe </a:t>
            </a:r>
            <a:r>
              <a:rPr lang="ko-KR" altLang="en-US" kern="0" dirty="0" smtClean="0">
                <a:solidFill>
                  <a:prstClr val="black"/>
                </a:solidFill>
              </a:rPr>
              <a:t>프로세스가 기동되어 </a:t>
            </a:r>
            <a:endParaRPr lang="en-US" altLang="ko-KR" kern="0" dirty="0" smtClean="0">
              <a:solidFill>
                <a:prstClr val="black"/>
              </a:solidFill>
            </a:endParaRPr>
          </a:p>
          <a:p>
            <a:pPr lvl="0"/>
            <a:r>
              <a:rPr lang="en-US" altLang="ko-KR" kern="0" dirty="0">
                <a:solidFill>
                  <a:prstClr val="black"/>
                </a:solidFill>
              </a:rPr>
              <a:t> </a:t>
            </a:r>
            <a:r>
              <a:rPr lang="en-US" altLang="ko-KR" kern="0" dirty="0" smtClean="0">
                <a:solidFill>
                  <a:prstClr val="black"/>
                </a:solidFill>
              </a:rPr>
              <a:t>            </a:t>
            </a:r>
            <a:r>
              <a:rPr lang="ko-KR" altLang="en-US" kern="0" dirty="0" smtClean="0">
                <a:solidFill>
                  <a:prstClr val="black"/>
                </a:solidFill>
              </a:rPr>
              <a:t>있는 것을 확인한 후</a:t>
            </a:r>
            <a:r>
              <a:rPr lang="en-US" altLang="ko-KR" kern="0" dirty="0" smtClean="0">
                <a:solidFill>
                  <a:prstClr val="black"/>
                </a:solidFill>
              </a:rPr>
              <a:t>,</a:t>
            </a:r>
            <a:r>
              <a:rPr lang="ko-KR" altLang="en-US" kern="0" dirty="0" smtClean="0">
                <a:solidFill>
                  <a:prstClr val="black"/>
                </a:solidFill>
              </a:rPr>
              <a:t> </a:t>
            </a:r>
            <a:endParaRPr lang="en-US" altLang="ko-KR" kern="0" dirty="0" smtClean="0">
              <a:solidFill>
                <a:prstClr val="black"/>
              </a:solidFill>
            </a:endParaRPr>
          </a:p>
          <a:p>
            <a:pPr lvl="0"/>
            <a:r>
              <a:rPr lang="en-US" altLang="ko-KR" kern="0" dirty="0" smtClean="0">
                <a:solidFill>
                  <a:prstClr val="black"/>
                </a:solidFill>
              </a:rPr>
              <a:t>             window command </a:t>
            </a:r>
            <a:r>
              <a:rPr lang="ko-KR" altLang="en-US" kern="0" dirty="0" smtClean="0">
                <a:solidFill>
                  <a:prstClr val="black"/>
                </a:solidFill>
              </a:rPr>
              <a:t>창을 열고</a:t>
            </a:r>
            <a:r>
              <a:rPr lang="en-US" altLang="ko-KR" kern="0" dirty="0" smtClean="0">
                <a:solidFill>
                  <a:prstClr val="black"/>
                </a:solidFill>
              </a:rPr>
              <a:t>(win + R -&gt; </a:t>
            </a:r>
            <a:r>
              <a:rPr lang="en-US" altLang="ko-KR" kern="0" dirty="0" err="1" smtClean="0">
                <a:solidFill>
                  <a:prstClr val="black"/>
                </a:solidFill>
              </a:rPr>
              <a:t>cmd</a:t>
            </a:r>
            <a:r>
              <a:rPr lang="en-US" altLang="ko-KR" kern="0" dirty="0" smtClean="0">
                <a:solidFill>
                  <a:prstClr val="black"/>
                </a:solidFill>
              </a:rPr>
              <a:t>        ) </a:t>
            </a:r>
            <a:r>
              <a:rPr lang="en-US" altLang="ko-KR" kern="0" dirty="0" err="1" smtClean="0">
                <a:solidFill>
                  <a:prstClr val="black"/>
                </a:solidFill>
              </a:rPr>
              <a:t>veraport</a:t>
            </a:r>
            <a:r>
              <a:rPr lang="ko-KR" altLang="en-US" kern="0" dirty="0" smtClean="0">
                <a:solidFill>
                  <a:prstClr val="black"/>
                </a:solidFill>
              </a:rPr>
              <a:t>의 </a:t>
            </a:r>
            <a:r>
              <a:rPr lang="en-US" altLang="ko-KR" kern="0" dirty="0" smtClean="0">
                <a:solidFill>
                  <a:prstClr val="black"/>
                </a:solidFill>
              </a:rPr>
              <a:t>localhost </a:t>
            </a:r>
            <a:r>
              <a:rPr lang="ko-KR" altLang="en-US" kern="0" dirty="0" smtClean="0">
                <a:solidFill>
                  <a:prstClr val="black"/>
                </a:solidFill>
              </a:rPr>
              <a:t>통신포트가 차단되지</a:t>
            </a:r>
            <a:endParaRPr lang="en-US" altLang="ko-KR" kern="0" dirty="0" smtClean="0">
              <a:solidFill>
                <a:prstClr val="black"/>
              </a:solidFill>
            </a:endParaRPr>
          </a:p>
          <a:p>
            <a:pPr lvl="0"/>
            <a:r>
              <a:rPr lang="en-US" altLang="ko-KR" kern="0" dirty="0">
                <a:solidFill>
                  <a:prstClr val="black"/>
                </a:solidFill>
              </a:rPr>
              <a:t> </a:t>
            </a:r>
            <a:r>
              <a:rPr lang="en-US" altLang="ko-KR" kern="0" dirty="0" smtClean="0">
                <a:solidFill>
                  <a:prstClr val="black"/>
                </a:solidFill>
              </a:rPr>
              <a:t>            </a:t>
            </a:r>
            <a:r>
              <a:rPr lang="ko-KR" altLang="en-US" kern="0" dirty="0" smtClean="0">
                <a:solidFill>
                  <a:prstClr val="black"/>
                </a:solidFill>
              </a:rPr>
              <a:t>않았는지</a:t>
            </a:r>
            <a:r>
              <a:rPr lang="en-US" altLang="ko-KR" kern="0" dirty="0" smtClean="0">
                <a:solidFill>
                  <a:prstClr val="black"/>
                </a:solidFill>
              </a:rPr>
              <a:t>? </a:t>
            </a:r>
            <a:r>
              <a:rPr lang="ko-KR" altLang="en-US" kern="0" dirty="0" smtClean="0">
                <a:solidFill>
                  <a:prstClr val="black"/>
                </a:solidFill>
              </a:rPr>
              <a:t>점검한다</a:t>
            </a:r>
            <a:r>
              <a:rPr lang="en-US" altLang="ko-KR" kern="0" dirty="0" smtClean="0">
                <a:solidFill>
                  <a:prstClr val="black"/>
                </a:solidFill>
              </a:rPr>
              <a:t>.  </a:t>
            </a:r>
            <a:r>
              <a:rPr lang="ko-KR" altLang="en-US" kern="0" dirty="0" smtClean="0">
                <a:solidFill>
                  <a:prstClr val="black"/>
                </a:solidFill>
              </a:rPr>
              <a:t>브라우저에 따라</a:t>
            </a:r>
            <a:r>
              <a:rPr lang="en-US" altLang="ko-KR" kern="0" dirty="0" smtClean="0">
                <a:solidFill>
                  <a:prstClr val="black"/>
                </a:solidFill>
              </a:rPr>
              <a:t> 16105(32bit), 16106(64bit) Port</a:t>
            </a:r>
            <a:r>
              <a:rPr lang="ko-KR" altLang="en-US" kern="0" dirty="0" smtClean="0">
                <a:solidFill>
                  <a:prstClr val="black"/>
                </a:solidFill>
              </a:rPr>
              <a:t>가 </a:t>
            </a:r>
            <a:r>
              <a:rPr lang="en-US" altLang="ko-KR" kern="0" dirty="0" smtClean="0">
                <a:solidFill>
                  <a:prstClr val="black"/>
                </a:solidFill>
              </a:rPr>
              <a:t>Open</a:t>
            </a:r>
            <a:r>
              <a:rPr lang="ko-KR" altLang="en-US" kern="0" dirty="0" smtClean="0">
                <a:solidFill>
                  <a:prstClr val="black"/>
                </a:solidFill>
              </a:rPr>
              <a:t>되어 있어야 함</a:t>
            </a:r>
            <a:r>
              <a:rPr lang="en-US" altLang="ko-KR" kern="0" dirty="0" smtClean="0">
                <a:solidFill>
                  <a:prstClr val="black"/>
                </a:solidFill>
              </a:rPr>
              <a:t>.</a:t>
            </a:r>
          </a:p>
          <a:p>
            <a:pPr lvl="0"/>
            <a:r>
              <a:rPr lang="en-US" altLang="ko-KR" kern="0" dirty="0">
                <a:solidFill>
                  <a:prstClr val="black"/>
                </a:solidFill>
              </a:rPr>
              <a:t> </a:t>
            </a:r>
            <a:r>
              <a:rPr lang="en-US" altLang="ko-KR" kern="0" dirty="0" smtClean="0">
                <a:solidFill>
                  <a:prstClr val="black"/>
                </a:solidFill>
              </a:rPr>
              <a:t>             </a:t>
            </a:r>
            <a:r>
              <a:rPr lang="ko-KR" altLang="en-US" kern="0" dirty="0" smtClean="0">
                <a:solidFill>
                  <a:prstClr val="black"/>
                </a:solidFill>
              </a:rPr>
              <a:t>점검방법 </a:t>
            </a:r>
            <a:r>
              <a:rPr lang="en-US" altLang="ko-KR" kern="0" dirty="0" smtClean="0">
                <a:solidFill>
                  <a:prstClr val="black"/>
                </a:solidFill>
              </a:rPr>
              <a:t>:   32bit</a:t>
            </a:r>
            <a:r>
              <a:rPr lang="ko-KR" altLang="en-US" kern="0" dirty="0" smtClean="0">
                <a:solidFill>
                  <a:prstClr val="black"/>
                </a:solidFill>
              </a:rPr>
              <a:t>인 경우 </a:t>
            </a:r>
            <a:r>
              <a:rPr lang="en-US" altLang="ko-KR" kern="0" dirty="0" smtClean="0">
                <a:solidFill>
                  <a:prstClr val="black"/>
                </a:solidFill>
              </a:rPr>
              <a:t>    telnet  localhost  16105</a:t>
            </a:r>
          </a:p>
          <a:p>
            <a:pPr lvl="0"/>
            <a:r>
              <a:rPr lang="en-US" altLang="ko-KR" kern="0" dirty="0">
                <a:solidFill>
                  <a:prstClr val="black"/>
                </a:solidFill>
              </a:rPr>
              <a:t> </a:t>
            </a:r>
            <a:r>
              <a:rPr lang="en-US" altLang="ko-KR" kern="0" dirty="0" smtClean="0">
                <a:solidFill>
                  <a:prstClr val="black"/>
                </a:solidFill>
              </a:rPr>
              <a:t>                             64bit</a:t>
            </a:r>
            <a:r>
              <a:rPr lang="ko-KR" altLang="en-US" kern="0" dirty="0" smtClean="0">
                <a:solidFill>
                  <a:prstClr val="black"/>
                </a:solidFill>
              </a:rPr>
              <a:t>인 경우 </a:t>
            </a:r>
            <a:r>
              <a:rPr lang="en-US" altLang="ko-KR" kern="0" dirty="0" smtClean="0">
                <a:solidFill>
                  <a:prstClr val="black"/>
                </a:solidFill>
              </a:rPr>
              <a:t>    telnet  localhost 16106</a:t>
            </a:r>
          </a:p>
          <a:p>
            <a:pPr lvl="0"/>
            <a:endParaRPr lang="en-US" altLang="ko-KR" kern="0" dirty="0">
              <a:solidFill>
                <a:prstClr val="black"/>
              </a:solidFill>
            </a:endParaRPr>
          </a:p>
          <a:p>
            <a:pPr marL="285750" lvl="0" indent="-285750">
              <a:buFont typeface="Wingdings" pitchFamily="2" charset="2"/>
              <a:buChar char="Ø"/>
            </a:pPr>
            <a:r>
              <a:rPr lang="ko-KR" altLang="en-US" kern="0" dirty="0" smtClean="0">
                <a:solidFill>
                  <a:prstClr val="black"/>
                </a:solidFill>
              </a:rPr>
              <a:t>원인 </a:t>
            </a:r>
            <a:r>
              <a:rPr lang="en-US" altLang="ko-KR" kern="0" dirty="0">
                <a:solidFill>
                  <a:prstClr val="black"/>
                </a:solidFill>
              </a:rPr>
              <a:t>: </a:t>
            </a:r>
            <a:r>
              <a:rPr lang="en-US" altLang="ko-KR" kern="0" dirty="0" smtClean="0">
                <a:solidFill>
                  <a:prstClr val="black"/>
                </a:solidFill>
              </a:rPr>
              <a:t>Local PC</a:t>
            </a:r>
            <a:r>
              <a:rPr lang="ko-KR" altLang="en-US" kern="0" dirty="0" smtClean="0">
                <a:solidFill>
                  <a:prstClr val="black"/>
                </a:solidFill>
              </a:rPr>
              <a:t>의 방화벽 설정 혹은 보안 프로그램에 의해서 해당 </a:t>
            </a:r>
            <a:r>
              <a:rPr lang="en-US" altLang="ko-KR" kern="0" dirty="0" smtClean="0">
                <a:solidFill>
                  <a:prstClr val="black"/>
                </a:solidFill>
              </a:rPr>
              <a:t>Port</a:t>
            </a:r>
            <a:r>
              <a:rPr lang="ko-KR" altLang="en-US" kern="0" dirty="0" smtClean="0">
                <a:solidFill>
                  <a:prstClr val="black"/>
                </a:solidFill>
              </a:rPr>
              <a:t>가 막혀있는 경우를 확인할 것</a:t>
            </a:r>
            <a:r>
              <a:rPr lang="en-US" altLang="ko-KR" kern="0" dirty="0" smtClean="0">
                <a:solidFill>
                  <a:prstClr val="black"/>
                </a:solidFill>
              </a:rPr>
              <a:t>.</a:t>
            </a:r>
            <a:endParaRPr lang="en-US" altLang="ko-KR" kern="0" dirty="0">
              <a:solidFill>
                <a:prstClr val="black"/>
              </a:solidFill>
            </a:endParaRPr>
          </a:p>
          <a:p>
            <a:pPr lvl="0"/>
            <a:endParaRPr lang="ko-KR" altLang="en-US" kern="0" dirty="0">
              <a:solidFill>
                <a:prstClr val="black"/>
              </a:solidFill>
            </a:endParaRPr>
          </a:p>
          <a:p>
            <a:pPr marL="285750" lvl="0" indent="-285750">
              <a:buFont typeface="Wingdings" pitchFamily="2" charset="2"/>
              <a:buChar char="Ø"/>
            </a:pPr>
            <a:r>
              <a:rPr lang="ko-KR" altLang="en-US" kern="0" dirty="0">
                <a:solidFill>
                  <a:prstClr val="black"/>
                </a:solidFill>
              </a:rPr>
              <a:t>조치 </a:t>
            </a:r>
            <a:r>
              <a:rPr lang="en-US" altLang="ko-KR" kern="0" dirty="0">
                <a:solidFill>
                  <a:prstClr val="black"/>
                </a:solidFill>
              </a:rPr>
              <a:t>: </a:t>
            </a:r>
            <a:r>
              <a:rPr lang="en-US" altLang="ko-KR" kern="0" dirty="0" smtClean="0">
                <a:solidFill>
                  <a:prstClr val="black"/>
                </a:solidFill>
              </a:rPr>
              <a:t>1. </a:t>
            </a:r>
            <a:r>
              <a:rPr lang="ko-KR" altLang="en-US" dirty="0" smtClean="0">
                <a:latin typeface="+mn-ea"/>
              </a:rPr>
              <a:t>방화벽 </a:t>
            </a:r>
            <a:r>
              <a:rPr lang="en-US" altLang="ko-KR" dirty="0" smtClean="0">
                <a:latin typeface="+mn-ea"/>
              </a:rPr>
              <a:t>Open </a:t>
            </a:r>
            <a:r>
              <a:rPr lang="ko-KR" altLang="en-US" dirty="0" smtClean="0">
                <a:latin typeface="+mn-ea"/>
              </a:rPr>
              <a:t>수행 후 재 실행</a:t>
            </a:r>
            <a:r>
              <a:rPr lang="en-US" altLang="ko-KR" dirty="0" smtClean="0">
                <a:latin typeface="+mn-ea"/>
              </a:rPr>
              <a:t>. </a:t>
            </a:r>
            <a:br>
              <a:rPr lang="en-US" altLang="ko-KR" dirty="0" smtClean="0">
                <a:latin typeface="+mn-ea"/>
              </a:rPr>
            </a:br>
            <a:r>
              <a:rPr lang="en-US" altLang="ko-KR" dirty="0" smtClean="0">
                <a:latin typeface="+mn-ea"/>
              </a:rPr>
              <a:t>         2. </a:t>
            </a:r>
            <a:r>
              <a:rPr lang="ko-KR" altLang="en-US" dirty="0" smtClean="0">
                <a:latin typeface="+mn-ea"/>
              </a:rPr>
              <a:t>방화벽 </a:t>
            </a:r>
            <a:r>
              <a:rPr lang="en-US" altLang="ko-KR" dirty="0" smtClean="0">
                <a:latin typeface="+mn-ea"/>
              </a:rPr>
              <a:t>Open </a:t>
            </a:r>
            <a:r>
              <a:rPr lang="ko-KR" altLang="en-US" dirty="0" smtClean="0">
                <a:latin typeface="+mn-ea"/>
              </a:rPr>
              <a:t>후에도 문제가 발생하는 경우는 </a:t>
            </a:r>
            <a:r>
              <a:rPr lang="en-US" altLang="ko-KR" dirty="0" smtClean="0">
                <a:latin typeface="+mn-ea"/>
              </a:rPr>
              <a:t>IE</a:t>
            </a:r>
            <a:r>
              <a:rPr lang="ko-KR" altLang="en-US" dirty="0" smtClean="0">
                <a:latin typeface="+mn-ea"/>
              </a:rPr>
              <a:t>의 인증서에 </a:t>
            </a:r>
            <a:r>
              <a:rPr lang="en-US" altLang="ko-KR" dirty="0" err="1" smtClean="0">
                <a:latin typeface="+mn-ea"/>
              </a:rPr>
              <a:t>Veraport</a:t>
            </a:r>
            <a:r>
              <a:rPr lang="en-US" altLang="ko-KR" dirty="0" smtClean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관련 인증서 포함 여부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dirty="0" smtClean="0">
                <a:latin typeface="+mn-ea"/>
              </a:rPr>
              <a:t>            </a:t>
            </a:r>
            <a:r>
              <a:rPr lang="ko-KR" altLang="en-US" dirty="0" smtClean="0">
                <a:latin typeface="+mn-ea"/>
              </a:rPr>
              <a:t> 확인 </a:t>
            </a:r>
            <a:r>
              <a:rPr lang="en-US" altLang="ko-KR" dirty="0" smtClean="0">
                <a:latin typeface="+mn-ea"/>
              </a:rPr>
              <a:t>( IE </a:t>
            </a:r>
            <a:r>
              <a:rPr lang="ko-KR" altLang="en-US" dirty="0" smtClean="0">
                <a:latin typeface="+mn-ea"/>
              </a:rPr>
              <a:t>브라우저 설정 </a:t>
            </a:r>
            <a:r>
              <a:rPr lang="en-US" altLang="ko-KR" dirty="0" smtClean="0">
                <a:latin typeface="+mn-ea"/>
              </a:rPr>
              <a:t>– </a:t>
            </a:r>
            <a:r>
              <a:rPr lang="ko-KR" altLang="en-US" dirty="0" smtClean="0">
                <a:latin typeface="+mn-ea"/>
              </a:rPr>
              <a:t>인터넷옵션 </a:t>
            </a:r>
            <a:r>
              <a:rPr lang="en-US" altLang="ko-KR" dirty="0" smtClean="0">
                <a:latin typeface="+mn-ea"/>
              </a:rPr>
              <a:t>– </a:t>
            </a:r>
            <a:r>
              <a:rPr lang="ko-KR" altLang="en-US" dirty="0" smtClean="0">
                <a:latin typeface="+mn-ea"/>
              </a:rPr>
              <a:t>내용 </a:t>
            </a:r>
            <a:r>
              <a:rPr lang="en-US" altLang="ko-KR" dirty="0" smtClean="0">
                <a:latin typeface="+mn-ea"/>
              </a:rPr>
              <a:t>tab [ </a:t>
            </a:r>
            <a:r>
              <a:rPr lang="ko-KR" altLang="en-US" dirty="0" smtClean="0">
                <a:latin typeface="+mn-ea"/>
              </a:rPr>
              <a:t>인증서 </a:t>
            </a:r>
            <a:r>
              <a:rPr lang="en-US" altLang="ko-KR" dirty="0" smtClean="0">
                <a:latin typeface="+mn-ea"/>
              </a:rPr>
              <a:t>] </a:t>
            </a:r>
            <a:r>
              <a:rPr lang="ko-KR" altLang="en-US" dirty="0" smtClean="0">
                <a:latin typeface="+mn-ea"/>
              </a:rPr>
              <a:t>클릭 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dirty="0" smtClean="0">
                <a:latin typeface="+mn-ea"/>
              </a:rPr>
              <a:t>         -&gt; </a:t>
            </a:r>
            <a:r>
              <a:rPr lang="ko-KR" altLang="en-US" dirty="0" smtClean="0">
                <a:latin typeface="+mn-ea"/>
              </a:rPr>
              <a:t>신뢰할 </a:t>
            </a:r>
            <a:r>
              <a:rPr lang="ko-KR" altLang="en-US" dirty="0" err="1" smtClean="0">
                <a:latin typeface="+mn-ea"/>
              </a:rPr>
              <a:t>수있는</a:t>
            </a:r>
            <a:r>
              <a:rPr lang="ko-KR" altLang="en-US" dirty="0" smtClean="0">
                <a:latin typeface="+mn-ea"/>
              </a:rPr>
              <a:t> 루트인증기관 </a:t>
            </a:r>
            <a:r>
              <a:rPr lang="en-US" altLang="ko-KR" dirty="0" smtClean="0">
                <a:latin typeface="+mn-ea"/>
              </a:rPr>
              <a:t>tab [ WIZVERA CA, WIZVERA1 CA ] </a:t>
            </a:r>
            <a:r>
              <a:rPr lang="ko-KR" altLang="en-US" dirty="0" smtClean="0">
                <a:latin typeface="+mn-ea"/>
              </a:rPr>
              <a:t>존재여부 및 만료일자 확인 </a:t>
            </a:r>
            <a:endParaRPr lang="en-US" altLang="ko-KR" dirty="0" smtClean="0">
              <a:latin typeface="+mn-ea"/>
            </a:endParaRPr>
          </a:p>
          <a:p>
            <a:pPr lvl="0"/>
            <a:r>
              <a:rPr lang="en-US" altLang="ko-KR" dirty="0" smtClean="0">
                <a:latin typeface="+mn-ea"/>
              </a:rPr>
              <a:t>              3. </a:t>
            </a:r>
            <a:r>
              <a:rPr lang="ko-KR" altLang="en-US" dirty="0" smtClean="0">
                <a:latin typeface="+mn-ea"/>
              </a:rPr>
              <a:t>그 외는 </a:t>
            </a:r>
            <a:r>
              <a:rPr lang="en-US" altLang="ko-KR" dirty="0" smtClean="0">
                <a:latin typeface="+mn-ea"/>
              </a:rPr>
              <a:t>Vendor </a:t>
            </a:r>
            <a:r>
              <a:rPr lang="ko-KR" altLang="en-US" dirty="0" smtClean="0">
                <a:latin typeface="+mn-ea"/>
              </a:rPr>
              <a:t>기술지원인력 분석 지원 받을 것 </a:t>
            </a:r>
            <a:r>
              <a:rPr lang="en-US" altLang="ko-KR" dirty="0" smtClean="0">
                <a:latin typeface="+mn-ea"/>
              </a:rPr>
              <a:t>( </a:t>
            </a:r>
            <a:r>
              <a:rPr lang="ko-KR" altLang="en-US" dirty="0" err="1" smtClean="0">
                <a:latin typeface="+mn-ea"/>
              </a:rPr>
              <a:t>위즈베라</a:t>
            </a:r>
            <a:r>
              <a:rPr lang="en-US" altLang="ko-KR" smtClean="0">
                <a:latin typeface="+mn-ea"/>
              </a:rPr>
              <a:t> </a:t>
            </a:r>
            <a:r>
              <a:rPr lang="en-US" altLang="ko-KR" smtClean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501551" y="229395"/>
            <a:ext cx="8877294" cy="338134"/>
          </a:xfrm>
        </p:spPr>
        <p:txBody>
          <a:bodyPr/>
          <a:lstStyle/>
          <a:p>
            <a:r>
              <a:rPr lang="en-US" altLang="ko-KR" dirty="0"/>
              <a:t>9</a:t>
            </a:r>
            <a:r>
              <a:rPr lang="en-US" altLang="ko-KR" dirty="0" smtClean="0"/>
              <a:t>. </a:t>
            </a:r>
            <a:r>
              <a:rPr lang="en-US" altLang="ko-KR" dirty="0" err="1" smtClean="0"/>
              <a:t>Veraport</a:t>
            </a:r>
            <a:r>
              <a:rPr lang="en-US" altLang="ko-KR" dirty="0" smtClean="0"/>
              <a:t> </a:t>
            </a:r>
            <a:r>
              <a:rPr lang="ko-KR" altLang="en-US" dirty="0" smtClean="0"/>
              <a:t>설치를 모두 진행했는데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미 설치로 계속 유도되는 경우</a:t>
            </a:r>
            <a:endParaRPr lang="ko-KR" alt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63116" y="1961734"/>
            <a:ext cx="419922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737465010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79388" marR="0" indent="-179388" algn="l" defTabSz="914400" rtl="0" eaLnBrk="0" fontAlgn="base" latinLnBrk="1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70000"/>
          <a:buFont typeface="Wingdings" pitchFamily="2" charset="2"/>
          <a:buNone/>
          <a:tabLst/>
          <a:defRPr kumimoji="1" sz="1000" b="1" i="0" u="none" strike="noStrike" kern="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  <a:ea typeface="+mn-ea"/>
          </a:defRPr>
        </a:defPPr>
      </a:lstStyle>
    </a:txDef>
  </a:objectDefaults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9525" algn="ctr">
          <a:solidFill>
            <a:srgbClr val="000000"/>
          </a:solidFill>
          <a:round/>
          <a:headEnd/>
          <a:tailEnd type="arrow" w="med" len="med"/>
        </a:ln>
        <a:extLst>
          <a:ext uri="{909E8E84-426E-40DD-AFC4-6F175D3DCCD1}">
            <a14:hiddenFill xmlns:a14="http://schemas.microsoft.com/office/drawing/2010/main" xmlns="">
              <a:noFill/>
            </a14:hiddenFill>
          </a:ext>
        </a:extLst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79388" marR="0" indent="-179388" algn="l" defTabSz="914400" rtl="0" eaLnBrk="0" fontAlgn="base" latinLnBrk="1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70000"/>
          <a:buFont typeface="Wingdings" pitchFamily="2" charset="2"/>
          <a:buNone/>
          <a:tabLst/>
          <a:defRPr kumimoji="1" sz="1000" b="1" i="0" u="none" strike="noStrike" kern="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  <a:ea typeface="+mn-ea"/>
          </a:defRPr>
        </a:defPPr>
      </a:lstStyle>
    </a:txDef>
  </a:objectDefaults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FF00"/>
      </a:dk2>
      <a:lt2>
        <a:srgbClr val="FF0000"/>
      </a:lt2>
      <a:accent1>
        <a:srgbClr val="0000FF"/>
      </a:accent1>
      <a:accent2>
        <a:srgbClr val="00FFFF"/>
      </a:accent2>
      <a:accent3>
        <a:srgbClr val="FFFFFF"/>
      </a:accent3>
      <a:accent4>
        <a:srgbClr val="000000"/>
      </a:accent4>
      <a:accent5>
        <a:srgbClr val="AAAAFF"/>
      </a:accent5>
      <a:accent6>
        <a:srgbClr val="00E7E7"/>
      </a:accent6>
      <a:hlink>
        <a:srgbClr val="FF00FF"/>
      </a:hlink>
      <a:folHlink>
        <a:srgbClr val="FFFF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FF00"/>
      </a:dk2>
      <a:lt2>
        <a:srgbClr val="FF0000"/>
      </a:lt2>
      <a:accent1>
        <a:srgbClr val="0000FF"/>
      </a:accent1>
      <a:accent2>
        <a:srgbClr val="00FFFF"/>
      </a:accent2>
      <a:accent3>
        <a:srgbClr val="FFFFFF"/>
      </a:accent3>
      <a:accent4>
        <a:srgbClr val="000000"/>
      </a:accent4>
      <a:accent5>
        <a:srgbClr val="AAAAFF"/>
      </a:accent5>
      <a:accent6>
        <a:srgbClr val="00E7E7"/>
      </a:accent6>
      <a:hlink>
        <a:srgbClr val="FF00FF"/>
      </a:hlink>
      <a:folHlink>
        <a:srgbClr val="FFFF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1474043009</TotalTime>
  <Pages>39</Pages>
  <Words>1559</Words>
  <Application>Microsoft Office PowerPoint</Application>
  <PresentationFormat>A4 용지(210x297mm)</PresentationFormat>
  <Paragraphs>275</Paragraphs>
  <Slides>18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20" baseType="lpstr">
      <vt:lpstr>1_디자인 사용자 지정</vt:lpstr>
      <vt:lpstr>2_디자인 사용자 지정</vt:lpstr>
      <vt:lpstr>Swing Client 배포 오류 대응 FAQ(PC용)</vt:lpstr>
      <vt:lpstr>1. 원격 PC 접속 방법</vt:lpstr>
      <vt:lpstr>2. Swing 접속 오류에 대한 점검 항목 ( SKT )</vt:lpstr>
      <vt:lpstr>2. Swing 접속 오류에 대한 점검 항목 ( SKB )</vt:lpstr>
      <vt:lpstr>2. Swing 접속 오류에 대한 점검 항목 ( 인터넷 브라우저 )</vt:lpstr>
      <vt:lpstr>3. Swing 메인 화면의 하단의 Icon이 빨강색인 경우 Alert 보고 helpdesk 지원 대응방안 </vt:lpstr>
      <vt:lpstr>[백업1] Swing 업무환경 점검 방법</vt:lpstr>
      <vt:lpstr>[백업2] VC++ 2015 재 배포 Package 삭제 가이드</vt:lpstr>
      <vt:lpstr>[백업3] VC++ 2015 재 배포 Package 설치 가이드</vt:lpstr>
      <vt:lpstr>4. 미라지웍스 사용자 오류 대응 건</vt:lpstr>
      <vt:lpstr>5. 미라지웍스 사용자 오류 대응 건</vt:lpstr>
      <vt:lpstr>6. Swing 바로가기 아이콘 미 동작 오류 대응 건</vt:lpstr>
      <vt:lpstr>7. Swing Client(PC) 설치 프로그램 목록 – Veraport를 이용한 자동설치 프로그램 목록 (1/3) </vt:lpstr>
      <vt:lpstr>7. Swing Client(PC) 설치 프로그램 목록 – Veraport를 이용한 자동설치 프로그램 목록 (2/3) </vt:lpstr>
      <vt:lpstr>7. Swing Client(PC) 설치 프로그램 목록 – Veraport를 이용한 자동설치 프로그램 목록 (3/3) </vt:lpstr>
      <vt:lpstr>7. Swing Client(PC) 설치 프로그램 목록 – install_add.html 이용한 수동 설치 프로그램 목록 </vt:lpstr>
      <vt:lpstr>8. Chrome은 설치 체크가 정상인데, IE에서는 설치 체크가 비정상 처리하는 경우</vt:lpstr>
      <vt:lpstr>9. Veraport 설치를 모두 진행했는데, 미 설치로 계속 유도되는 경우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개선과제 보고서</dc:title>
  <dc:creator>이규석(LEE GYU SEOK)/ICT컨설팅팀/SKCC</dc:creator>
  <cp:lastModifiedBy>Inswave</cp:lastModifiedBy>
  <cp:revision>9028</cp:revision>
  <cp:lastPrinted>2017-01-06T02:28:14Z</cp:lastPrinted>
  <dcterms:created xsi:type="dcterms:W3CDTF">1996-10-14T12:11:22Z</dcterms:created>
  <dcterms:modified xsi:type="dcterms:W3CDTF">2017-06-21T00:36:33Z</dcterms:modified>
</cp:coreProperties>
</file>